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2.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4" r:id="rId18"/>
    <p:sldId id="275" r:id="rId19"/>
    <p:sldId id="276" r:id="rId20"/>
    <p:sldId id="277" r:id="rId21"/>
    <p:sldId id="278" r:id="rId22"/>
    <p:sldId id="279" r:id="rId23"/>
    <p:sldId id="280" r:id="rId24"/>
    <p:sldId id="287" r:id="rId25"/>
    <p:sldId id="282" r:id="rId26"/>
    <p:sldId id="284" r:id="rId27"/>
    <p:sldId id="285" r:id="rId28"/>
    <p:sldId id="289" r:id="rId29"/>
    <p:sldId id="291" r:id="rId30"/>
    <p:sldId id="292" r:id="rId31"/>
    <p:sldId id="293" r:id="rId32"/>
    <p:sldId id="286"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rt 1: Use case, data and quality checks" id="{BCAB9B5F-8FF3-02FA-0E3E-61D54FE51B75}">
          <p14:sldIdLst>
            <p14:sldId id="256"/>
            <p14:sldId id="257"/>
            <p14:sldId id="258"/>
            <p14:sldId id="259"/>
            <p14:sldId id="260"/>
            <p14:sldId id="261"/>
            <p14:sldId id="262"/>
            <p14:sldId id="263"/>
            <p14:sldId id="264"/>
            <p14:sldId id="265"/>
            <p14:sldId id="266"/>
            <p14:sldId id="267"/>
            <p14:sldId id="268"/>
            <p14:sldId id="269"/>
            <p14:sldId id="270"/>
          </p14:sldIdLst>
        </p14:section>
        <p14:section name="Part 2: Design and the warehouse" id="{B6233A2B-FC0B-C254-8355-468115CF5E08}">
          <p14:sldIdLst>
            <p14:sldId id="272"/>
            <p14:sldId id="274"/>
            <p14:sldId id="275"/>
            <p14:sldId id="276"/>
            <p14:sldId id="277"/>
            <p14:sldId id="278"/>
          </p14:sldIdLst>
        </p14:section>
        <p14:section name="Part 3: Results, reporting and real time" id="{C22942C1-3B83-765D-7036-9807DB8F24B9}">
          <p14:sldIdLst>
            <p14:sldId id="279"/>
            <p14:sldId id="280"/>
            <p14:sldId id="287"/>
            <p14:sldId id="282"/>
            <p14:sldId id="284"/>
            <p14:sldId id="285"/>
            <p14:sldId id="289"/>
            <p14:sldId id="291"/>
            <p14:sldId id="292"/>
            <p14:sldId id="293"/>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2" d="100"/>
          <a:sy n="122" d="100"/>
        </p:scale>
        <p:origin x="224" y="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600" b="0" i="0" u="none" strike="noStrike">
                <a:solidFill>
                  <a:srgbClr val="1B2A34"/>
                </a:solidFill>
                <a:latin typeface="+mn-lt"/>
              </a:defRPr>
            </a:pPr>
            <a:r>
              <a:rPr lang="en-IN" sz="1600" b="0" i="0" u="none" strike="noStrike">
                <a:solidFill>
                  <a:srgbClr val="1B2A34"/>
                </a:solidFill>
                <a:latin typeface="+mn-lt"/>
              </a:rPr>
              <a:t>Validation checks by group</a:t>
            </a:r>
          </a:p>
        </c:rich>
      </c:tx>
      <c:overlay val="0"/>
    </c:title>
    <c:autoTitleDeleted val="0"/>
    <c:plotArea>
      <c:layout/>
      <c:barChart>
        <c:barDir val="col"/>
        <c:grouping val="clustered"/>
        <c:varyColors val="0"/>
        <c:ser>
          <c:idx val="0"/>
          <c:order val="0"/>
          <c:tx>
            <c:strRef>
              <c:f>Sheet1!$B$1</c:f>
              <c:strCache>
                <c:ptCount val="1"/>
                <c:pt idx="0">
                  <c:v>Checks passed</c:v>
                </c:pt>
              </c:strCache>
            </c:strRef>
          </c:tx>
          <c:spPr>
            <a:solidFill>
              <a:srgbClr val="0F766E"/>
            </a:solidFill>
            <a:effectLst/>
          </c:spPr>
          <c:invertIfNegative val="0"/>
          <c:dLbls>
            <c:numFmt formatCode="#,##0" sourceLinked="0"/>
            <c:spPr>
              <a:noFill/>
              <a:ln>
                <a:noFill/>
              </a:ln>
              <a:effectLst/>
            </c:spPr>
            <c:txPr>
              <a:bodyPr/>
              <a:lstStyle/>
              <a:p>
                <a:pPr>
                  <a:defRPr sz="1400" b="0" i="0" u="none" strike="noStrike">
                    <a:solidFill>
                      <a:srgbClr val="1B2A34"/>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Group 1 (32 checks)</c:v>
                </c:pt>
                <c:pt idx="1">
                  <c:v>Group 2 (49 checks)</c:v>
                </c:pt>
              </c:strCache>
            </c:strRef>
          </c:cat>
          <c:val>
            <c:numRef>
              <c:f>Sheet1!$B$2:$B$3</c:f>
              <c:numCache>
                <c:formatCode>General</c:formatCode>
                <c:ptCount val="2"/>
                <c:pt idx="0">
                  <c:v>31</c:v>
                </c:pt>
                <c:pt idx="1">
                  <c:v>45</c:v>
                </c:pt>
              </c:numCache>
            </c:numRef>
          </c:val>
          <c:extLst>
            <c:ext xmlns:c16="http://schemas.microsoft.com/office/drawing/2014/chart" uri="{C3380CC4-5D6E-409C-BE32-E72D297353CC}">
              <c16:uniqueId val="{00000000-3E7E-ED4B-8C22-683DCCEE19DC}"/>
            </c:ext>
          </c:extLst>
        </c:ser>
        <c:ser>
          <c:idx val="1"/>
          <c:order val="1"/>
          <c:tx>
            <c:strRef>
              <c:f>Sheet1!$C$1</c:f>
              <c:strCache>
                <c:ptCount val="1"/>
                <c:pt idx="0">
                  <c:v>Checks flagged</c:v>
                </c:pt>
              </c:strCache>
            </c:strRef>
          </c:tx>
          <c:spPr>
            <a:solidFill>
              <a:srgbClr val="C2410C"/>
            </a:solidFill>
            <a:effectLst/>
          </c:spPr>
          <c:invertIfNegative val="0"/>
          <c:dLbls>
            <c:numFmt formatCode="#,##0" sourceLinked="0"/>
            <c:spPr>
              <a:noFill/>
              <a:ln>
                <a:noFill/>
              </a:ln>
              <a:effectLst/>
            </c:spPr>
            <c:txPr>
              <a:bodyPr/>
              <a:lstStyle/>
              <a:p>
                <a:pPr>
                  <a:defRPr sz="1400" b="0" i="0" u="none" strike="noStrike">
                    <a:solidFill>
                      <a:srgbClr val="1B2A34"/>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Group 1 (32 checks)</c:v>
                </c:pt>
                <c:pt idx="1">
                  <c:v>Group 2 (49 checks)</c:v>
                </c:pt>
              </c:strCache>
            </c:strRef>
          </c:cat>
          <c:val>
            <c:numRef>
              <c:f>Sheet1!$C$2:$C$3</c:f>
              <c:numCache>
                <c:formatCode>General</c:formatCode>
                <c:ptCount val="2"/>
                <c:pt idx="0">
                  <c:v>1</c:v>
                </c:pt>
                <c:pt idx="1">
                  <c:v>4</c:v>
                </c:pt>
              </c:numCache>
            </c:numRef>
          </c:val>
          <c:extLst>
            <c:ext xmlns:c16="http://schemas.microsoft.com/office/drawing/2014/chart" uri="{C3380CC4-5D6E-409C-BE32-E72D297353CC}">
              <c16:uniqueId val="{00000001-3E7E-ED4B-8C22-683DCCEE19D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B2A34"/>
                </a:solidFill>
                <a:latin typeface="+mn-lt"/>
              </a:defRPr>
            </a:pPr>
            <a:endParaRPr lang="en-US"/>
          </a:p>
        </c:txPr>
        <c:crossAx val="2094734552"/>
        <c:crosses val="autoZero"/>
        <c:auto val="1"/>
        <c:lblAlgn val="ctr"/>
        <c:lblOffset val="100"/>
        <c:noMultiLvlLbl val="1"/>
      </c:catAx>
      <c:valAx>
        <c:axId val="2094734552"/>
        <c:scaling>
          <c:orientation val="minMax"/>
          <c:max val="50"/>
          <c:min val="0"/>
        </c:scaling>
        <c:delete val="0"/>
        <c:axPos val="l"/>
        <c:majorGridlines>
          <c:spPr>
            <a:ln w="6350" cap="flat">
              <a:solidFill>
                <a:srgbClr val="D5DA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B2A34"/>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400">
              <a:solidFill>
                <a:srgbClr val="1B2A34"/>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600" b="0" i="0" u="none" strike="noStrike">
                <a:solidFill>
                  <a:srgbClr val="1B2A34"/>
                </a:solidFill>
                <a:latin typeface="+mn-lt"/>
              </a:defRPr>
            </a:pPr>
            <a:r>
              <a:rPr lang="en-IN" sz="1600" b="0" i="0" u="none" strike="noStrike">
                <a:solidFill>
                  <a:srgbClr val="1B2A34"/>
                </a:solidFill>
                <a:latin typeface="+mn-lt"/>
              </a:rPr>
              <a:t>Sales revenue by month, 2023 (thousands)</a:t>
            </a:r>
          </a:p>
        </c:rich>
      </c:tx>
      <c:overlay val="0"/>
    </c:title>
    <c:autoTitleDeleted val="0"/>
    <c:plotArea>
      <c:layout/>
      <c:barChart>
        <c:barDir val="col"/>
        <c:grouping val="clustered"/>
        <c:varyColors val="0"/>
        <c:ser>
          <c:idx val="0"/>
          <c:order val="0"/>
          <c:tx>
            <c:strRef>
              <c:f>Sheet1!$B$1</c:f>
              <c:strCache>
                <c:ptCount val="1"/>
                <c:pt idx="0">
                  <c:v>Sales revenue</c:v>
                </c:pt>
              </c:strCache>
            </c:strRef>
          </c:tx>
          <c:spPr>
            <a:solidFill>
              <a:srgbClr val="0F766E"/>
            </a:solidFill>
            <a:effectLst/>
          </c:spPr>
          <c:invertIfNegative val="0"/>
          <c:dLbls>
            <c:numFmt formatCode="0.0" sourceLinked="0"/>
            <c:spPr>
              <a:noFill/>
              <a:ln>
                <a:noFill/>
              </a:ln>
              <a:effectLst/>
            </c:spPr>
            <c:txPr>
              <a:bodyPr/>
              <a:lstStyle/>
              <a:p>
                <a:pPr>
                  <a:defRPr sz="1200" b="0" i="0" u="none" strike="noStrike">
                    <a:solidFill>
                      <a:srgbClr val="1B2A34"/>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35.450000000000003</c:v>
                </c:pt>
                <c:pt idx="1">
                  <c:v>44.06</c:v>
                </c:pt>
                <c:pt idx="2">
                  <c:v>28.99</c:v>
                </c:pt>
                <c:pt idx="3">
                  <c:v>33.869999999999997</c:v>
                </c:pt>
                <c:pt idx="4">
                  <c:v>53.15</c:v>
                </c:pt>
                <c:pt idx="5">
                  <c:v>36.72</c:v>
                </c:pt>
                <c:pt idx="6">
                  <c:v>35.47</c:v>
                </c:pt>
                <c:pt idx="7">
                  <c:v>36.96</c:v>
                </c:pt>
                <c:pt idx="8">
                  <c:v>23.62</c:v>
                </c:pt>
                <c:pt idx="9">
                  <c:v>46.58</c:v>
                </c:pt>
                <c:pt idx="10">
                  <c:v>34.92</c:v>
                </c:pt>
                <c:pt idx="11">
                  <c:v>44.69</c:v>
                </c:pt>
              </c:numCache>
            </c:numRef>
          </c:val>
          <c:extLst>
            <c:ext xmlns:c16="http://schemas.microsoft.com/office/drawing/2014/chart" uri="{C3380CC4-5D6E-409C-BE32-E72D297353CC}">
              <c16:uniqueId val="{00000000-5E6C-0B4C-B471-0420A229A05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4"/>
                </a:solidFill>
                <a:latin typeface="+mn-lt"/>
              </a:defRPr>
            </a:pPr>
            <a:endParaRPr lang="en-US"/>
          </a:p>
        </c:txPr>
        <c:crossAx val="2094734552"/>
        <c:crosses val="autoZero"/>
        <c:auto val="1"/>
        <c:lblAlgn val="ctr"/>
        <c:lblOffset val="100"/>
        <c:noMultiLvlLbl val="1"/>
      </c:catAx>
      <c:valAx>
        <c:axId val="2094734552"/>
        <c:scaling>
          <c:orientation val="minMax"/>
          <c:max val="60"/>
          <c:min val="0"/>
        </c:scaling>
        <c:delete val="0"/>
        <c:axPos val="l"/>
        <c:majorGridlines>
          <c:spPr>
            <a:ln w="6350" cap="flat">
              <a:solidFill>
                <a:srgbClr val="D5DAE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B2A34"/>
                </a:solidFill>
                <a:latin typeface="+mn-lt"/>
              </a:defRPr>
            </a:pPr>
            <a:endParaRPr lang="en-US"/>
          </a:p>
        </c:txPr>
        <c:crossAx val="2094734554"/>
        <c:crosses val="autoZero"/>
        <c:crossBetween val="between"/>
        <c:majorUnit val="10"/>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3332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is our UC15 project: an Enterprise Resource Planning data platform. In this session we show the whole project across its four sprints: the profiling and quality work, the data warehouse and the Pentaho load, the real-time ingestion, and the Sprint 3 work on jobs, checks, metadata and lineage. We run the main steps live as we go.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divide the session. Part 1 covers the use case, the data, profiling, cleaning and validation. Part 2 covers the key data decisions, the star schema design, the warehouse and the Pentaho load. Part 3 covers the proof that the data is correct, the SQL reporting, the real-time ingestion and the Sprint 3 work: the end-to-end job, the quality checks, metadata and lineage, and what the data shows. Each of us presents one part, and every part includes a live demonstration.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 case: ABC Global Enterprises is a multinational that runs its operations on an ERP system. Millions of transactions are produced every day across many modules, and the business struggles to consolidate that data, monitor performance and produce real-time executive reports. The ten boxes on the right are the modules named in the use case. Our ten datasets map to them.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seven objectives of the platform, taken from the use case. In short: collect data from the ERP modules, clean and validate it, store it in a PostgreSQL warehouse, keep metadata and lineage, support analytics and dashboards, use Git, and document everything. The last box states the goal of the data work in this part of the project.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technology stack from the use case, with the role each tool plays in our work. Pentaho loads the warehouse, PostgreSQL stores it, Python with pandas handles profiling, cleaning, validation and the real-time feed, and Git holds everything. Tableau is used for the executive dashboards. The use case planned Power BI, and the same dashboard views also support a Power BI build.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 case is organised in four sprints: initiation and architecture, data discovery and ingestion, data profiling and the data warehouse, and governance, lineage and analytics. Today we show all four. Sprint 3 turned the warehouse into something that can be repeated, traced and checked.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 0 was about understanding the ERP landscape and preparing the project before any development started. We studied the ERP business processes, identified the stakeholders and data sources, defined the scope, and designed the high-level architecture. The outputs are the business requirement document, the solution architecture, the project charter and the sprint backlog, all in the docs folder, plus the GitHub repository with the enterprise folder structure.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 1 built the raw data landing zone. We analysed the ERP source systems, prepared the data dictionary and the source inventory, and built Pentaho transformations that ingest CSV, Excel, JSON, XML and SQL data into staging tables, with basic logging and exception handling. There is one ingestion transformation per dataset, eleven in total including the combined file, and the raw copies are in bronze staging. This is the bronze layer that the rest of the work builds 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scope of the part we present, from the use case. Two modules are covered: data profiling with Python, and storage and retrieval with PostgreSQL. The business objective is to turn raw ERP data into trusted, analytics-ready datasets. There are eight assigned tasks and six deliverables, and the rest of the session takes them in order.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in one picture, using the bronze, silver and gold layers of the repository structure. Raw files are kept untouched in bronze. Python cleans and validates in silver. Gold is the PostgreSQL warehouse with the star schema, loaded by Pentaho. SQL reports and the Tableau dashboards read from gold. A real-time path, which we show later, feeds the same warehouse.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repository follows the structure given in the use case: docs, datasets, bronze, silver, gold, pentaho, python, sql and so on. The gold folder holds nothing, because the warehouse itself lives in PostgreSQL, and its scripts are in sql and pentaho. Everything is on GitHub with a commit history.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are the ten ERP datasets, mapped to the modules in the use case. They arrive in four file formats here, plus SQL versions of two of them.
DEMO: Switch to Finder (Cmd+Tab) and open the datasets folder inside Data-Engineering-UC15. Point at the files and their formats. The folder shows 12 files: our 10 datasets, plus SQL versions of Procurement and Warehouse. Come back to the slides.
IF IT FAILS: use the table on this slide.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Profiling means looking at the raw data before touching it. We ran the same checks on every dataset. Only three of the ten had a problem in their raw form, and the numbers on the right are those problems.
DEMO: Open python/Data_profiling_each_dataset1.ipynb in VS Code or Jupyter. DO NOT re-run it; show the saved outputs. Scroll to the missing values and duplicate rows output cells, and say what each one shows. Then switch back.
IF IT FAILS: open docs/Data_Profiling_Report.md instead.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Cleaning turns the raw files into the silver layer. Two Python scripts apply the same steps to all ten datasets. The only dataset that lost rows was the Warehouse: every record was in the file twice.</a:t>
            </a:r>
          </a:p>
          <a:p>
            <a:endParaRPr lang="en-US" dirty="0"/>
          </a:p>
          <a:p>
            <a:r>
              <a:rPr lang="en-US" dirty="0"/>
              <a:t>DEMO: In the Terminal tab at the repo folder, run:</a:t>
            </a:r>
          </a:p>
          <a:p>
            <a:r>
              <a:rPr lang="en-US" dirty="0"/>
              <a:t>wc -l datasets/warehouse.csv silver/cleansing/cleaned_datasets/warehouse_data_cleaned.csv</a:t>
            </a:r>
          </a:p>
          <a:p>
            <a:r>
              <a:rPr lang="en-US" dirty="0"/>
              <a:t>It prints 6409 and 3205. Each count includes the header line, so that is 6,408 raw rows and 3,204 cleaned rows.</a:t>
            </a:r>
          </a:p>
          <a:p>
            <a:endParaRPr lang="en-US" dirty="0"/>
          </a:p>
          <a:p>
            <a:r>
              <a:rPr lang="en-US" dirty="0"/>
              <a:t>DO NOT re-run the cleaning scripts live; they rewrite the files.</a:t>
            </a:r>
          </a:p>
          <a:p>
            <a:endParaRPr lang="en-US" dirty="0"/>
          </a:p>
          <a:p>
            <a:r>
              <a:rPr lang="en-US" dirty="0"/>
              <a:t>IF IT FAILS: the big numbers on this slide show the same result.</a:t>
            </a:r>
          </a:p>
          <a:p>
            <a:endParaRPr lang="en-US" dirty="0"/>
          </a:p>
          <a:p>
            <a:r>
              <a:rPr lang="en-US" dirty="0"/>
              <a:t>NOTE: the end-to-end job shown later in Sprint 3 does run these scripts, and that is safe: they produce the same files again. Only avoid running them by hand here.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Validation tests the cleaned data against business rules, for example no negative amounts, no duplicate keys, and total equals quantity times price. One script covers each group of five datasets. Most checks pass, and the flagged items on the right are the ones we investigated.
DEMO: In the Terminal tab inside python/, run: python3 ERP_Data_Validation_Group2.py
It takes a few seconds and ends with 49 checks and 4 flagged. Then open silver/validation/group2_validation_summary.csv. The future-registration count depends on today's date, so it will be about 44, not 47. Say so if asked.
AFTERWARDS: git checkout silver/validation/group2_validation_summary.csv
IF IT FAILS: the chart on this slide shows the same result.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challenge in the data: the same real-world thing has a different ID in every module. A customer is CUST001 in Sales, 5001 in Customer Master and a ten-digit number in Accounts. We checked the raw, staged and cleaned files and the IDs were the same all the way back, so cleaning did not cause it. We also tested whether the IDs follow row order, but there is no shared column to confirm it, so we did not use 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star schema has fact tables that record events with numbers, and dimension tables that describe them. We designed fifteen tables: seven facts and eight dimensions. Because the IDs do not link across modules, each module is its own small star. The one dimension shared by many facts is the date dimension, in the middle of the diagram.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creating any fact table we defined its grain, meaning what one row represents. This table is the core of the design. For example, FactSales has one row per sales transaction, while FactInventoryDemand has one row per item per month, because we turned the twelve month columns of the source into rows.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eight dimensions. On the right are four design decisions that came from what we found in the data. For example, every one of the ten suppliers appears under several names, so a supplier dimension cannot hold one stable name. We keep only the supplier ID there and store the name on each order.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entity relationship diagram, generated from our live PostgreSQL database. It shows all fifteen tables and the foreign keys between facts and dimensions. The date dimension connects to six facts, and the standalone dimensions have no connecting lines.
DEMO: Switch to pgAdmin. Expand uc15_dw, then Schemas, public, Tables: point at the 15 tables. Then show docs/ERD_uc15_dw.png (or right-click uc15_dw and choose ERD For Database). Come back to the slides.
IF IT FAILS: the picture on this slide is the same diagram.</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use case names Pentaho as the ETL tool, so the warehouse is loaded with fifteen Pentaho transformations, one per table. Each reads a cleaned CSV, picks the columns, turns dates into the date key, looks up dimension keys where needed, and writes to PostgreSQL. Dimensions load first and facts second.</a:t>
            </a:r>
          </a:p>
          <a:p>
            <a:endParaRPr lang="en-US" dirty="0"/>
          </a:p>
          <a:p>
            <a:r>
              <a:rPr lang="en-US" dirty="0"/>
              <a:t>DEMO: Switch to Spoon, where Load FactSales is already open. Click Run, then Launch. In the log point at Table output: W=1000 and E=0. Then in pgAdmin run: SELECT COUNT(*) FROM factsales; and show 1000.</a:t>
            </a:r>
          </a:p>
          <a:p>
            <a:endParaRPr lang="en-US" dirty="0"/>
          </a:p>
          <a:p>
            <a:r>
              <a:rPr lang="en-US" dirty="0"/>
              <a:t>SAFE TO REPEAT: this transformation empties and reloads only FactSales. ONLY run Load FactSales or Load DimEmployee live. Do NOT run Load DimDate, DimSupplier, DimMonth, DimItemInventory or DimWarehouseItem: they cannot be emptied while facts point to them.</a:t>
            </a:r>
          </a:p>
          <a:p>
            <a:endParaRPr lang="en-US" dirty="0"/>
          </a:p>
          <a:p>
            <a:r>
              <a:rPr lang="en-US" dirty="0"/>
              <a:t>IF SPOON CANNOT CONNECT: quit and reopen Spoon (it reads the password file only at start). Otherwise show a screenshot.</a:t>
            </a:r>
          </a:p>
          <a:p>
            <a:endParaRPr lang="en-US" dirty="0"/>
          </a:p>
          <a:p>
            <a:r>
              <a:rPr lang="en-US" dirty="0"/>
              <a:t>TO LOAD EVERYTHING AT ONCE: the job ETL_Load_Warehouse runs all fifteen transformations in the right order, resets the tables first and reconciles at the end. It is part of the end-to-end job later in Sprint 3, so here only run single transformations.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All fifteen transformations ran with zero errors. Row counts alone could hide wrong values, so we wrote a reconciliation script. For every table it compares the row count and one numeric total with figures computed straight from the cleaned CSV files. All fifteen tables match. For example the sales total is 456,000.00 in both places.
DEMO: In pgAdmin, with uc15_dw selected, open sql/05_reconciliation_checks.sql and press F5. Point at the status column: 15 rows, all PASS. This is the strongest proof in the project.
IF IT FAILS: the tables on this slide show the same result from our earlier run.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use case asks for SQL queries for enterprise reporting. We wrote twenty-three queries across sales, procurement, inventory, warehouse, finance and manufacturing, plus one cross-functional query. The chart is the result of the sales-by-month query for 2023, straight from our database.
DEMO: In pgAdmin open sql/04_enterprise_reporting_queries.sql. IMPORTANT: highlight ONE query with the mouse and press F5. Without a selection pgAdmin runs the whole file and shows only the last result. Run 'Sales by month' and then 'Procurement cost by supplier'. Point at the numbers.
CAVEAT if asked: procurement spend includes cancelled orders (25.1% of cost), which a real report would filter out.
IF IT FAILS: the chart on this slide is the same sales result.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After the Sprint 2 review we added a second real-time exercise with a real external source. A small Python script calls the public Coinbase API every five seconds for the Bitcoin and Ethereum prices, validates each reading and stores it in its own database, realtime_demo. In our test run of about sixteen minutes it stored 346 readings, the average API response time was 382 milliseconds, and no problems were logged. From the stored data we derive the change since the first reading, one-minute candles, a moving average, volatility and the biggest jumps. It is separate from the warehouse.</a:t>
            </a:r>
          </a:p>
          <a:p>
            <a:endParaRPr lang="en-US" dirty="0"/>
          </a:p>
          <a:p>
            <a:r>
              <a:rPr lang="en-US" dirty="0"/>
              <a:t>DEMO: In a Terminal tab inside realtime_rest_demo/ run: python3 ingest_rest_api.py --interval 3 --count 20</a:t>
            </a:r>
          </a:p>
          <a:p>
            <a:r>
              <a:rPr lang="en-US" dirty="0"/>
              <a:t>It runs for about a minute. Point at the prices, the change against the previous reading and the API time in milliseconds. Then in pgAdmin open the database realtime_demo and run query 3 (change since the first reading) and query 5 (one-minute candles) from live_queries.sql.</a:t>
            </a:r>
          </a:p>
          <a:p>
            <a:endParaRPr lang="en-US" dirty="0"/>
          </a:p>
          <a:p>
            <a:r>
              <a:rPr lang="en-US" dirty="0"/>
              <a:t>IF THERE IS NO INTERNET: in tab 1 run python3 mock_api_server.py, and in tab 2 run python3 ingest_rest_api.py --base-url http://127.0.0.1:8099 --interval 3 --count 20. Say that the prices are simulated.</a:t>
            </a:r>
          </a:p>
          <a:p>
            <a:endParaRPr lang="en-US" dirty="0"/>
          </a:p>
          <a:p>
            <a:r>
              <a:rPr lang="en-US" dirty="0"/>
              <a:t>IF IT FAILS: show the numbers on the slide. They come from our real run.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 case says the curated data should enable analytics teams to do six things. This table shows how the warehouse and the SQL queries support each one. One caution: the modules cover different years, so the cross-functional comparison is only meaningful where periods overlap. For the dashboards, the eleven views and the nine-page design are done and checked against the warehouse; and two Tableau dashboards with ten sheets were built on them.</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deliverables listed in the use case, each with where it lives in the repository. The two reports are in the docs folder, the star schema has the ERD, the warehouse is reconciled, and the SQL scripts cover creation, reset, reporting, checks and the real-time extension.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Sprint 3 is the governance and repeatability sprint. We delivered a source-to-target mapping of all 141 warehouse columns, a data lineage document with a diagram, a business glossary of 79 terms, a metadata repository that also lives inside PostgreSQL, two Pentaho jobs, a reconciliation across all layers, 32 data quality checks, and the dashboard views and design.</a:t>
            </a:r>
          </a:p>
          <a:p>
            <a:endParaRPr lang="en-US" dirty="0"/>
          </a:p>
          <a:p>
            <a:r>
              <a:rPr lang="en-US" dirty="0"/>
              <a:t>The two Tableau dashboards are built on the dashboard views, and the release tag is the last step. Everything is on GitHub, and a rebuild from the repository files reproduces every result.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reconciliation now covers every layer, not only the warehouse. For each of the ten datasets, a script compares the row count and one control total at three levels: the raw file, the cleaned file and the warehouse. Nine datasets are identical at all three levels. Warehouse is explained: the raw file holds every record twice, so its raw total is exactly double the cleaned one, and cleaning removed 3,204 duplicate rows.</a:t>
            </a:r>
          </a:p>
          <a:p>
            <a:endParaRPr lang="en-US" dirty="0"/>
          </a:p>
          <a:p>
            <a:r>
              <a:rPr lang="en-US" dirty="0"/>
              <a:t>DEMO: In the Terminal, inside the python/ folder, run: python3 ERP_Layer_Reconciliation.py</a:t>
            </a:r>
          </a:p>
          <a:p>
            <a:r>
              <a:rPr lang="en-US" dirty="0"/>
              <a:t>Point at the table and at the last line: 9 PASS, 1 EXPLAINED, 0 DIFFERENT. The script exits with an error if any dataset differs, which is how the end-to-end job uses it.</a:t>
            </a:r>
          </a:p>
          <a:p>
            <a:endParaRPr lang="en-US" dirty="0"/>
          </a:p>
          <a:p>
            <a:r>
              <a:rPr lang="en-US" dirty="0"/>
              <a:t>IF IT FAILS: the table on this slide shows the same result.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Governance in Sprint 3. A source-to-target mapping traces all 141 warehouse columns back to the raw file, the cleaned file and the Pentaho rule that loads them. The metadata repository describes every table and column, and the same descriptions are stored inside PostgreSQL, so pgAdmin shows them and a view lists them. The glossary defines 79 terms in plain language. The lineage document draws the route of every dataset and says what to re-run if a source changes.</a:t>
            </a:r>
          </a:p>
          <a:p>
            <a:endParaRPr lang="en-US" dirty="0"/>
          </a:p>
          <a:p>
            <a:r>
              <a:rPr lang="en-US" dirty="0"/>
              <a:t>Writing the lineage taught us something honest: the cleaning scripts read the raw files and not the Bronze copy, and the Sprint 1 procurement source differs from the file the warehouse uses. We documented both.</a:t>
            </a:r>
          </a:p>
          <a:p>
            <a:endParaRPr lang="en-US" dirty="0"/>
          </a:p>
          <a:p>
            <a:r>
              <a:rPr lang="en-US" dirty="0"/>
              <a:t>OPTIONAL DEMO: in pgAdmin run SELECT * FROM vw_metadata_columns; and show 141 rows with descriptions. Or open lineage/Data_Lineage.md on GitHub.</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are the useful things the warehouse lets us say. Sales are spread fairly evenly over three categories. A quarter of the ordered procurement value was cancelled. Two thirds of the receivables are flagged as delayed, but nearly a third of the documents have contradictory dates, so lateness is only indicative. Grocery dominates demand, and the year is almost flat. 237 warehouse items are below their reorder point. Two machines fail more than the others.</a:t>
            </a:r>
          </a:p>
          <a:p>
            <a:endParaRPr lang="en-US" dirty="0"/>
          </a:p>
          <a:p>
            <a:r>
              <a:rPr lang="en-US" dirty="0"/>
              <a:t>One caution: the datasets are synthetic and the modules cover different years, so each finding stands on its own. The dashboard design shows each of these on a page, with the numbers checked against the warehouse.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Our dashboards were built in Tableau on the same dashboard views, exported as CSV files. There are two dashboards and ten sheets. The first covers sales, warehouse demand, receivable delays, procurement cost and finance revenue. The second covers machine availability, inventory demand by month, salary by age group, credit limit by city and asset condition. We compared the category totals, the monthly demand and the city credit limits with the warehouse, and they match. The use case named Power BI; we used Tableau, and the same views and a design document also support a Power BI build.</a:t>
            </a:r>
          </a:p>
          <a:p>
            <a:endParaRPr lang="en-US" dirty="0"/>
          </a:p>
          <a:p>
            <a:r>
              <a:rPr lang="en-US" dirty="0"/>
              <a:t>BE OPEN ABOUT THREE SHEETS: the procurement cost sheet still includes cancelled orders, which are about a quarter of the ordered value, so it is higher than our SQL spend report; the receivable delay days are as given and not reliable; and the finance revenue is as given and does not add up. They are listed with their fixes in dashboards/Tableau_Dashboard_Notes.md.</a:t>
            </a:r>
          </a:p>
          <a:p>
            <a:endParaRPr lang="en-US" dirty="0"/>
          </a:p>
          <a:p>
            <a:r>
              <a:rPr lang="en-US" dirty="0"/>
              <a:t>DEMO: Open dashboards/Dashboards.twbx in Tableau Reader and click through the two dashboards.</a:t>
            </a:r>
          </a:p>
          <a:p>
            <a:endParaRPr lang="en-US" dirty="0"/>
          </a:p>
          <a:p>
            <a:r>
              <a:rPr lang="en-US" dirty="0"/>
              <a:t>IF IT FAILS: show screenshots of the two dashboards.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We built a pipeline from raw ERP files to a reconciled PostgreSQL warehouse that one job can reload and check in seconds, with an audit log, lineage, metadata and 32 quality checks, and two real-time paths next to the batch loads. We documented the problems in the data instead of hiding them. Thank you, and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731520" y="822960"/>
            <a:ext cx="1645920" cy="621792"/>
          </a:xfrm>
          <a:prstGeom prst="rect">
            <a:avLst/>
          </a:prstGeom>
        </p:spPr>
      </p:pic>
      <p:sp>
        <p:nvSpPr>
          <p:cNvPr id="3" name="Text 0"/>
          <p:cNvSpPr>
            <a:spLocks noGrp="1"/>
          </p:cNvSpPr>
          <p:nvPr>
            <p:ph type="title" idx="101" hasCustomPrompt="1"/>
          </p:nvPr>
        </p:nvSpPr>
        <p:spPr>
          <a:xfrm>
            <a:off x="731520" y="1737360"/>
            <a:ext cx="8412480" cy="173736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10927080" y="502920"/>
            <a:ext cx="822960" cy="310896"/>
          </a:xfrm>
          <a:prstGeom prst="rect">
            <a:avLst/>
          </a:prstGeom>
        </p:spPr>
      </p:pic>
      <p:sp>
        <p:nvSpPr>
          <p:cNvPr id="3" name="Text 0"/>
          <p:cNvSpPr>
            <a:spLocks noGrp="1"/>
          </p:cNvSpPr>
          <p:nvPr>
            <p:ph type="title" idx="101" hasCustomPrompt="1"/>
          </p:nvPr>
        </p:nvSpPr>
        <p:spPr>
          <a:xfrm>
            <a:off x="548640" y="365760"/>
            <a:ext cx="10149840" cy="77724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10927080" y="502920"/>
            <a:ext cx="822960" cy="310896"/>
          </a:xfrm>
          <a:prstGeom prst="rect">
            <a:avLst/>
          </a:prstGeom>
        </p:spPr>
      </p:pic>
      <p:sp>
        <p:nvSpPr>
          <p:cNvPr id="3" name="Text 0"/>
          <p:cNvSpPr>
            <a:spLocks noGrp="1"/>
          </p:cNvSpPr>
          <p:nvPr>
            <p:ph type="title" idx="101" hasCustomPrompt="1"/>
          </p:nvPr>
        </p:nvSpPr>
        <p:spPr>
          <a:xfrm>
            <a:off x="548640" y="365760"/>
            <a:ext cx="10149840" cy="77724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6.png"/><Relationship Id="rId7"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16.png"/><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9.png"/><Relationship Id="rId7"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5.png"/><Relationship Id="rId10" Type="http://schemas.openxmlformats.org/officeDocument/2006/relationships/image" Target="../media/image32.png"/><Relationship Id="rId4" Type="http://schemas.openxmlformats.org/officeDocument/2006/relationships/image" Target="../media/image28.png"/><Relationship Id="rId9" Type="http://schemas.openxmlformats.org/officeDocument/2006/relationships/image" Target="../media/image31.png"/></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731520" y="1737360"/>
            <a:ext cx="8412480" cy="1737360"/>
          </a:xfrm>
          <a:prstGeom prst="rect">
            <a:avLst/>
          </a:prstGeom>
          <a:noFill/>
          <a:ln/>
        </p:spPr>
        <p:txBody>
          <a:bodyPr wrap="square" lIns="0" tIns="0" rIns="0" bIns="0" rtlCol="0" anchor="t"/>
          <a:lstStyle/>
          <a:p>
            <a:pPr marL="0" indent="0" algn="l">
              <a:buNone/>
            </a:pPr>
            <a:r>
              <a:rPr lang="en-US" sz="4400" b="1" dirty="0">
                <a:solidFill>
                  <a:schemeClr val="bg1"/>
                </a:solidFill>
              </a:rPr>
              <a:t>UC15: Enterprise Resource Planning Data Platform (ERPDP)</a:t>
            </a:r>
            <a:endParaRPr lang="en-US" sz="4400" dirty="0"/>
          </a:p>
        </p:txBody>
      </p:sp>
      <p:sp>
        <p:nvSpPr>
          <p:cNvPr id="4" name="Text 1"/>
          <p:cNvSpPr txBox="1"/>
          <p:nvPr/>
        </p:nvSpPr>
        <p:spPr>
          <a:xfrm>
            <a:off x="731520" y="3657600"/>
            <a:ext cx="8412480" cy="731520"/>
          </a:xfrm>
          <a:prstGeom prst="rect">
            <a:avLst/>
          </a:prstGeom>
          <a:noFill/>
          <a:ln/>
        </p:spPr>
        <p:txBody>
          <a:bodyPr wrap="square" lIns="0" tIns="0" rIns="0" bIns="0" rtlCol="0" anchor="t"/>
          <a:lstStyle/>
          <a:p>
            <a:pPr marL="0" indent="0">
              <a:buNone/>
            </a:pPr>
            <a:r>
              <a:rPr lang="en-US" sz="2200" dirty="0">
                <a:solidFill>
                  <a:schemeClr val="bg2"/>
                </a:solidFill>
              </a:rPr>
              <a:t>Building a Unified Enterprise Operations &amp; Business Analytics Platform</a:t>
            </a:r>
            <a:endParaRPr lang="en-US" sz="2200" dirty="0"/>
          </a:p>
        </p:txBody>
      </p:sp>
      <p:sp>
        <p:nvSpPr>
          <p:cNvPr id="5" name="Text 2"/>
          <p:cNvSpPr txBox="1"/>
          <p:nvPr/>
        </p:nvSpPr>
        <p:spPr>
          <a:xfrm>
            <a:off x="731520" y="4572000"/>
            <a:ext cx="8412480" cy="365760"/>
          </a:xfrm>
          <a:prstGeom prst="rect">
            <a:avLst/>
          </a:prstGeom>
          <a:noFill/>
          <a:ln/>
        </p:spPr>
        <p:txBody>
          <a:bodyPr wrap="square" lIns="0" tIns="0" rIns="0" bIns="0" rtlCol="0" anchor="t"/>
          <a:lstStyle/>
          <a:p>
            <a:pPr marL="0" indent="0">
              <a:buNone/>
            </a:pPr>
            <a:r>
              <a:rPr lang="en-US" sz="1800" b="1" dirty="0">
                <a:solidFill>
                  <a:schemeClr val="accent4"/>
                </a:solidFill>
              </a:rPr>
              <a:t>Enterprise Data Engineering Capstone Project: Sprints 0 to 3</a:t>
            </a:r>
            <a:endParaRPr lang="en-US" sz="1800" dirty="0"/>
          </a:p>
        </p:txBody>
      </p:sp>
      <p:sp>
        <p:nvSpPr>
          <p:cNvPr id="7" name="Text 4"/>
          <p:cNvSpPr txBox="1"/>
          <p:nvPr/>
        </p:nvSpPr>
        <p:spPr>
          <a:xfrm>
            <a:off x="731520" y="5760720"/>
            <a:ext cx="8412480" cy="320040"/>
          </a:xfrm>
          <a:prstGeom prst="rect">
            <a:avLst/>
          </a:prstGeom>
          <a:noFill/>
          <a:ln/>
        </p:spPr>
        <p:txBody>
          <a:bodyPr wrap="square" lIns="0" tIns="0" rIns="0" bIns="0" rtlCol="0" anchor="t"/>
          <a:lstStyle/>
          <a:p>
            <a:pPr marL="0" indent="0">
              <a:buNone/>
            </a:pPr>
            <a:r>
              <a:rPr lang="en-US" sz="1400" dirty="0">
                <a:solidFill>
                  <a:schemeClr val="accent3"/>
                </a:solidFill>
              </a:rPr>
              <a:t>github.com/7-Kaviya/Data-Engineering-UC15</a:t>
            </a:r>
            <a:endParaRPr lang="en-US" sz="1400" dirty="0"/>
          </a:p>
        </p:txBody>
      </p:sp>
      <p:sp>
        <p:nvSpPr>
          <p:cNvPr id="8" name="Text 5"/>
          <p:cNvSpPr/>
          <p:nvPr/>
        </p:nvSpPr>
        <p:spPr>
          <a:xfrm>
            <a:off x="9601200" y="1371600"/>
            <a:ext cx="1554480" cy="1554480"/>
          </a:xfrm>
          <a:prstGeom prst="ellipse">
            <a:avLst/>
          </a:prstGeom>
          <a:solidFill>
            <a:srgbClr val="B87333"/>
          </a:solidFill>
          <a:ln/>
        </p:spPr>
        <p:txBody>
          <a:bodyPr wrap="square" lIns="0" tIns="0" rIns="0" bIns="0" rtlCol="0" anchor="ctr"/>
          <a:lstStyle/>
          <a:p>
            <a:pPr marL="0" indent="0" algn="ctr">
              <a:buNone/>
            </a:pPr>
            <a:r>
              <a:rPr lang="en-US" sz="1800" b="1" dirty="0">
                <a:solidFill>
                  <a:schemeClr val="tx1"/>
                </a:solidFill>
              </a:rPr>
              <a:t>Bronze</a:t>
            </a:r>
            <a:endParaRPr lang="en-US" sz="1800" dirty="0"/>
          </a:p>
        </p:txBody>
      </p:sp>
      <p:sp>
        <p:nvSpPr>
          <p:cNvPr id="9" name="Text 6"/>
          <p:cNvSpPr/>
          <p:nvPr/>
        </p:nvSpPr>
        <p:spPr>
          <a:xfrm>
            <a:off x="10149840" y="2743200"/>
            <a:ext cx="1554480" cy="1554480"/>
          </a:xfrm>
          <a:prstGeom prst="ellipse">
            <a:avLst/>
          </a:prstGeom>
          <a:solidFill>
            <a:srgbClr val="8E99A4"/>
          </a:solidFill>
          <a:ln/>
        </p:spPr>
        <p:txBody>
          <a:bodyPr wrap="square" lIns="0" tIns="0" rIns="0" bIns="0" rtlCol="0" anchor="ctr"/>
          <a:lstStyle/>
          <a:p>
            <a:pPr marL="0" indent="0" algn="ctr">
              <a:buNone/>
            </a:pPr>
            <a:r>
              <a:rPr lang="en-US" sz="1800" b="1" dirty="0">
                <a:solidFill>
                  <a:schemeClr val="tx1"/>
                </a:solidFill>
              </a:rPr>
              <a:t>Silver</a:t>
            </a:r>
            <a:endParaRPr lang="en-US" sz="1800" dirty="0"/>
          </a:p>
        </p:txBody>
      </p:sp>
      <p:sp>
        <p:nvSpPr>
          <p:cNvPr id="10" name="Text 7"/>
          <p:cNvSpPr/>
          <p:nvPr/>
        </p:nvSpPr>
        <p:spPr>
          <a:xfrm>
            <a:off x="9601200" y="4114800"/>
            <a:ext cx="1554480" cy="1554480"/>
          </a:xfrm>
          <a:prstGeom prst="ellipse">
            <a:avLst/>
          </a:prstGeom>
          <a:solidFill>
            <a:srgbClr val="D9A404"/>
          </a:solidFill>
          <a:ln/>
        </p:spPr>
        <p:txBody>
          <a:bodyPr wrap="square" lIns="0" tIns="0" rIns="0" bIns="0" rtlCol="0" anchor="ctr"/>
          <a:lstStyle/>
          <a:p>
            <a:pPr marL="0" indent="0" algn="ctr">
              <a:buNone/>
            </a:pPr>
            <a:r>
              <a:rPr lang="en-US" sz="1800" b="1" dirty="0">
                <a:solidFill>
                  <a:schemeClr val="tx1"/>
                </a:solidFill>
              </a:rPr>
              <a:t>Gold</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365760"/>
            <a:ext cx="10149840" cy="777240"/>
          </a:xfrm>
          <a:prstGeom prst="rect">
            <a:avLst/>
          </a:prstGeom>
          <a:noFill/>
          <a:ln/>
        </p:spPr>
        <p:txBody>
          <a:bodyPr wrap="square" lIns="0" tIns="0" rIns="0" bIns="0" rtlCol="0" anchor="ctr"/>
          <a:lstStyle/>
          <a:p>
            <a:pPr marL="0" indent="0" algn="l">
              <a:buNone/>
            </a:pPr>
            <a:r>
              <a:rPr lang="en-US" sz="3600" b="1" dirty="0">
                <a:solidFill>
                  <a:schemeClr val="tx1"/>
                </a:solidFill>
              </a:rPr>
              <a:t>Agenda and presenters</a:t>
            </a:r>
            <a:endParaRPr lang="en-US" sz="3600" dirty="0"/>
          </a:p>
        </p:txBody>
      </p:sp>
      <p:sp>
        <p:nvSpPr>
          <p:cNvPr id="4" name="Part card"/>
          <p:cNvSpPr/>
          <p:nvPr/>
        </p:nvSpPr>
        <p:spPr>
          <a:xfrm>
            <a:off x="548640" y="1463040"/>
            <a:ext cx="3520440" cy="4572000"/>
          </a:xfrm>
          <a:prstGeom prst="rect">
            <a:avLst/>
          </a:prstGeom>
          <a:solidFill>
            <a:schemeClr val="bg2"/>
          </a:solidFill>
          <a:ln w="12700">
            <a:solidFill>
              <a:schemeClr val="bg2"/>
            </a:solidFill>
            <a:prstDash val="solid"/>
          </a:ln>
        </p:spPr>
      </p:sp>
      <p:sp>
        <p:nvSpPr>
          <p:cNvPr id="5" name="Shape 2"/>
          <p:cNvSpPr/>
          <p:nvPr/>
        </p:nvSpPr>
        <p:spPr>
          <a:xfrm>
            <a:off x="822960" y="1737360"/>
            <a:ext cx="777240" cy="777240"/>
          </a:xfrm>
          <a:prstGeom prst="ellipse">
            <a:avLst/>
          </a:prstGeom>
          <a:solidFill>
            <a:srgbClr val="B87333"/>
          </a:solidFill>
          <a:ln w="12700">
            <a:solidFill>
              <a:srgbClr val="B87333"/>
            </a:solidFill>
            <a:prstDash val="solid"/>
          </a:ln>
        </p:spPr>
      </p:sp>
      <p:pic>
        <p:nvPicPr>
          <p:cNvPr id="6" name="Image 0" descr="preencoded.png"/>
          <p:cNvPicPr>
            <a:picLocks noChangeAspect="1"/>
          </p:cNvPicPr>
          <p:nvPr/>
        </p:nvPicPr>
        <p:blipFill>
          <a:blip r:embed="rId3"/>
          <a:stretch>
            <a:fillRect/>
          </a:stretch>
        </p:blipFill>
        <p:spPr>
          <a:xfrm>
            <a:off x="1024128" y="1938528"/>
            <a:ext cx="374904" cy="374904"/>
          </a:xfrm>
          <a:prstGeom prst="rect">
            <a:avLst/>
          </a:prstGeom>
        </p:spPr>
      </p:pic>
      <p:sp>
        <p:nvSpPr>
          <p:cNvPr id="7" name="Text 3"/>
          <p:cNvSpPr txBox="1"/>
          <p:nvPr/>
        </p:nvSpPr>
        <p:spPr>
          <a:xfrm>
            <a:off x="1783080" y="1783080"/>
            <a:ext cx="2103120" cy="274320"/>
          </a:xfrm>
          <a:prstGeom prst="rect">
            <a:avLst/>
          </a:prstGeom>
          <a:noFill/>
          <a:ln/>
        </p:spPr>
        <p:txBody>
          <a:bodyPr wrap="square" lIns="0" tIns="0" rIns="0" bIns="0" rtlCol="0" anchor="t"/>
          <a:lstStyle/>
          <a:p>
            <a:pPr marL="0" indent="0">
              <a:buNone/>
            </a:pPr>
            <a:r>
              <a:rPr lang="en-US" sz="1400" b="1" dirty="0">
                <a:solidFill>
                  <a:schemeClr val="tx2"/>
                </a:solidFill>
              </a:rPr>
              <a:t>Part 1</a:t>
            </a:r>
            <a:endParaRPr lang="en-US" sz="1400" dirty="0"/>
          </a:p>
        </p:txBody>
      </p:sp>
      <p:sp>
        <p:nvSpPr>
          <p:cNvPr id="8" name="Text 4"/>
          <p:cNvSpPr txBox="1"/>
          <p:nvPr/>
        </p:nvSpPr>
        <p:spPr>
          <a:xfrm>
            <a:off x="1783080" y="2103120"/>
            <a:ext cx="2103120" cy="274320"/>
          </a:xfrm>
          <a:prstGeom prst="rect">
            <a:avLst/>
          </a:prstGeom>
          <a:noFill/>
          <a:ln/>
        </p:spPr>
        <p:txBody>
          <a:bodyPr wrap="square" lIns="0" tIns="0" rIns="0" bIns="0" rtlCol="0" anchor="t"/>
          <a:lstStyle/>
          <a:p>
            <a:pPr marL="0" indent="0">
              <a:buNone/>
            </a:pPr>
            <a:r>
              <a:rPr lang="en-US" sz="1400" dirty="0">
                <a:solidFill>
                  <a:schemeClr val="tx2"/>
                </a:solidFill>
              </a:rPr>
              <a:t>Slides 3 to 15</a:t>
            </a:r>
            <a:endParaRPr lang="en-US" sz="1400" dirty="0"/>
          </a:p>
        </p:txBody>
      </p:sp>
      <p:sp>
        <p:nvSpPr>
          <p:cNvPr id="9" name="Text 5"/>
          <p:cNvSpPr txBox="1"/>
          <p:nvPr/>
        </p:nvSpPr>
        <p:spPr>
          <a:xfrm>
            <a:off x="822960" y="2788920"/>
            <a:ext cx="3017520" cy="731520"/>
          </a:xfrm>
          <a:prstGeom prst="rect">
            <a:avLst/>
          </a:prstGeom>
          <a:noFill/>
          <a:ln/>
        </p:spPr>
        <p:txBody>
          <a:bodyPr wrap="square" lIns="0" tIns="0" rIns="0" bIns="0" rtlCol="0" anchor="t"/>
          <a:lstStyle/>
          <a:p>
            <a:pPr marL="0" indent="0">
              <a:buNone/>
            </a:pPr>
            <a:r>
              <a:rPr lang="en-US" sz="2000" b="1" dirty="0">
                <a:solidFill>
                  <a:schemeClr val="tx1"/>
                </a:solidFill>
              </a:rPr>
              <a:t>Use case, data and quality checks</a:t>
            </a:r>
            <a:endParaRPr lang="en-US" sz="2000" dirty="0"/>
          </a:p>
        </p:txBody>
      </p:sp>
      <p:sp>
        <p:nvSpPr>
          <p:cNvPr id="10" name="Text 6"/>
          <p:cNvSpPr txBox="1"/>
          <p:nvPr/>
        </p:nvSpPr>
        <p:spPr>
          <a:xfrm>
            <a:off x="822960" y="3611880"/>
            <a:ext cx="3017520" cy="173736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chemeClr val="tx1"/>
                </a:solidFill>
              </a:rPr>
              <a:t>Business background, objective, stack</a:t>
            </a:r>
            <a:endParaRPr lang="en-US" sz="1400" dirty="0"/>
          </a:p>
          <a:p>
            <a:pPr marL="203200" indent="-203200">
              <a:spcAft>
                <a:spcPts val="400"/>
              </a:spcAft>
              <a:buSzPct val="100000"/>
              <a:buChar char="•"/>
            </a:pPr>
            <a:r>
              <a:rPr lang="en-US" sz="1400" dirty="0">
                <a:solidFill>
                  <a:schemeClr val="tx1"/>
                </a:solidFill>
              </a:rPr>
              <a:t>Sprints 0 and 1</a:t>
            </a:r>
            <a:endParaRPr lang="en-US" sz="1400" dirty="0"/>
          </a:p>
          <a:p>
            <a:pPr marL="203200" indent="-203200">
              <a:spcAft>
                <a:spcPts val="400"/>
              </a:spcAft>
              <a:buSzPct val="100000"/>
              <a:buChar char="•"/>
            </a:pPr>
            <a:r>
              <a:rPr lang="en-US" sz="1400" dirty="0">
                <a:solidFill>
                  <a:schemeClr val="tx1"/>
                </a:solidFill>
              </a:rPr>
              <a:t>Sprint 2 scope, architecture, data</a:t>
            </a:r>
            <a:endParaRPr lang="en-US" sz="1400" dirty="0"/>
          </a:p>
          <a:p>
            <a:pPr marL="203200" indent="-203200">
              <a:spcAft>
                <a:spcPts val="400"/>
              </a:spcAft>
              <a:buSzPct val="100000"/>
              <a:buChar char="•"/>
            </a:pPr>
            <a:r>
              <a:rPr lang="en-US" sz="1400" dirty="0">
                <a:solidFill>
                  <a:schemeClr val="tx1"/>
                </a:solidFill>
              </a:rPr>
              <a:t>Profiling, cleaning, validation (live)</a:t>
            </a:r>
            <a:endParaRPr lang="en-US" sz="1400" dirty="0"/>
          </a:p>
        </p:txBody>
      </p:sp>
      <p:sp>
        <p:nvSpPr>
          <p:cNvPr id="12" name="Part card"/>
          <p:cNvSpPr/>
          <p:nvPr/>
        </p:nvSpPr>
        <p:spPr>
          <a:xfrm>
            <a:off x="4334256" y="1463040"/>
            <a:ext cx="3520440" cy="4572000"/>
          </a:xfrm>
          <a:prstGeom prst="rect">
            <a:avLst/>
          </a:prstGeom>
          <a:solidFill>
            <a:schemeClr val="bg2"/>
          </a:solidFill>
          <a:ln w="12700">
            <a:solidFill>
              <a:schemeClr val="bg2"/>
            </a:solidFill>
            <a:prstDash val="solid"/>
          </a:ln>
        </p:spPr>
      </p:sp>
      <p:sp>
        <p:nvSpPr>
          <p:cNvPr id="13" name="Shape 9"/>
          <p:cNvSpPr/>
          <p:nvPr/>
        </p:nvSpPr>
        <p:spPr>
          <a:xfrm>
            <a:off x="4608576" y="1737360"/>
            <a:ext cx="777240" cy="777240"/>
          </a:xfrm>
          <a:prstGeom prst="ellipse">
            <a:avLst/>
          </a:prstGeom>
          <a:solidFill>
            <a:srgbClr val="8E99A4"/>
          </a:solidFill>
          <a:ln w="12700">
            <a:solidFill>
              <a:srgbClr val="8E99A4"/>
            </a:solidFill>
            <a:prstDash val="solid"/>
          </a:ln>
        </p:spPr>
      </p:sp>
      <p:pic>
        <p:nvPicPr>
          <p:cNvPr id="14" name="Image 1" descr="preencoded.png"/>
          <p:cNvPicPr>
            <a:picLocks noChangeAspect="1"/>
          </p:cNvPicPr>
          <p:nvPr/>
        </p:nvPicPr>
        <p:blipFill>
          <a:blip r:embed="rId4"/>
          <a:stretch>
            <a:fillRect/>
          </a:stretch>
        </p:blipFill>
        <p:spPr>
          <a:xfrm>
            <a:off x="4809744" y="1938528"/>
            <a:ext cx="374904" cy="374904"/>
          </a:xfrm>
          <a:prstGeom prst="rect">
            <a:avLst/>
          </a:prstGeom>
        </p:spPr>
      </p:pic>
      <p:sp>
        <p:nvSpPr>
          <p:cNvPr id="15" name="Text 10"/>
          <p:cNvSpPr txBox="1"/>
          <p:nvPr/>
        </p:nvSpPr>
        <p:spPr>
          <a:xfrm>
            <a:off x="5568696" y="1783080"/>
            <a:ext cx="2103120" cy="274320"/>
          </a:xfrm>
          <a:prstGeom prst="rect">
            <a:avLst/>
          </a:prstGeom>
          <a:noFill/>
          <a:ln/>
        </p:spPr>
        <p:txBody>
          <a:bodyPr wrap="square" lIns="0" tIns="0" rIns="0" bIns="0" rtlCol="0" anchor="t"/>
          <a:lstStyle/>
          <a:p>
            <a:pPr marL="0" indent="0">
              <a:buNone/>
            </a:pPr>
            <a:r>
              <a:rPr lang="en-US" sz="1400" b="1" dirty="0">
                <a:solidFill>
                  <a:schemeClr val="tx2"/>
                </a:solidFill>
              </a:rPr>
              <a:t>Part 2</a:t>
            </a:r>
            <a:endParaRPr lang="en-US" sz="1400" dirty="0"/>
          </a:p>
        </p:txBody>
      </p:sp>
      <p:sp>
        <p:nvSpPr>
          <p:cNvPr id="16" name="Text 11"/>
          <p:cNvSpPr txBox="1"/>
          <p:nvPr/>
        </p:nvSpPr>
        <p:spPr>
          <a:xfrm>
            <a:off x="5568696" y="2103120"/>
            <a:ext cx="2103120" cy="274320"/>
          </a:xfrm>
          <a:prstGeom prst="rect">
            <a:avLst/>
          </a:prstGeom>
          <a:noFill/>
          <a:ln/>
        </p:spPr>
        <p:txBody>
          <a:bodyPr wrap="square" lIns="0" tIns="0" rIns="0" bIns="0" rtlCol="0" anchor="t"/>
          <a:lstStyle/>
          <a:p>
            <a:pPr marL="0" indent="0">
              <a:buNone/>
            </a:pPr>
            <a:r>
              <a:rPr lang="en-US" sz="1400" dirty="0">
                <a:solidFill>
                  <a:schemeClr val="tx2"/>
                </a:solidFill>
              </a:rPr>
              <a:t>Slides 16 to 23</a:t>
            </a:r>
            <a:endParaRPr lang="en-US" sz="1400" dirty="0"/>
          </a:p>
        </p:txBody>
      </p:sp>
      <p:sp>
        <p:nvSpPr>
          <p:cNvPr id="17" name="Text 12"/>
          <p:cNvSpPr txBox="1"/>
          <p:nvPr/>
        </p:nvSpPr>
        <p:spPr>
          <a:xfrm>
            <a:off x="4608576" y="2788920"/>
            <a:ext cx="3017520" cy="731520"/>
          </a:xfrm>
          <a:prstGeom prst="rect">
            <a:avLst/>
          </a:prstGeom>
          <a:noFill/>
          <a:ln/>
        </p:spPr>
        <p:txBody>
          <a:bodyPr wrap="square" lIns="0" tIns="0" rIns="0" bIns="0" rtlCol="0" anchor="t"/>
          <a:lstStyle/>
          <a:p>
            <a:pPr marL="0" indent="0">
              <a:buNone/>
            </a:pPr>
            <a:r>
              <a:rPr lang="en-US" sz="2000" b="1" dirty="0">
                <a:solidFill>
                  <a:schemeClr val="tx1"/>
                </a:solidFill>
              </a:rPr>
              <a:t>Design and the warehouse</a:t>
            </a:r>
            <a:endParaRPr lang="en-US" sz="2000" dirty="0"/>
          </a:p>
        </p:txBody>
      </p:sp>
      <p:sp>
        <p:nvSpPr>
          <p:cNvPr id="18" name="Text 13"/>
          <p:cNvSpPr txBox="1"/>
          <p:nvPr/>
        </p:nvSpPr>
        <p:spPr>
          <a:xfrm>
            <a:off x="4608576" y="3611880"/>
            <a:ext cx="3017520" cy="173736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chemeClr val="tx1"/>
                </a:solidFill>
              </a:rPr>
              <a:t>Data issues and key decisions</a:t>
            </a:r>
            <a:endParaRPr lang="en-US" sz="1400" dirty="0"/>
          </a:p>
          <a:p>
            <a:pPr marL="203200" indent="-203200">
              <a:spcAft>
                <a:spcPts val="400"/>
              </a:spcAft>
              <a:buSzPct val="100000"/>
              <a:buChar char="•"/>
            </a:pPr>
            <a:r>
              <a:rPr lang="en-US" sz="1400" dirty="0">
                <a:solidFill>
                  <a:schemeClr val="tx1"/>
                </a:solidFill>
              </a:rPr>
              <a:t>Star schema, facts and dimensions</a:t>
            </a:r>
            <a:endParaRPr lang="en-US" sz="1400" dirty="0"/>
          </a:p>
          <a:p>
            <a:pPr marL="203200" indent="-203200">
              <a:spcAft>
                <a:spcPts val="400"/>
              </a:spcAft>
              <a:buSzPct val="100000"/>
              <a:buChar char="•"/>
            </a:pPr>
            <a:r>
              <a:rPr lang="en-US" sz="1400" dirty="0">
                <a:solidFill>
                  <a:schemeClr val="tx1"/>
                </a:solidFill>
              </a:rPr>
              <a:t>PostgreSQL warehouse (live)</a:t>
            </a:r>
            <a:endParaRPr lang="en-US" sz="1400" dirty="0"/>
          </a:p>
          <a:p>
            <a:pPr marL="203200" indent="-203200">
              <a:spcAft>
                <a:spcPts val="400"/>
              </a:spcAft>
              <a:buSzPct val="100000"/>
              <a:buChar char="•"/>
            </a:pPr>
            <a:r>
              <a:rPr lang="en-US" sz="1400" dirty="0">
                <a:solidFill>
                  <a:schemeClr val="tx1"/>
                </a:solidFill>
              </a:rPr>
              <a:t>ETL with Pentaho (live)</a:t>
            </a:r>
            <a:endParaRPr lang="en-US" sz="1400" dirty="0"/>
          </a:p>
        </p:txBody>
      </p:sp>
      <p:sp>
        <p:nvSpPr>
          <p:cNvPr id="20" name="Part card"/>
          <p:cNvSpPr/>
          <p:nvPr/>
        </p:nvSpPr>
        <p:spPr>
          <a:xfrm>
            <a:off x="8119872" y="1463040"/>
            <a:ext cx="3520440" cy="4572000"/>
          </a:xfrm>
          <a:prstGeom prst="rect">
            <a:avLst/>
          </a:prstGeom>
          <a:solidFill>
            <a:schemeClr val="bg2"/>
          </a:solidFill>
          <a:ln w="12700">
            <a:solidFill>
              <a:schemeClr val="bg2"/>
            </a:solidFill>
            <a:prstDash val="solid"/>
          </a:ln>
        </p:spPr>
      </p:sp>
      <p:sp>
        <p:nvSpPr>
          <p:cNvPr id="21" name="Shape 16"/>
          <p:cNvSpPr/>
          <p:nvPr/>
        </p:nvSpPr>
        <p:spPr>
          <a:xfrm>
            <a:off x="8394192" y="1737360"/>
            <a:ext cx="777240" cy="777240"/>
          </a:xfrm>
          <a:prstGeom prst="ellipse">
            <a:avLst/>
          </a:prstGeom>
          <a:solidFill>
            <a:srgbClr val="D9A404"/>
          </a:solidFill>
          <a:ln w="12700">
            <a:solidFill>
              <a:srgbClr val="D9A404"/>
            </a:solidFill>
            <a:prstDash val="solid"/>
          </a:ln>
        </p:spPr>
      </p:sp>
      <p:pic>
        <p:nvPicPr>
          <p:cNvPr id="22" name="Image 2" descr="preencoded.png"/>
          <p:cNvPicPr>
            <a:picLocks noChangeAspect="1"/>
          </p:cNvPicPr>
          <p:nvPr/>
        </p:nvPicPr>
        <p:blipFill>
          <a:blip r:embed="rId5"/>
          <a:stretch>
            <a:fillRect/>
          </a:stretch>
        </p:blipFill>
        <p:spPr>
          <a:xfrm>
            <a:off x="8595360" y="1938528"/>
            <a:ext cx="374904" cy="374904"/>
          </a:xfrm>
          <a:prstGeom prst="rect">
            <a:avLst/>
          </a:prstGeom>
        </p:spPr>
      </p:pic>
      <p:sp>
        <p:nvSpPr>
          <p:cNvPr id="23" name="Text 17"/>
          <p:cNvSpPr txBox="1"/>
          <p:nvPr/>
        </p:nvSpPr>
        <p:spPr>
          <a:xfrm>
            <a:off x="9354312" y="1783080"/>
            <a:ext cx="2103120" cy="274320"/>
          </a:xfrm>
          <a:prstGeom prst="rect">
            <a:avLst/>
          </a:prstGeom>
          <a:noFill/>
          <a:ln/>
        </p:spPr>
        <p:txBody>
          <a:bodyPr wrap="square" lIns="0" tIns="0" rIns="0" bIns="0" rtlCol="0" anchor="t"/>
          <a:lstStyle/>
          <a:p>
            <a:pPr marL="0" indent="0">
              <a:buNone/>
            </a:pPr>
            <a:r>
              <a:rPr lang="en-US" sz="1400" b="1" dirty="0">
                <a:solidFill>
                  <a:schemeClr val="tx2"/>
                </a:solidFill>
              </a:rPr>
              <a:t>Part 3</a:t>
            </a:r>
            <a:endParaRPr lang="en-US" sz="1400" dirty="0"/>
          </a:p>
        </p:txBody>
      </p:sp>
      <p:sp>
        <p:nvSpPr>
          <p:cNvPr id="24" name="Text 18"/>
          <p:cNvSpPr txBox="1"/>
          <p:nvPr/>
        </p:nvSpPr>
        <p:spPr>
          <a:xfrm>
            <a:off x="9354312" y="2103120"/>
            <a:ext cx="2103120" cy="274320"/>
          </a:xfrm>
          <a:prstGeom prst="rect">
            <a:avLst/>
          </a:prstGeom>
          <a:noFill/>
          <a:ln/>
        </p:spPr>
        <p:txBody>
          <a:bodyPr wrap="square" lIns="0" tIns="0" rIns="0" bIns="0" rtlCol="0" anchor="t"/>
          <a:lstStyle/>
          <a:p>
            <a:pPr marL="0" indent="0">
              <a:buNone/>
            </a:pPr>
            <a:r>
              <a:rPr lang="en-US" sz="1400" dirty="0">
                <a:solidFill>
                  <a:schemeClr val="tx2"/>
                </a:solidFill>
              </a:rPr>
              <a:t>Slides 24 to 38</a:t>
            </a:r>
            <a:endParaRPr lang="en-US" sz="1400" dirty="0"/>
          </a:p>
        </p:txBody>
      </p:sp>
      <p:sp>
        <p:nvSpPr>
          <p:cNvPr id="25" name="Text 19"/>
          <p:cNvSpPr txBox="1"/>
          <p:nvPr/>
        </p:nvSpPr>
        <p:spPr>
          <a:xfrm>
            <a:off x="8394192" y="2788920"/>
            <a:ext cx="3017520" cy="731520"/>
          </a:xfrm>
          <a:prstGeom prst="rect">
            <a:avLst/>
          </a:prstGeom>
          <a:noFill/>
          <a:ln/>
        </p:spPr>
        <p:txBody>
          <a:bodyPr wrap="square" lIns="0" tIns="0" rIns="0" bIns="0" rtlCol="0" anchor="t"/>
          <a:lstStyle/>
          <a:p>
            <a:pPr marL="0" indent="0">
              <a:buNone/>
            </a:pPr>
            <a:r>
              <a:rPr lang="en-US" sz="2000" b="1" dirty="0">
                <a:solidFill>
                  <a:schemeClr val="tx1"/>
                </a:solidFill>
              </a:rPr>
              <a:t>Results, real time and Sprint 3</a:t>
            </a:r>
            <a:endParaRPr lang="en-US" sz="2000" dirty="0"/>
          </a:p>
        </p:txBody>
      </p:sp>
      <p:sp>
        <p:nvSpPr>
          <p:cNvPr id="26" name="Text 20"/>
          <p:cNvSpPr txBox="1"/>
          <p:nvPr/>
        </p:nvSpPr>
        <p:spPr>
          <a:xfrm>
            <a:off x="8394192" y="3611880"/>
            <a:ext cx="3017520" cy="173736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chemeClr val="tx1"/>
                </a:solidFill>
              </a:rPr>
              <a:t>Reconciliation and SQL reporting (live)</a:t>
            </a:r>
            <a:endParaRPr lang="en-US" sz="1400" dirty="0"/>
          </a:p>
          <a:p>
            <a:pPr marL="203200" indent="-203200">
              <a:spcAft>
                <a:spcPts val="400"/>
              </a:spcAft>
              <a:buSzPct val="100000"/>
              <a:buChar char="•"/>
            </a:pPr>
            <a:r>
              <a:rPr lang="en-US" sz="1400" dirty="0">
                <a:solidFill>
                  <a:schemeClr val="tx1"/>
                </a:solidFill>
              </a:rPr>
              <a:t>Real-time ingestion (live)</a:t>
            </a:r>
            <a:endParaRPr lang="en-US" sz="1400" dirty="0"/>
          </a:p>
          <a:p>
            <a:pPr marL="203200" indent="-203200">
              <a:spcAft>
                <a:spcPts val="400"/>
              </a:spcAft>
              <a:buSzPct val="100000"/>
              <a:buChar char="•"/>
            </a:pPr>
            <a:r>
              <a:rPr lang="en-US" sz="1400" dirty="0">
                <a:solidFill>
                  <a:schemeClr val="tx1"/>
                </a:solidFill>
              </a:rPr>
              <a:t>End-to-end job and checks (live)</a:t>
            </a:r>
            <a:endParaRPr lang="en-US" sz="1400" dirty="0"/>
          </a:p>
          <a:p>
            <a:pPr marL="203200" indent="-203200">
              <a:spcAft>
                <a:spcPts val="400"/>
              </a:spcAft>
              <a:buSzPct val="100000"/>
              <a:buChar char="•"/>
            </a:pPr>
            <a:r>
              <a:rPr lang="en-US" sz="1400" dirty="0">
                <a:solidFill>
                  <a:schemeClr val="tx1"/>
                </a:solidFill>
              </a:rPr>
              <a:t>Lineage, insights, conclusion</a:t>
            </a:r>
            <a:endParaRPr lang="en-US" sz="1400" dirty="0"/>
          </a:p>
        </p:txBody>
      </p:sp>
      <p:sp>
        <p:nvSpPr>
          <p:cNvPr id="27" name="Text 21"/>
          <p:cNvSpPr txBox="1"/>
          <p:nvPr/>
        </p:nvSpPr>
        <p:spPr>
          <a:xfrm>
            <a:off x="8394192" y="5532120"/>
            <a:ext cx="3017520" cy="320040"/>
          </a:xfrm>
          <a:prstGeom prst="rect">
            <a:avLst/>
          </a:prstGeom>
          <a:noFill/>
          <a:ln/>
        </p:spPr>
        <p:txBody>
          <a:bodyPr wrap="square" lIns="0" tIns="0" rIns="0" bIns="0" rtlCol="0" anchor="t"/>
          <a:lstStyle/>
          <a:p>
            <a:pPr marL="0" indent="0">
              <a:buNone/>
            </a:pPr>
            <a:endParaRPr lang="en-US" sz="1400" dirty="0"/>
          </a:p>
        </p:txBody>
      </p:sp>
      <p:sp>
        <p:nvSpPr>
          <p:cNvPr id="2"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365760"/>
            <a:ext cx="10149840" cy="777240"/>
          </a:xfrm>
          <a:prstGeom prst="rect">
            <a:avLst/>
          </a:prstGeom>
          <a:noFill/>
          <a:ln/>
        </p:spPr>
        <p:txBody>
          <a:bodyPr wrap="square" lIns="0" tIns="0" rIns="0" bIns="0" rtlCol="0" anchor="ctr"/>
          <a:lstStyle/>
          <a:p>
            <a:pPr marL="0" indent="0" algn="l">
              <a:buNone/>
            </a:pPr>
            <a:r>
              <a:rPr lang="en-US" sz="3600" b="1" dirty="0">
                <a:solidFill>
                  <a:schemeClr val="tx1"/>
                </a:solidFill>
              </a:rPr>
              <a:t>Business background</a:t>
            </a:r>
            <a:endParaRPr lang="en-US" sz="3600" dirty="0"/>
          </a:p>
        </p:txBody>
      </p:sp>
      <p:sp>
        <p:nvSpPr>
          <p:cNvPr id="4" name="Background card"/>
          <p:cNvSpPr/>
          <p:nvPr/>
        </p:nvSpPr>
        <p:spPr>
          <a:xfrm>
            <a:off x="548640" y="1463040"/>
            <a:ext cx="5394960" cy="2103120"/>
          </a:xfrm>
          <a:prstGeom prst="rect">
            <a:avLst/>
          </a:prstGeom>
          <a:solidFill>
            <a:schemeClr val="bg2"/>
          </a:solidFill>
          <a:ln w="12700">
            <a:solidFill>
              <a:schemeClr val="bg2"/>
            </a:solidFill>
            <a:prstDash val="solid"/>
          </a:ln>
        </p:spPr>
      </p:sp>
      <p:sp>
        <p:nvSpPr>
          <p:cNvPr id="5" name="Text 2"/>
          <p:cNvSpPr txBox="1"/>
          <p:nvPr/>
        </p:nvSpPr>
        <p:spPr>
          <a:xfrm>
            <a:off x="777240" y="1645920"/>
            <a:ext cx="4937760" cy="1737360"/>
          </a:xfrm>
          <a:prstGeom prst="rect">
            <a:avLst/>
          </a:prstGeom>
          <a:noFill/>
          <a:ln/>
        </p:spPr>
        <p:txBody>
          <a:bodyPr wrap="square" lIns="0" tIns="0" rIns="0" bIns="0" rtlCol="0" anchor="t"/>
          <a:lstStyle/>
          <a:p>
            <a:pPr marL="0" indent="0">
              <a:buNone/>
            </a:pPr>
            <a:r>
              <a:rPr lang="en-US" sz="1800" dirty="0">
                <a:solidFill>
                  <a:schemeClr val="tx1"/>
                </a:solidFill>
              </a:rPr>
              <a:t>ABC Global Enterprises Ltd. is a multinational that runs its business on an ERP system. Millions of transactions a day come from Finance, Accounts, Procurement, Inventory, Production, Sales, HR, Assets and Warehouse operations.</a:t>
            </a:r>
            <a:endParaRPr lang="en-US" sz="1800" dirty="0"/>
          </a:p>
        </p:txBody>
      </p:sp>
      <p:sp>
        <p:nvSpPr>
          <p:cNvPr id="6" name="Text 3"/>
          <p:cNvSpPr txBox="1"/>
          <p:nvPr/>
        </p:nvSpPr>
        <p:spPr>
          <a:xfrm>
            <a:off x="548640" y="3794760"/>
            <a:ext cx="5394960" cy="365760"/>
          </a:xfrm>
          <a:prstGeom prst="rect">
            <a:avLst/>
          </a:prstGeom>
          <a:noFill/>
          <a:ln/>
        </p:spPr>
        <p:txBody>
          <a:bodyPr wrap="square" lIns="0" tIns="0" rIns="0" bIns="0" rtlCol="0" anchor="t"/>
          <a:lstStyle/>
          <a:p>
            <a:pPr marL="0" indent="0">
              <a:buNone/>
            </a:pPr>
            <a:r>
              <a:rPr lang="en-US" sz="2000" b="1" dirty="0">
                <a:solidFill>
                  <a:schemeClr val="accent1"/>
                </a:solidFill>
              </a:rPr>
              <a:t>The challenge</a:t>
            </a:r>
            <a:endParaRPr lang="en-US" sz="2000" dirty="0"/>
          </a:p>
        </p:txBody>
      </p:sp>
      <p:sp>
        <p:nvSpPr>
          <p:cNvPr id="7" name="Text 4"/>
          <p:cNvSpPr txBox="1"/>
          <p:nvPr/>
        </p:nvSpPr>
        <p:spPr>
          <a:xfrm>
            <a:off x="548640" y="4251960"/>
            <a:ext cx="5394960" cy="1920240"/>
          </a:xfrm>
          <a:prstGeom prst="rect">
            <a:avLst/>
          </a:prstGeom>
          <a:noFill/>
          <a:ln/>
        </p:spPr>
        <p:txBody>
          <a:bodyPr wrap="square" lIns="0" tIns="0" rIns="0" bIns="0" rtlCol="0" anchor="t"/>
          <a:lstStyle/>
          <a:p>
            <a:pPr marL="203200" indent="-203200">
              <a:spcAft>
                <a:spcPts val="800"/>
              </a:spcAft>
              <a:buSzPct val="100000"/>
              <a:buChar char="•"/>
            </a:pPr>
            <a:r>
              <a:rPr lang="en-US" sz="1800" dirty="0">
                <a:solidFill>
                  <a:schemeClr val="tx1"/>
                </a:solidFill>
              </a:rPr>
              <a:t>Consolidating data across locations and departments</a:t>
            </a:r>
            <a:endParaRPr lang="en-US" sz="1800" dirty="0"/>
          </a:p>
          <a:p>
            <a:pPr marL="203200" indent="-203200">
              <a:spcAft>
                <a:spcPts val="800"/>
              </a:spcAft>
              <a:buSzPct val="100000"/>
              <a:buChar char="•"/>
            </a:pPr>
            <a:r>
              <a:rPr lang="en-US" sz="1800" dirty="0">
                <a:solidFill>
                  <a:schemeClr val="tx1"/>
                </a:solidFill>
              </a:rPr>
              <a:t>Monitoring operational performance</a:t>
            </a:r>
            <a:endParaRPr lang="en-US" sz="1800" dirty="0"/>
          </a:p>
          <a:p>
            <a:pPr marL="203200" indent="-203200">
              <a:spcAft>
                <a:spcPts val="800"/>
              </a:spcAft>
              <a:buSzPct val="100000"/>
              <a:buChar char="•"/>
            </a:pPr>
            <a:r>
              <a:rPr lang="en-US" sz="1800" dirty="0">
                <a:solidFill>
                  <a:schemeClr val="tx1"/>
                </a:solidFill>
              </a:rPr>
              <a:t>Improving efficiency and resource use</a:t>
            </a:r>
            <a:endParaRPr lang="en-US" sz="1800" dirty="0"/>
          </a:p>
          <a:p>
            <a:pPr marL="203200" indent="-203200">
              <a:spcAft>
                <a:spcPts val="800"/>
              </a:spcAft>
              <a:buSzPct val="100000"/>
              <a:buChar char="•"/>
            </a:pPr>
            <a:r>
              <a:rPr lang="en-US" sz="1800" dirty="0">
                <a:solidFill>
                  <a:schemeClr val="tx1"/>
                </a:solidFill>
              </a:rPr>
              <a:t>Producing real-time executive reports</a:t>
            </a:r>
            <a:endParaRPr lang="en-US" sz="1800" dirty="0"/>
          </a:p>
        </p:txBody>
      </p:sp>
      <p:sp>
        <p:nvSpPr>
          <p:cNvPr id="8" name="Module chip"/>
          <p:cNvSpPr/>
          <p:nvPr/>
        </p:nvSpPr>
        <p:spPr>
          <a:xfrm>
            <a:off x="6355080" y="1463040"/>
            <a:ext cx="2560320" cy="777240"/>
          </a:xfrm>
          <a:prstGeom prst="rect">
            <a:avLst/>
          </a:prstGeom>
          <a:solidFill>
            <a:schemeClr val="bg2"/>
          </a:solidFill>
          <a:ln w="12700">
            <a:solidFill>
              <a:schemeClr val="bg2"/>
            </a:solidFill>
            <a:prstDash val="solid"/>
          </a:ln>
        </p:spPr>
      </p:sp>
      <p:sp>
        <p:nvSpPr>
          <p:cNvPr id="9" name="Shape 6"/>
          <p:cNvSpPr/>
          <p:nvPr/>
        </p:nvSpPr>
        <p:spPr>
          <a:xfrm>
            <a:off x="6464808" y="1591056"/>
            <a:ext cx="521208" cy="521208"/>
          </a:xfrm>
          <a:prstGeom prst="ellipse">
            <a:avLst/>
          </a:prstGeom>
          <a:solidFill>
            <a:srgbClr val="24424D"/>
          </a:solidFill>
          <a:ln w="12700">
            <a:solidFill>
              <a:srgbClr val="24424D"/>
            </a:solidFill>
            <a:prstDash val="solid"/>
          </a:ln>
        </p:spPr>
      </p:sp>
      <p:pic>
        <p:nvPicPr>
          <p:cNvPr id="10" name="Image 0" descr="preencoded.png"/>
          <p:cNvPicPr>
            <a:picLocks noChangeAspect="1"/>
          </p:cNvPicPr>
          <p:nvPr/>
        </p:nvPicPr>
        <p:blipFill>
          <a:blip r:embed="rId3"/>
          <a:stretch>
            <a:fillRect/>
          </a:stretch>
        </p:blipFill>
        <p:spPr>
          <a:xfrm>
            <a:off x="6600322" y="1726570"/>
            <a:ext cx="250180" cy="250180"/>
          </a:xfrm>
          <a:prstGeom prst="rect">
            <a:avLst/>
          </a:prstGeom>
        </p:spPr>
      </p:pic>
      <p:sp>
        <p:nvSpPr>
          <p:cNvPr id="11" name="Text 7"/>
          <p:cNvSpPr txBox="1"/>
          <p:nvPr/>
        </p:nvSpPr>
        <p:spPr>
          <a:xfrm>
            <a:off x="7086600" y="1463040"/>
            <a:ext cx="1783080" cy="777240"/>
          </a:xfrm>
          <a:prstGeom prst="rect">
            <a:avLst/>
          </a:prstGeom>
          <a:noFill/>
          <a:ln/>
        </p:spPr>
        <p:txBody>
          <a:bodyPr wrap="square" lIns="0" tIns="0" rIns="0" bIns="0" rtlCol="0" anchor="ctr"/>
          <a:lstStyle/>
          <a:p>
            <a:pPr marL="0" indent="0">
              <a:buNone/>
            </a:pPr>
            <a:r>
              <a:rPr lang="en-US" sz="1400" b="1" dirty="0">
                <a:solidFill>
                  <a:schemeClr val="tx1"/>
                </a:solidFill>
              </a:rPr>
              <a:t>Finance</a:t>
            </a:r>
            <a:endParaRPr lang="en-US" sz="1400" dirty="0"/>
          </a:p>
        </p:txBody>
      </p:sp>
      <p:sp>
        <p:nvSpPr>
          <p:cNvPr id="12" name="Module chip"/>
          <p:cNvSpPr/>
          <p:nvPr/>
        </p:nvSpPr>
        <p:spPr>
          <a:xfrm>
            <a:off x="9052560" y="1463040"/>
            <a:ext cx="2560320" cy="777240"/>
          </a:xfrm>
          <a:prstGeom prst="rect">
            <a:avLst/>
          </a:prstGeom>
          <a:solidFill>
            <a:schemeClr val="bg2"/>
          </a:solidFill>
          <a:ln w="12700">
            <a:solidFill>
              <a:schemeClr val="bg2"/>
            </a:solidFill>
            <a:prstDash val="solid"/>
          </a:ln>
        </p:spPr>
      </p:sp>
      <p:sp>
        <p:nvSpPr>
          <p:cNvPr id="13" name="Shape 9"/>
          <p:cNvSpPr/>
          <p:nvPr/>
        </p:nvSpPr>
        <p:spPr>
          <a:xfrm>
            <a:off x="9162288" y="1591056"/>
            <a:ext cx="521208" cy="521208"/>
          </a:xfrm>
          <a:prstGeom prst="ellipse">
            <a:avLst/>
          </a:prstGeom>
          <a:solidFill>
            <a:srgbClr val="24424D"/>
          </a:solidFill>
          <a:ln w="12700">
            <a:solidFill>
              <a:srgbClr val="24424D"/>
            </a:solidFill>
            <a:prstDash val="solid"/>
          </a:ln>
        </p:spPr>
      </p:sp>
      <p:pic>
        <p:nvPicPr>
          <p:cNvPr id="14" name="Image 1" descr="preencoded.png"/>
          <p:cNvPicPr>
            <a:picLocks noChangeAspect="1"/>
          </p:cNvPicPr>
          <p:nvPr/>
        </p:nvPicPr>
        <p:blipFill>
          <a:blip r:embed="rId4"/>
          <a:stretch>
            <a:fillRect/>
          </a:stretch>
        </p:blipFill>
        <p:spPr>
          <a:xfrm>
            <a:off x="9297802" y="1726570"/>
            <a:ext cx="250180" cy="250180"/>
          </a:xfrm>
          <a:prstGeom prst="rect">
            <a:avLst/>
          </a:prstGeom>
        </p:spPr>
      </p:pic>
      <p:sp>
        <p:nvSpPr>
          <p:cNvPr id="15" name="Text 10"/>
          <p:cNvSpPr txBox="1"/>
          <p:nvPr/>
        </p:nvSpPr>
        <p:spPr>
          <a:xfrm>
            <a:off x="9784080" y="1463040"/>
            <a:ext cx="1783080" cy="777240"/>
          </a:xfrm>
          <a:prstGeom prst="rect">
            <a:avLst/>
          </a:prstGeom>
          <a:noFill/>
          <a:ln/>
        </p:spPr>
        <p:txBody>
          <a:bodyPr wrap="square" lIns="0" tIns="0" rIns="0" bIns="0" rtlCol="0" anchor="ctr"/>
          <a:lstStyle/>
          <a:p>
            <a:pPr marL="0" indent="0">
              <a:buNone/>
            </a:pPr>
            <a:r>
              <a:rPr lang="en-US" sz="1400" b="1" dirty="0">
                <a:solidFill>
                  <a:schemeClr val="tx1"/>
                </a:solidFill>
              </a:rPr>
              <a:t>Procurement</a:t>
            </a:r>
            <a:endParaRPr lang="en-US" sz="1400" dirty="0"/>
          </a:p>
        </p:txBody>
      </p:sp>
      <p:sp>
        <p:nvSpPr>
          <p:cNvPr id="16" name="Module chip"/>
          <p:cNvSpPr/>
          <p:nvPr/>
        </p:nvSpPr>
        <p:spPr>
          <a:xfrm>
            <a:off x="6355080" y="2395728"/>
            <a:ext cx="2560320" cy="777240"/>
          </a:xfrm>
          <a:prstGeom prst="rect">
            <a:avLst/>
          </a:prstGeom>
          <a:solidFill>
            <a:schemeClr val="bg2"/>
          </a:solidFill>
          <a:ln w="12700">
            <a:solidFill>
              <a:schemeClr val="bg2"/>
            </a:solidFill>
            <a:prstDash val="solid"/>
          </a:ln>
        </p:spPr>
      </p:sp>
      <p:sp>
        <p:nvSpPr>
          <p:cNvPr id="17" name="Shape 12"/>
          <p:cNvSpPr/>
          <p:nvPr/>
        </p:nvSpPr>
        <p:spPr>
          <a:xfrm>
            <a:off x="6464808" y="2523744"/>
            <a:ext cx="521208" cy="521208"/>
          </a:xfrm>
          <a:prstGeom prst="ellipse">
            <a:avLst/>
          </a:prstGeom>
          <a:solidFill>
            <a:srgbClr val="24424D"/>
          </a:solidFill>
          <a:ln w="12700">
            <a:solidFill>
              <a:srgbClr val="24424D"/>
            </a:solidFill>
            <a:prstDash val="solid"/>
          </a:ln>
        </p:spPr>
      </p:sp>
      <p:pic>
        <p:nvPicPr>
          <p:cNvPr id="18" name="Image 2" descr="preencoded.png"/>
          <p:cNvPicPr>
            <a:picLocks noChangeAspect="1"/>
          </p:cNvPicPr>
          <p:nvPr/>
        </p:nvPicPr>
        <p:blipFill>
          <a:blip r:embed="rId5"/>
          <a:stretch>
            <a:fillRect/>
          </a:stretch>
        </p:blipFill>
        <p:spPr>
          <a:xfrm>
            <a:off x="6600322" y="2659258"/>
            <a:ext cx="250180" cy="250180"/>
          </a:xfrm>
          <a:prstGeom prst="rect">
            <a:avLst/>
          </a:prstGeom>
        </p:spPr>
      </p:pic>
      <p:sp>
        <p:nvSpPr>
          <p:cNvPr id="19" name="Text 13"/>
          <p:cNvSpPr txBox="1"/>
          <p:nvPr/>
        </p:nvSpPr>
        <p:spPr>
          <a:xfrm>
            <a:off x="7086600" y="2395728"/>
            <a:ext cx="1783080" cy="777240"/>
          </a:xfrm>
          <a:prstGeom prst="rect">
            <a:avLst/>
          </a:prstGeom>
          <a:noFill/>
          <a:ln/>
        </p:spPr>
        <p:txBody>
          <a:bodyPr wrap="square" lIns="0" tIns="0" rIns="0" bIns="0" rtlCol="0" anchor="ctr"/>
          <a:lstStyle/>
          <a:p>
            <a:pPr marL="0" indent="0">
              <a:buNone/>
            </a:pPr>
            <a:r>
              <a:rPr lang="en-US" sz="1400" b="1" dirty="0">
                <a:solidFill>
                  <a:schemeClr val="tx1"/>
                </a:solidFill>
              </a:rPr>
              <a:t>Sales</a:t>
            </a:r>
            <a:endParaRPr lang="en-US" sz="1400" dirty="0"/>
          </a:p>
        </p:txBody>
      </p:sp>
      <p:sp>
        <p:nvSpPr>
          <p:cNvPr id="20" name="Module chip"/>
          <p:cNvSpPr/>
          <p:nvPr/>
        </p:nvSpPr>
        <p:spPr>
          <a:xfrm>
            <a:off x="9052560" y="2395728"/>
            <a:ext cx="2560320" cy="777240"/>
          </a:xfrm>
          <a:prstGeom prst="rect">
            <a:avLst/>
          </a:prstGeom>
          <a:solidFill>
            <a:schemeClr val="bg2"/>
          </a:solidFill>
          <a:ln w="12700">
            <a:solidFill>
              <a:schemeClr val="bg2"/>
            </a:solidFill>
            <a:prstDash val="solid"/>
          </a:ln>
        </p:spPr>
      </p:sp>
      <p:sp>
        <p:nvSpPr>
          <p:cNvPr id="21" name="Shape 15"/>
          <p:cNvSpPr/>
          <p:nvPr/>
        </p:nvSpPr>
        <p:spPr>
          <a:xfrm>
            <a:off x="9162288" y="2523744"/>
            <a:ext cx="521208" cy="521208"/>
          </a:xfrm>
          <a:prstGeom prst="ellipse">
            <a:avLst/>
          </a:prstGeom>
          <a:solidFill>
            <a:srgbClr val="24424D"/>
          </a:solidFill>
          <a:ln w="12700">
            <a:solidFill>
              <a:srgbClr val="24424D"/>
            </a:solidFill>
            <a:prstDash val="solid"/>
          </a:ln>
        </p:spPr>
      </p:sp>
      <p:pic>
        <p:nvPicPr>
          <p:cNvPr id="22" name="Image 3" descr="preencoded.png"/>
          <p:cNvPicPr>
            <a:picLocks noChangeAspect="1"/>
          </p:cNvPicPr>
          <p:nvPr/>
        </p:nvPicPr>
        <p:blipFill>
          <a:blip r:embed="rId6"/>
          <a:stretch>
            <a:fillRect/>
          </a:stretch>
        </p:blipFill>
        <p:spPr>
          <a:xfrm>
            <a:off x="9297802" y="2659258"/>
            <a:ext cx="250180" cy="250180"/>
          </a:xfrm>
          <a:prstGeom prst="rect">
            <a:avLst/>
          </a:prstGeom>
        </p:spPr>
      </p:pic>
      <p:sp>
        <p:nvSpPr>
          <p:cNvPr id="23" name="Text 16"/>
          <p:cNvSpPr txBox="1"/>
          <p:nvPr/>
        </p:nvSpPr>
        <p:spPr>
          <a:xfrm>
            <a:off x="9784080" y="2395728"/>
            <a:ext cx="1783080" cy="777240"/>
          </a:xfrm>
          <a:prstGeom prst="rect">
            <a:avLst/>
          </a:prstGeom>
          <a:noFill/>
          <a:ln/>
        </p:spPr>
        <p:txBody>
          <a:bodyPr wrap="square" lIns="0" tIns="0" rIns="0" bIns="0" rtlCol="0" anchor="ctr"/>
          <a:lstStyle/>
          <a:p>
            <a:pPr marL="0" indent="0">
              <a:buNone/>
            </a:pPr>
            <a:r>
              <a:rPr lang="en-US" sz="1400" b="1" dirty="0">
                <a:solidFill>
                  <a:schemeClr val="tx1"/>
                </a:solidFill>
              </a:rPr>
              <a:t>Inventory</a:t>
            </a:r>
            <a:endParaRPr lang="en-US" sz="1400" dirty="0"/>
          </a:p>
        </p:txBody>
      </p:sp>
      <p:sp>
        <p:nvSpPr>
          <p:cNvPr id="24" name="Module chip"/>
          <p:cNvSpPr/>
          <p:nvPr/>
        </p:nvSpPr>
        <p:spPr>
          <a:xfrm>
            <a:off x="6355080" y="3328416"/>
            <a:ext cx="2560320" cy="777240"/>
          </a:xfrm>
          <a:prstGeom prst="rect">
            <a:avLst/>
          </a:prstGeom>
          <a:solidFill>
            <a:schemeClr val="bg2"/>
          </a:solidFill>
          <a:ln w="12700">
            <a:solidFill>
              <a:schemeClr val="bg2"/>
            </a:solidFill>
            <a:prstDash val="solid"/>
          </a:ln>
        </p:spPr>
      </p:sp>
      <p:sp>
        <p:nvSpPr>
          <p:cNvPr id="25" name="Shape 18"/>
          <p:cNvSpPr/>
          <p:nvPr/>
        </p:nvSpPr>
        <p:spPr>
          <a:xfrm>
            <a:off x="6464808" y="3456432"/>
            <a:ext cx="521208" cy="521208"/>
          </a:xfrm>
          <a:prstGeom prst="ellipse">
            <a:avLst/>
          </a:prstGeom>
          <a:solidFill>
            <a:srgbClr val="24424D"/>
          </a:solidFill>
          <a:ln w="12700">
            <a:solidFill>
              <a:srgbClr val="24424D"/>
            </a:solidFill>
            <a:prstDash val="solid"/>
          </a:ln>
        </p:spPr>
      </p:sp>
      <p:pic>
        <p:nvPicPr>
          <p:cNvPr id="26" name="Image 4" descr="preencoded.png"/>
          <p:cNvPicPr>
            <a:picLocks noChangeAspect="1"/>
          </p:cNvPicPr>
          <p:nvPr/>
        </p:nvPicPr>
        <p:blipFill>
          <a:blip r:embed="rId7"/>
          <a:stretch>
            <a:fillRect/>
          </a:stretch>
        </p:blipFill>
        <p:spPr>
          <a:xfrm>
            <a:off x="6600322" y="3591946"/>
            <a:ext cx="250180" cy="250180"/>
          </a:xfrm>
          <a:prstGeom prst="rect">
            <a:avLst/>
          </a:prstGeom>
        </p:spPr>
      </p:pic>
      <p:sp>
        <p:nvSpPr>
          <p:cNvPr id="27" name="Text 19"/>
          <p:cNvSpPr txBox="1"/>
          <p:nvPr/>
        </p:nvSpPr>
        <p:spPr>
          <a:xfrm>
            <a:off x="7086600" y="3328416"/>
            <a:ext cx="1783080" cy="777240"/>
          </a:xfrm>
          <a:prstGeom prst="rect">
            <a:avLst/>
          </a:prstGeom>
          <a:noFill/>
          <a:ln/>
        </p:spPr>
        <p:txBody>
          <a:bodyPr wrap="square" lIns="0" tIns="0" rIns="0" bIns="0" rtlCol="0" anchor="ctr"/>
          <a:lstStyle/>
          <a:p>
            <a:pPr marL="0" indent="0">
              <a:buNone/>
            </a:pPr>
            <a:r>
              <a:rPr lang="en-US" sz="1400" b="1" dirty="0">
                <a:solidFill>
                  <a:schemeClr val="tx1"/>
                </a:solidFill>
              </a:rPr>
              <a:t>Manufacturing</a:t>
            </a:r>
            <a:endParaRPr lang="en-US" sz="1400" dirty="0"/>
          </a:p>
        </p:txBody>
      </p:sp>
      <p:sp>
        <p:nvSpPr>
          <p:cNvPr id="28" name="Module chip"/>
          <p:cNvSpPr/>
          <p:nvPr/>
        </p:nvSpPr>
        <p:spPr>
          <a:xfrm>
            <a:off x="9052560" y="3328416"/>
            <a:ext cx="2560320" cy="777240"/>
          </a:xfrm>
          <a:prstGeom prst="rect">
            <a:avLst/>
          </a:prstGeom>
          <a:solidFill>
            <a:schemeClr val="bg2"/>
          </a:solidFill>
          <a:ln w="12700">
            <a:solidFill>
              <a:schemeClr val="bg2"/>
            </a:solidFill>
            <a:prstDash val="solid"/>
          </a:ln>
        </p:spPr>
      </p:sp>
      <p:sp>
        <p:nvSpPr>
          <p:cNvPr id="29" name="Shape 21"/>
          <p:cNvSpPr/>
          <p:nvPr/>
        </p:nvSpPr>
        <p:spPr>
          <a:xfrm>
            <a:off x="9162288" y="3456432"/>
            <a:ext cx="521208" cy="521208"/>
          </a:xfrm>
          <a:prstGeom prst="ellipse">
            <a:avLst/>
          </a:prstGeom>
          <a:solidFill>
            <a:srgbClr val="24424D"/>
          </a:solidFill>
          <a:ln w="12700">
            <a:solidFill>
              <a:srgbClr val="24424D"/>
            </a:solidFill>
            <a:prstDash val="solid"/>
          </a:ln>
        </p:spPr>
      </p:sp>
      <p:pic>
        <p:nvPicPr>
          <p:cNvPr id="30" name="Image 5" descr="preencoded.png"/>
          <p:cNvPicPr>
            <a:picLocks noChangeAspect="1"/>
          </p:cNvPicPr>
          <p:nvPr/>
        </p:nvPicPr>
        <p:blipFill>
          <a:blip r:embed="rId8"/>
          <a:stretch>
            <a:fillRect/>
          </a:stretch>
        </p:blipFill>
        <p:spPr>
          <a:xfrm>
            <a:off x="9297802" y="3591946"/>
            <a:ext cx="250180" cy="250180"/>
          </a:xfrm>
          <a:prstGeom prst="rect">
            <a:avLst/>
          </a:prstGeom>
        </p:spPr>
      </p:pic>
      <p:sp>
        <p:nvSpPr>
          <p:cNvPr id="31" name="Text 22"/>
          <p:cNvSpPr txBox="1"/>
          <p:nvPr/>
        </p:nvSpPr>
        <p:spPr>
          <a:xfrm>
            <a:off x="9784080" y="3328416"/>
            <a:ext cx="1783080" cy="777240"/>
          </a:xfrm>
          <a:prstGeom prst="rect">
            <a:avLst/>
          </a:prstGeom>
          <a:noFill/>
          <a:ln/>
        </p:spPr>
        <p:txBody>
          <a:bodyPr wrap="square" lIns="0" tIns="0" rIns="0" bIns="0" rtlCol="0" anchor="ctr"/>
          <a:lstStyle/>
          <a:p>
            <a:pPr marL="0" indent="0">
              <a:buNone/>
            </a:pPr>
            <a:r>
              <a:rPr lang="en-US" sz="1400" b="1" dirty="0">
                <a:solidFill>
                  <a:schemeClr val="tx1"/>
                </a:solidFill>
              </a:rPr>
              <a:t>Human Resources</a:t>
            </a:r>
            <a:endParaRPr lang="en-US" sz="1400" dirty="0"/>
          </a:p>
        </p:txBody>
      </p:sp>
      <p:sp>
        <p:nvSpPr>
          <p:cNvPr id="32" name="Module chip"/>
          <p:cNvSpPr/>
          <p:nvPr/>
        </p:nvSpPr>
        <p:spPr>
          <a:xfrm>
            <a:off x="6355080" y="4261104"/>
            <a:ext cx="2560320" cy="777240"/>
          </a:xfrm>
          <a:prstGeom prst="rect">
            <a:avLst/>
          </a:prstGeom>
          <a:solidFill>
            <a:schemeClr val="bg2"/>
          </a:solidFill>
          <a:ln w="12700">
            <a:solidFill>
              <a:schemeClr val="bg2"/>
            </a:solidFill>
            <a:prstDash val="solid"/>
          </a:ln>
        </p:spPr>
      </p:sp>
      <p:sp>
        <p:nvSpPr>
          <p:cNvPr id="33" name="Shape 24"/>
          <p:cNvSpPr/>
          <p:nvPr/>
        </p:nvSpPr>
        <p:spPr>
          <a:xfrm>
            <a:off x="6464808" y="4389120"/>
            <a:ext cx="521208" cy="521208"/>
          </a:xfrm>
          <a:prstGeom prst="ellipse">
            <a:avLst/>
          </a:prstGeom>
          <a:solidFill>
            <a:srgbClr val="24424D"/>
          </a:solidFill>
          <a:ln w="12700">
            <a:solidFill>
              <a:srgbClr val="24424D"/>
            </a:solidFill>
            <a:prstDash val="solid"/>
          </a:ln>
        </p:spPr>
      </p:sp>
      <p:pic>
        <p:nvPicPr>
          <p:cNvPr id="34" name="Image 6" descr="preencoded.png"/>
          <p:cNvPicPr>
            <a:picLocks noChangeAspect="1"/>
          </p:cNvPicPr>
          <p:nvPr/>
        </p:nvPicPr>
        <p:blipFill>
          <a:blip r:embed="rId9"/>
          <a:stretch>
            <a:fillRect/>
          </a:stretch>
        </p:blipFill>
        <p:spPr>
          <a:xfrm>
            <a:off x="6600322" y="4524634"/>
            <a:ext cx="250180" cy="250180"/>
          </a:xfrm>
          <a:prstGeom prst="rect">
            <a:avLst/>
          </a:prstGeom>
        </p:spPr>
      </p:pic>
      <p:sp>
        <p:nvSpPr>
          <p:cNvPr id="35" name="Text 25"/>
          <p:cNvSpPr txBox="1"/>
          <p:nvPr/>
        </p:nvSpPr>
        <p:spPr>
          <a:xfrm>
            <a:off x="7086600" y="4261104"/>
            <a:ext cx="1783080" cy="777240"/>
          </a:xfrm>
          <a:prstGeom prst="rect">
            <a:avLst/>
          </a:prstGeom>
          <a:noFill/>
          <a:ln/>
        </p:spPr>
        <p:txBody>
          <a:bodyPr wrap="square" lIns="0" tIns="0" rIns="0" bIns="0" rtlCol="0" anchor="ctr"/>
          <a:lstStyle/>
          <a:p>
            <a:pPr marL="0" indent="0">
              <a:buNone/>
            </a:pPr>
            <a:r>
              <a:rPr lang="en-US" sz="1400" b="1" dirty="0">
                <a:solidFill>
                  <a:schemeClr val="tx1"/>
                </a:solidFill>
              </a:rPr>
              <a:t>Warehouse</a:t>
            </a:r>
            <a:endParaRPr lang="en-US" sz="1400" dirty="0"/>
          </a:p>
        </p:txBody>
      </p:sp>
      <p:sp>
        <p:nvSpPr>
          <p:cNvPr id="36" name="Module chip"/>
          <p:cNvSpPr/>
          <p:nvPr/>
        </p:nvSpPr>
        <p:spPr>
          <a:xfrm>
            <a:off x="9052560" y="4261104"/>
            <a:ext cx="2560320" cy="777240"/>
          </a:xfrm>
          <a:prstGeom prst="rect">
            <a:avLst/>
          </a:prstGeom>
          <a:solidFill>
            <a:schemeClr val="bg2"/>
          </a:solidFill>
          <a:ln w="12700">
            <a:solidFill>
              <a:schemeClr val="bg2"/>
            </a:solidFill>
            <a:prstDash val="solid"/>
          </a:ln>
        </p:spPr>
      </p:sp>
      <p:sp>
        <p:nvSpPr>
          <p:cNvPr id="37" name="Shape 27"/>
          <p:cNvSpPr/>
          <p:nvPr/>
        </p:nvSpPr>
        <p:spPr>
          <a:xfrm>
            <a:off x="9162288" y="4389120"/>
            <a:ext cx="521208" cy="521208"/>
          </a:xfrm>
          <a:prstGeom prst="ellipse">
            <a:avLst/>
          </a:prstGeom>
          <a:solidFill>
            <a:srgbClr val="24424D"/>
          </a:solidFill>
          <a:ln w="12700">
            <a:solidFill>
              <a:srgbClr val="24424D"/>
            </a:solidFill>
            <a:prstDash val="solid"/>
          </a:ln>
        </p:spPr>
      </p:sp>
      <p:pic>
        <p:nvPicPr>
          <p:cNvPr id="38" name="Image 7" descr="preencoded.png"/>
          <p:cNvPicPr>
            <a:picLocks noChangeAspect="1"/>
          </p:cNvPicPr>
          <p:nvPr/>
        </p:nvPicPr>
        <p:blipFill>
          <a:blip r:embed="rId10"/>
          <a:stretch>
            <a:fillRect/>
          </a:stretch>
        </p:blipFill>
        <p:spPr>
          <a:xfrm>
            <a:off x="9297802" y="4524634"/>
            <a:ext cx="250180" cy="250180"/>
          </a:xfrm>
          <a:prstGeom prst="rect">
            <a:avLst/>
          </a:prstGeom>
        </p:spPr>
      </p:pic>
      <p:sp>
        <p:nvSpPr>
          <p:cNvPr id="39" name="Text 28"/>
          <p:cNvSpPr txBox="1"/>
          <p:nvPr/>
        </p:nvSpPr>
        <p:spPr>
          <a:xfrm>
            <a:off x="9784080" y="4261104"/>
            <a:ext cx="1783080" cy="777240"/>
          </a:xfrm>
          <a:prstGeom prst="rect">
            <a:avLst/>
          </a:prstGeom>
          <a:noFill/>
          <a:ln/>
        </p:spPr>
        <p:txBody>
          <a:bodyPr wrap="square" lIns="0" tIns="0" rIns="0" bIns="0" rtlCol="0" anchor="ctr"/>
          <a:lstStyle/>
          <a:p>
            <a:pPr marL="0" indent="0">
              <a:buNone/>
            </a:pPr>
            <a:r>
              <a:rPr lang="en-US" sz="1400" b="1" dirty="0">
                <a:solidFill>
                  <a:schemeClr val="tx1"/>
                </a:solidFill>
              </a:rPr>
              <a:t>Asset Management</a:t>
            </a:r>
            <a:endParaRPr lang="en-US" sz="1400" dirty="0"/>
          </a:p>
        </p:txBody>
      </p:sp>
      <p:sp>
        <p:nvSpPr>
          <p:cNvPr id="40" name="Module chip"/>
          <p:cNvSpPr/>
          <p:nvPr/>
        </p:nvSpPr>
        <p:spPr>
          <a:xfrm>
            <a:off x="6355080" y="5193792"/>
            <a:ext cx="2560320" cy="777240"/>
          </a:xfrm>
          <a:prstGeom prst="rect">
            <a:avLst/>
          </a:prstGeom>
          <a:solidFill>
            <a:schemeClr val="bg2"/>
          </a:solidFill>
          <a:ln w="12700">
            <a:solidFill>
              <a:schemeClr val="bg2"/>
            </a:solidFill>
            <a:prstDash val="solid"/>
          </a:ln>
        </p:spPr>
      </p:sp>
      <p:sp>
        <p:nvSpPr>
          <p:cNvPr id="41" name="Shape 30"/>
          <p:cNvSpPr/>
          <p:nvPr/>
        </p:nvSpPr>
        <p:spPr>
          <a:xfrm>
            <a:off x="6464808" y="5321808"/>
            <a:ext cx="521208" cy="521208"/>
          </a:xfrm>
          <a:prstGeom prst="ellipse">
            <a:avLst/>
          </a:prstGeom>
          <a:solidFill>
            <a:srgbClr val="24424D"/>
          </a:solidFill>
          <a:ln w="12700">
            <a:solidFill>
              <a:srgbClr val="24424D"/>
            </a:solidFill>
            <a:prstDash val="solid"/>
          </a:ln>
        </p:spPr>
      </p:sp>
      <p:pic>
        <p:nvPicPr>
          <p:cNvPr id="42" name="Image 8" descr="preencoded.png"/>
          <p:cNvPicPr>
            <a:picLocks noChangeAspect="1"/>
          </p:cNvPicPr>
          <p:nvPr/>
        </p:nvPicPr>
        <p:blipFill>
          <a:blip r:embed="rId11"/>
          <a:stretch>
            <a:fillRect/>
          </a:stretch>
        </p:blipFill>
        <p:spPr>
          <a:xfrm>
            <a:off x="6600322" y="5457322"/>
            <a:ext cx="250180" cy="250180"/>
          </a:xfrm>
          <a:prstGeom prst="rect">
            <a:avLst/>
          </a:prstGeom>
        </p:spPr>
      </p:pic>
      <p:sp>
        <p:nvSpPr>
          <p:cNvPr id="43" name="Text 31"/>
          <p:cNvSpPr txBox="1"/>
          <p:nvPr/>
        </p:nvSpPr>
        <p:spPr>
          <a:xfrm>
            <a:off x="7086600" y="5193792"/>
            <a:ext cx="1783080" cy="777240"/>
          </a:xfrm>
          <a:prstGeom prst="rect">
            <a:avLst/>
          </a:prstGeom>
          <a:noFill/>
          <a:ln/>
        </p:spPr>
        <p:txBody>
          <a:bodyPr wrap="square" lIns="0" tIns="0" rIns="0" bIns="0" rtlCol="0" anchor="ctr"/>
          <a:lstStyle/>
          <a:p>
            <a:pPr marL="0" indent="0">
              <a:buNone/>
            </a:pPr>
            <a:r>
              <a:rPr lang="en-US" sz="1400" b="1" dirty="0">
                <a:solidFill>
                  <a:schemeClr val="tx1"/>
                </a:solidFill>
              </a:rPr>
              <a:t>Accounts (AP &amp; AR)</a:t>
            </a:r>
            <a:endParaRPr lang="en-US" sz="1400" dirty="0"/>
          </a:p>
        </p:txBody>
      </p:sp>
      <p:sp>
        <p:nvSpPr>
          <p:cNvPr id="44" name="Module chip"/>
          <p:cNvSpPr/>
          <p:nvPr/>
        </p:nvSpPr>
        <p:spPr>
          <a:xfrm>
            <a:off x="9052560" y="5193792"/>
            <a:ext cx="2560320" cy="777240"/>
          </a:xfrm>
          <a:prstGeom prst="rect">
            <a:avLst/>
          </a:prstGeom>
          <a:solidFill>
            <a:schemeClr val="bg2"/>
          </a:solidFill>
          <a:ln w="12700">
            <a:solidFill>
              <a:schemeClr val="bg2"/>
            </a:solidFill>
            <a:prstDash val="solid"/>
          </a:ln>
        </p:spPr>
      </p:sp>
      <p:sp>
        <p:nvSpPr>
          <p:cNvPr id="45" name="Shape 33"/>
          <p:cNvSpPr/>
          <p:nvPr/>
        </p:nvSpPr>
        <p:spPr>
          <a:xfrm>
            <a:off x="9162288" y="5321808"/>
            <a:ext cx="521208" cy="521208"/>
          </a:xfrm>
          <a:prstGeom prst="ellipse">
            <a:avLst/>
          </a:prstGeom>
          <a:solidFill>
            <a:srgbClr val="24424D"/>
          </a:solidFill>
          <a:ln w="12700">
            <a:solidFill>
              <a:srgbClr val="24424D"/>
            </a:solidFill>
            <a:prstDash val="solid"/>
          </a:ln>
        </p:spPr>
      </p:sp>
      <p:pic>
        <p:nvPicPr>
          <p:cNvPr id="46" name="Image 9" descr="preencoded.png"/>
          <p:cNvPicPr>
            <a:picLocks noChangeAspect="1"/>
          </p:cNvPicPr>
          <p:nvPr/>
        </p:nvPicPr>
        <p:blipFill>
          <a:blip r:embed="rId12"/>
          <a:stretch>
            <a:fillRect/>
          </a:stretch>
        </p:blipFill>
        <p:spPr>
          <a:xfrm>
            <a:off x="9297802" y="5457322"/>
            <a:ext cx="250180" cy="250180"/>
          </a:xfrm>
          <a:prstGeom prst="rect">
            <a:avLst/>
          </a:prstGeom>
        </p:spPr>
      </p:pic>
      <p:sp>
        <p:nvSpPr>
          <p:cNvPr id="47" name="Text 34"/>
          <p:cNvSpPr txBox="1"/>
          <p:nvPr/>
        </p:nvSpPr>
        <p:spPr>
          <a:xfrm>
            <a:off x="9784080" y="5193792"/>
            <a:ext cx="1783080" cy="777240"/>
          </a:xfrm>
          <a:prstGeom prst="rect">
            <a:avLst/>
          </a:prstGeom>
          <a:noFill/>
          <a:ln/>
        </p:spPr>
        <p:txBody>
          <a:bodyPr wrap="square" lIns="0" tIns="0" rIns="0" bIns="0" rtlCol="0" anchor="ctr"/>
          <a:lstStyle/>
          <a:p>
            <a:pPr marL="0" indent="0">
              <a:buNone/>
            </a:pPr>
            <a:r>
              <a:rPr lang="en-US" sz="1400" b="1" dirty="0">
                <a:solidFill>
                  <a:schemeClr val="tx1"/>
                </a:solidFill>
              </a:rPr>
              <a:t>Customer &amp; Vendor Master</a:t>
            </a:r>
            <a:endParaRPr lang="en-US" sz="1400" dirty="0"/>
          </a:p>
        </p:txBody>
      </p:sp>
      <p:sp>
        <p:nvSpPr>
          <p:cNvPr id="2"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365760"/>
            <a:ext cx="10149840" cy="777240"/>
          </a:xfrm>
          <a:prstGeom prst="rect">
            <a:avLst/>
          </a:prstGeom>
          <a:noFill/>
          <a:ln/>
        </p:spPr>
        <p:txBody>
          <a:bodyPr wrap="square" lIns="0" tIns="0" rIns="0" bIns="0" rtlCol="0" anchor="ctr"/>
          <a:lstStyle/>
          <a:p>
            <a:pPr marL="0" indent="0" algn="l">
              <a:buNone/>
            </a:pPr>
            <a:r>
              <a:rPr lang="en-US" sz="3600" b="1" dirty="0">
                <a:solidFill>
                  <a:schemeClr val="tx1"/>
                </a:solidFill>
              </a:rPr>
              <a:t>Project objective</a:t>
            </a:r>
            <a:endParaRPr lang="en-US" sz="3600" dirty="0"/>
          </a:p>
        </p:txBody>
      </p:sp>
      <p:sp>
        <p:nvSpPr>
          <p:cNvPr id="4" name="Objective card"/>
          <p:cNvSpPr/>
          <p:nvPr/>
        </p:nvSpPr>
        <p:spPr>
          <a:xfrm>
            <a:off x="548640" y="1463040"/>
            <a:ext cx="5422392" cy="1005840"/>
          </a:xfrm>
          <a:prstGeom prst="rect">
            <a:avLst/>
          </a:prstGeom>
          <a:solidFill>
            <a:schemeClr val="bg2"/>
          </a:solidFill>
          <a:ln w="12700">
            <a:solidFill>
              <a:schemeClr val="bg2"/>
            </a:solidFill>
            <a:prstDash val="solid"/>
          </a:ln>
        </p:spPr>
      </p:sp>
      <p:sp>
        <p:nvSpPr>
          <p:cNvPr id="5" name="Text 2"/>
          <p:cNvSpPr/>
          <p:nvPr/>
        </p:nvSpPr>
        <p:spPr>
          <a:xfrm>
            <a:off x="731520" y="1719072"/>
            <a:ext cx="502920" cy="502920"/>
          </a:xfrm>
          <a:prstGeom prst="ellipse">
            <a:avLst/>
          </a:prstGeom>
          <a:solidFill>
            <a:srgbClr val="0F766E"/>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Text 3"/>
          <p:cNvSpPr txBox="1"/>
          <p:nvPr/>
        </p:nvSpPr>
        <p:spPr>
          <a:xfrm>
            <a:off x="1417320" y="1463040"/>
            <a:ext cx="4389120" cy="1005840"/>
          </a:xfrm>
          <a:prstGeom prst="rect">
            <a:avLst/>
          </a:prstGeom>
          <a:noFill/>
          <a:ln/>
        </p:spPr>
        <p:txBody>
          <a:bodyPr wrap="square" lIns="0" tIns="0" rIns="0" bIns="0" rtlCol="0" anchor="ctr"/>
          <a:lstStyle/>
          <a:p>
            <a:pPr marL="0" indent="0">
              <a:buNone/>
            </a:pPr>
            <a:r>
              <a:rPr lang="en-US" sz="1600" dirty="0">
                <a:solidFill>
                  <a:schemeClr val="tx1"/>
                </a:solidFill>
              </a:rPr>
              <a:t>Collect enterprise data from multiple ERP modules</a:t>
            </a:r>
            <a:endParaRPr lang="en-US" sz="1600" dirty="0"/>
          </a:p>
        </p:txBody>
      </p:sp>
      <p:sp>
        <p:nvSpPr>
          <p:cNvPr id="7" name="Objective card"/>
          <p:cNvSpPr/>
          <p:nvPr/>
        </p:nvSpPr>
        <p:spPr>
          <a:xfrm>
            <a:off x="6217920" y="1463040"/>
            <a:ext cx="5422392" cy="1005840"/>
          </a:xfrm>
          <a:prstGeom prst="rect">
            <a:avLst/>
          </a:prstGeom>
          <a:solidFill>
            <a:schemeClr val="bg2"/>
          </a:solidFill>
          <a:ln w="12700">
            <a:solidFill>
              <a:schemeClr val="bg2"/>
            </a:solidFill>
            <a:prstDash val="solid"/>
          </a:ln>
        </p:spPr>
      </p:sp>
      <p:sp>
        <p:nvSpPr>
          <p:cNvPr id="8" name="Text 5"/>
          <p:cNvSpPr/>
          <p:nvPr/>
        </p:nvSpPr>
        <p:spPr>
          <a:xfrm>
            <a:off x="6400800" y="1719072"/>
            <a:ext cx="502920" cy="502920"/>
          </a:xfrm>
          <a:prstGeom prst="ellipse">
            <a:avLst/>
          </a:prstGeom>
          <a:solidFill>
            <a:srgbClr val="0F766E"/>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9" name="Text 6"/>
          <p:cNvSpPr txBox="1"/>
          <p:nvPr/>
        </p:nvSpPr>
        <p:spPr>
          <a:xfrm>
            <a:off x="7086600" y="1463040"/>
            <a:ext cx="4389120" cy="1005840"/>
          </a:xfrm>
          <a:prstGeom prst="rect">
            <a:avLst/>
          </a:prstGeom>
          <a:noFill/>
          <a:ln/>
        </p:spPr>
        <p:txBody>
          <a:bodyPr wrap="square" lIns="0" tIns="0" rIns="0" bIns="0" rtlCol="0" anchor="ctr"/>
          <a:lstStyle/>
          <a:p>
            <a:pPr marL="0" indent="0">
              <a:buNone/>
            </a:pPr>
            <a:r>
              <a:rPr lang="en-US" sz="1600" dirty="0">
                <a:solidFill>
                  <a:schemeClr val="tx1"/>
                </a:solidFill>
              </a:rPr>
              <a:t>Clean, validate and standardize transactional and master data</a:t>
            </a:r>
            <a:endParaRPr lang="en-US" sz="1600" dirty="0"/>
          </a:p>
        </p:txBody>
      </p:sp>
      <p:sp>
        <p:nvSpPr>
          <p:cNvPr id="10" name="Objective card"/>
          <p:cNvSpPr/>
          <p:nvPr/>
        </p:nvSpPr>
        <p:spPr>
          <a:xfrm>
            <a:off x="548640" y="2624328"/>
            <a:ext cx="5422392" cy="1005840"/>
          </a:xfrm>
          <a:prstGeom prst="rect">
            <a:avLst/>
          </a:prstGeom>
          <a:solidFill>
            <a:schemeClr val="bg2"/>
          </a:solidFill>
          <a:ln w="12700">
            <a:solidFill>
              <a:schemeClr val="bg2"/>
            </a:solidFill>
            <a:prstDash val="solid"/>
          </a:ln>
        </p:spPr>
      </p:sp>
      <p:sp>
        <p:nvSpPr>
          <p:cNvPr id="11" name="Text 8"/>
          <p:cNvSpPr/>
          <p:nvPr/>
        </p:nvSpPr>
        <p:spPr>
          <a:xfrm>
            <a:off x="731520" y="2880360"/>
            <a:ext cx="502920" cy="502920"/>
          </a:xfrm>
          <a:prstGeom prst="ellipse">
            <a:avLst/>
          </a:prstGeom>
          <a:solidFill>
            <a:srgbClr val="0F766E"/>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2" name="Text 9"/>
          <p:cNvSpPr txBox="1"/>
          <p:nvPr/>
        </p:nvSpPr>
        <p:spPr>
          <a:xfrm>
            <a:off x="1417320" y="2624328"/>
            <a:ext cx="4389120" cy="1005840"/>
          </a:xfrm>
          <a:prstGeom prst="rect">
            <a:avLst/>
          </a:prstGeom>
          <a:noFill/>
          <a:ln/>
        </p:spPr>
        <p:txBody>
          <a:bodyPr wrap="square" lIns="0" tIns="0" rIns="0" bIns="0" rtlCol="0" anchor="ctr"/>
          <a:lstStyle/>
          <a:p>
            <a:pPr marL="0" indent="0">
              <a:buNone/>
            </a:pPr>
            <a:r>
              <a:rPr lang="en-US" sz="1600" dirty="0">
                <a:solidFill>
                  <a:schemeClr val="tx1"/>
                </a:solidFill>
              </a:rPr>
              <a:t>Store curated datasets in a PostgreSQL Data Warehouse</a:t>
            </a:r>
            <a:endParaRPr lang="en-US" sz="1600" dirty="0"/>
          </a:p>
        </p:txBody>
      </p:sp>
      <p:sp>
        <p:nvSpPr>
          <p:cNvPr id="13" name="Objective card"/>
          <p:cNvSpPr/>
          <p:nvPr/>
        </p:nvSpPr>
        <p:spPr>
          <a:xfrm>
            <a:off x="6217920" y="2624328"/>
            <a:ext cx="5422392" cy="1005840"/>
          </a:xfrm>
          <a:prstGeom prst="rect">
            <a:avLst/>
          </a:prstGeom>
          <a:solidFill>
            <a:schemeClr val="bg2"/>
          </a:solidFill>
          <a:ln w="12700">
            <a:solidFill>
              <a:schemeClr val="bg2"/>
            </a:solidFill>
            <a:prstDash val="solid"/>
          </a:ln>
        </p:spPr>
      </p:sp>
      <p:sp>
        <p:nvSpPr>
          <p:cNvPr id="14" name="Text 11"/>
          <p:cNvSpPr/>
          <p:nvPr/>
        </p:nvSpPr>
        <p:spPr>
          <a:xfrm>
            <a:off x="6400800" y="2880360"/>
            <a:ext cx="502920" cy="502920"/>
          </a:xfrm>
          <a:prstGeom prst="ellipse">
            <a:avLst/>
          </a:prstGeom>
          <a:solidFill>
            <a:srgbClr val="0F766E"/>
          </a:solid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5" name="Text 12"/>
          <p:cNvSpPr txBox="1"/>
          <p:nvPr/>
        </p:nvSpPr>
        <p:spPr>
          <a:xfrm>
            <a:off x="7086600" y="2624328"/>
            <a:ext cx="4389120" cy="1005840"/>
          </a:xfrm>
          <a:prstGeom prst="rect">
            <a:avLst/>
          </a:prstGeom>
          <a:noFill/>
          <a:ln/>
        </p:spPr>
        <p:txBody>
          <a:bodyPr wrap="square" lIns="0" tIns="0" rIns="0" bIns="0" rtlCol="0" anchor="ctr"/>
          <a:lstStyle/>
          <a:p>
            <a:pPr marL="0" indent="0">
              <a:buNone/>
            </a:pPr>
            <a:r>
              <a:rPr lang="en-US" sz="1600" dirty="0">
                <a:solidFill>
                  <a:schemeClr val="tx1"/>
                </a:solidFill>
              </a:rPr>
              <a:t>Maintain metadata, audit logs and end-to-end data lineage</a:t>
            </a:r>
            <a:endParaRPr lang="en-US" sz="1600" dirty="0"/>
          </a:p>
        </p:txBody>
      </p:sp>
      <p:sp>
        <p:nvSpPr>
          <p:cNvPr id="16" name="Objective card"/>
          <p:cNvSpPr/>
          <p:nvPr/>
        </p:nvSpPr>
        <p:spPr>
          <a:xfrm>
            <a:off x="548640" y="3785616"/>
            <a:ext cx="5422392" cy="1005840"/>
          </a:xfrm>
          <a:prstGeom prst="rect">
            <a:avLst/>
          </a:prstGeom>
          <a:solidFill>
            <a:schemeClr val="bg2"/>
          </a:solidFill>
          <a:ln w="12700">
            <a:solidFill>
              <a:schemeClr val="bg2"/>
            </a:solidFill>
            <a:prstDash val="solid"/>
          </a:ln>
        </p:spPr>
      </p:sp>
      <p:sp>
        <p:nvSpPr>
          <p:cNvPr id="17" name="Text 14"/>
          <p:cNvSpPr/>
          <p:nvPr/>
        </p:nvSpPr>
        <p:spPr>
          <a:xfrm>
            <a:off x="731520" y="4041648"/>
            <a:ext cx="502920" cy="502920"/>
          </a:xfrm>
          <a:prstGeom prst="ellipse">
            <a:avLst/>
          </a:prstGeom>
          <a:solidFill>
            <a:srgbClr val="0F766E"/>
          </a:solid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18" name="Text 15"/>
          <p:cNvSpPr txBox="1"/>
          <p:nvPr/>
        </p:nvSpPr>
        <p:spPr>
          <a:xfrm>
            <a:off x="1417320" y="3785616"/>
            <a:ext cx="4389120" cy="1005840"/>
          </a:xfrm>
          <a:prstGeom prst="rect">
            <a:avLst/>
          </a:prstGeom>
          <a:noFill/>
          <a:ln/>
        </p:spPr>
        <p:txBody>
          <a:bodyPr wrap="square" lIns="0" tIns="0" rIns="0" bIns="0" rtlCol="0" anchor="ctr"/>
          <a:lstStyle/>
          <a:p>
            <a:pPr marL="0" indent="0">
              <a:buNone/>
            </a:pPr>
            <a:r>
              <a:rPr lang="en-US" sz="1600" dirty="0">
                <a:solidFill>
                  <a:schemeClr val="tx1"/>
                </a:solidFill>
              </a:rPr>
              <a:t>Support operations, analytics, financial reporting and dashboards</a:t>
            </a:r>
            <a:endParaRPr lang="en-US" sz="1600" dirty="0"/>
          </a:p>
        </p:txBody>
      </p:sp>
      <p:sp>
        <p:nvSpPr>
          <p:cNvPr id="19" name="Objective card"/>
          <p:cNvSpPr/>
          <p:nvPr/>
        </p:nvSpPr>
        <p:spPr>
          <a:xfrm>
            <a:off x="6217920" y="3785616"/>
            <a:ext cx="5422392" cy="1005840"/>
          </a:xfrm>
          <a:prstGeom prst="rect">
            <a:avLst/>
          </a:prstGeom>
          <a:solidFill>
            <a:schemeClr val="bg2"/>
          </a:solidFill>
          <a:ln w="12700">
            <a:solidFill>
              <a:schemeClr val="bg2"/>
            </a:solidFill>
            <a:prstDash val="solid"/>
          </a:ln>
        </p:spPr>
      </p:sp>
      <p:sp>
        <p:nvSpPr>
          <p:cNvPr id="20" name="Text 17"/>
          <p:cNvSpPr/>
          <p:nvPr/>
        </p:nvSpPr>
        <p:spPr>
          <a:xfrm>
            <a:off x="6400800" y="4041648"/>
            <a:ext cx="502920" cy="502920"/>
          </a:xfrm>
          <a:prstGeom prst="ellipse">
            <a:avLst/>
          </a:prstGeom>
          <a:solidFill>
            <a:srgbClr val="0F766E"/>
          </a:solidFill>
          <a:ln/>
        </p:spPr>
        <p:txBody>
          <a:bodyPr wrap="square" lIns="0" tIns="0" rIns="0" bIns="0" rtlCol="0" anchor="ctr"/>
          <a:lstStyle/>
          <a:p>
            <a:pPr marL="0" indent="0" algn="ctr">
              <a:buNone/>
            </a:pPr>
            <a:r>
              <a:rPr lang="en-US" sz="1800" b="1" dirty="0">
                <a:solidFill>
                  <a:schemeClr val="bg1"/>
                </a:solidFill>
              </a:rPr>
              <a:t>6</a:t>
            </a:r>
            <a:endParaRPr lang="en-US" sz="1800" dirty="0"/>
          </a:p>
        </p:txBody>
      </p:sp>
      <p:sp>
        <p:nvSpPr>
          <p:cNvPr id="21" name="Text 18"/>
          <p:cNvSpPr txBox="1"/>
          <p:nvPr/>
        </p:nvSpPr>
        <p:spPr>
          <a:xfrm>
            <a:off x="7086600" y="3785616"/>
            <a:ext cx="4389120" cy="1005840"/>
          </a:xfrm>
          <a:prstGeom prst="rect">
            <a:avLst/>
          </a:prstGeom>
          <a:noFill/>
          <a:ln/>
        </p:spPr>
        <p:txBody>
          <a:bodyPr wrap="square" lIns="0" tIns="0" rIns="0" bIns="0" rtlCol="0" anchor="ctr"/>
          <a:lstStyle/>
          <a:p>
            <a:pPr marL="0" indent="0">
              <a:buNone/>
            </a:pPr>
            <a:r>
              <a:rPr lang="en-US" sz="1600" dirty="0">
                <a:solidFill>
                  <a:schemeClr val="tx1"/>
                </a:solidFill>
              </a:rPr>
              <a:t>Use Git and GitHub for collaborative version control</a:t>
            </a:r>
            <a:endParaRPr lang="en-US" sz="1600" dirty="0"/>
          </a:p>
        </p:txBody>
      </p:sp>
      <p:sp>
        <p:nvSpPr>
          <p:cNvPr id="22" name="Objective card"/>
          <p:cNvSpPr/>
          <p:nvPr/>
        </p:nvSpPr>
        <p:spPr>
          <a:xfrm>
            <a:off x="548640" y="4946904"/>
            <a:ext cx="5422392" cy="1005840"/>
          </a:xfrm>
          <a:prstGeom prst="rect">
            <a:avLst/>
          </a:prstGeom>
          <a:solidFill>
            <a:schemeClr val="bg2"/>
          </a:solidFill>
          <a:ln w="12700">
            <a:solidFill>
              <a:schemeClr val="bg2"/>
            </a:solidFill>
            <a:prstDash val="solid"/>
          </a:ln>
        </p:spPr>
      </p:sp>
      <p:sp>
        <p:nvSpPr>
          <p:cNvPr id="23" name="Text 20"/>
          <p:cNvSpPr/>
          <p:nvPr/>
        </p:nvSpPr>
        <p:spPr>
          <a:xfrm>
            <a:off x="731520" y="5202936"/>
            <a:ext cx="502920" cy="502920"/>
          </a:xfrm>
          <a:prstGeom prst="ellipse">
            <a:avLst/>
          </a:prstGeom>
          <a:solidFill>
            <a:srgbClr val="0F766E"/>
          </a:solidFill>
          <a:ln/>
        </p:spPr>
        <p:txBody>
          <a:bodyPr wrap="square" lIns="0" tIns="0" rIns="0" bIns="0" rtlCol="0" anchor="ctr"/>
          <a:lstStyle/>
          <a:p>
            <a:pPr marL="0" indent="0" algn="ctr">
              <a:buNone/>
            </a:pPr>
            <a:r>
              <a:rPr lang="en-US" sz="1800" b="1" dirty="0">
                <a:solidFill>
                  <a:schemeClr val="bg1"/>
                </a:solidFill>
              </a:rPr>
              <a:t>7</a:t>
            </a:r>
            <a:endParaRPr lang="en-US" sz="1800" dirty="0"/>
          </a:p>
        </p:txBody>
      </p:sp>
      <p:sp>
        <p:nvSpPr>
          <p:cNvPr id="24" name="Text 21"/>
          <p:cNvSpPr txBox="1"/>
          <p:nvPr/>
        </p:nvSpPr>
        <p:spPr>
          <a:xfrm>
            <a:off x="1417320" y="4946904"/>
            <a:ext cx="4389120" cy="1005840"/>
          </a:xfrm>
          <a:prstGeom prst="rect">
            <a:avLst/>
          </a:prstGeom>
          <a:noFill/>
          <a:ln/>
        </p:spPr>
        <p:txBody>
          <a:bodyPr wrap="square" lIns="0" tIns="0" rIns="0" bIns="0" rtlCol="0" anchor="ctr"/>
          <a:lstStyle/>
          <a:p>
            <a:pPr marL="0" indent="0">
              <a:buNone/>
            </a:pPr>
            <a:r>
              <a:rPr lang="en-US" sz="1600" dirty="0">
                <a:solidFill>
                  <a:schemeClr val="tx1"/>
                </a:solidFill>
              </a:rPr>
              <a:t>Produce enterprise-standard documentation and deliverables</a:t>
            </a:r>
            <a:endParaRPr lang="en-US" sz="1600" dirty="0"/>
          </a:p>
        </p:txBody>
      </p:sp>
      <p:sp>
        <p:nvSpPr>
          <p:cNvPr id="25" name="Goal card"/>
          <p:cNvSpPr/>
          <p:nvPr/>
        </p:nvSpPr>
        <p:spPr>
          <a:xfrm>
            <a:off x="6217920" y="4946904"/>
            <a:ext cx="5422392" cy="1005840"/>
          </a:xfrm>
          <a:prstGeom prst="rect">
            <a:avLst/>
          </a:prstGeom>
          <a:solidFill>
            <a:schemeClr val="tx1"/>
          </a:solidFill>
          <a:ln w="12700">
            <a:solidFill>
              <a:schemeClr val="bg2"/>
            </a:solidFill>
            <a:prstDash val="solid"/>
          </a:ln>
        </p:spPr>
      </p:sp>
      <p:sp>
        <p:nvSpPr>
          <p:cNvPr id="26" name="Text 23"/>
          <p:cNvSpPr txBox="1"/>
          <p:nvPr/>
        </p:nvSpPr>
        <p:spPr>
          <a:xfrm>
            <a:off x="6446520" y="4946904"/>
            <a:ext cx="5029200" cy="1005840"/>
          </a:xfrm>
          <a:prstGeom prst="rect">
            <a:avLst/>
          </a:prstGeom>
          <a:noFill/>
          <a:ln/>
        </p:spPr>
        <p:txBody>
          <a:bodyPr wrap="square" lIns="0" tIns="0" rIns="0" bIns="0" rtlCol="0" anchor="ctr"/>
          <a:lstStyle/>
          <a:p>
            <a:pPr marL="0" indent="0">
              <a:buNone/>
            </a:pPr>
            <a:r>
              <a:rPr lang="en-US" sz="1600" b="1" dirty="0">
                <a:solidFill>
                  <a:schemeClr val="bg1"/>
                </a:solidFill>
              </a:rPr>
              <a:t>Goal of the data work: turn raw ERP data into trusted, analytics-ready datasets</a:t>
            </a:r>
            <a:endParaRPr lang="en-US" sz="1600" dirty="0"/>
          </a:p>
        </p:txBody>
      </p:sp>
      <p:sp>
        <p:nvSpPr>
          <p:cNvPr id="2"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365760"/>
            <a:ext cx="10149840" cy="777240"/>
          </a:xfrm>
          <a:prstGeom prst="rect">
            <a:avLst/>
          </a:prstGeom>
          <a:noFill/>
          <a:ln/>
        </p:spPr>
        <p:txBody>
          <a:bodyPr wrap="square" lIns="0" tIns="0" rIns="0" bIns="0" rtlCol="0" anchor="ctr"/>
          <a:lstStyle/>
          <a:p>
            <a:pPr marL="0" indent="0" algn="l">
              <a:buNone/>
            </a:pPr>
            <a:r>
              <a:rPr lang="en-US" sz="3600" b="1" dirty="0">
                <a:solidFill>
                  <a:schemeClr val="tx1"/>
                </a:solidFill>
              </a:rPr>
              <a:t>Technology stack</a:t>
            </a:r>
            <a:endParaRPr lang="en-US" sz="3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4535424"/>
        </p:xfrm>
        <a:graphic>
          <a:graphicData uri="http://schemas.openxmlformats.org/drawingml/2006/table">
            <a:tbl>
              <a:tblPr/>
              <a:tblGrid>
                <a:gridCol w="210312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5148072">
                  <a:extLst>
                    <a:ext uri="{9D8B030D-6E8A-4147-A177-3AD203B41FA5}">
                      <a16:colId xmlns:a16="http://schemas.microsoft.com/office/drawing/2014/main" val="20002"/>
                    </a:ext>
                  </a:extLst>
                </a:gridCol>
              </a:tblGrid>
              <a:tr h="566928">
                <a:tc>
                  <a:txBody>
                    <a:bodyPr/>
                    <a:lstStyle/>
                    <a:p>
                      <a:pPr marL="0" indent="0">
                        <a:buNone/>
                      </a:pPr>
                      <a:r>
                        <a:rPr lang="en-US" sz="1600" b="1" dirty="0">
                          <a:solidFill>
                            <a:schemeClr val="bg1"/>
                          </a:solidFill>
                        </a:rPr>
                        <a:t>Category</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buNone/>
                      </a:pPr>
                      <a:r>
                        <a:rPr lang="en-US" sz="1600" b="1" dirty="0">
                          <a:solidFill>
                            <a:schemeClr val="bg1"/>
                          </a:solidFill>
                        </a:rPr>
                        <a:t>Technology</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buNone/>
                      </a:pPr>
                      <a:r>
                        <a:rPr lang="en-US" sz="1600" b="1" dirty="0">
                          <a:solidFill>
                            <a:schemeClr val="bg1"/>
                          </a:solidFill>
                        </a:rPr>
                        <a:t>Role in the project</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66928">
                <a:tc>
                  <a:txBody>
                    <a:bodyPr/>
                    <a:lstStyle/>
                    <a:p>
                      <a:pPr marL="0" indent="0">
                        <a:buNone/>
                      </a:pPr>
                      <a:r>
                        <a:rPr lang="en-US" sz="1600" dirty="0">
                          <a:solidFill>
                            <a:schemeClr val="tx1"/>
                          </a:solidFill>
                        </a:rPr>
                        <a:t>ETL</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Pentaho Data Integration (Spoon)</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Loads the warehouse tables</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600" dirty="0">
                          <a:solidFill>
                            <a:schemeClr val="tx1"/>
                          </a:solidFill>
                        </a:rPr>
                        <a:t>Database</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PostgreSQL</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Data warehouse uc15_dw</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600" dirty="0">
                          <a:solidFill>
                            <a:schemeClr val="tx1"/>
                          </a:solidFill>
                        </a:rPr>
                        <a:t>Programming</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Python (pandas)</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Profiling, cleaning, validation, real-time feed</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600" dirty="0">
                          <a:solidFill>
                            <a:schemeClr val="tx1"/>
                          </a:solidFill>
                        </a:rPr>
                        <a:t>Version control</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Git &amp; GitHub</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Code, SQL, reports and diagrams</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600" dirty="0">
                          <a:solidFill>
                            <a:schemeClr val="tx1"/>
                          </a:solidFill>
                        </a:rPr>
                        <a:t>Reporting</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Tableau (Power BI was planned)</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Executive dashboards</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5"/>
                  </a:ext>
                </a:extLst>
              </a:tr>
              <a:tr h="566928">
                <a:tc>
                  <a:txBody>
                    <a:bodyPr/>
                    <a:lstStyle/>
                    <a:p>
                      <a:pPr marL="0" indent="0">
                        <a:buNone/>
                      </a:pPr>
                      <a:r>
                        <a:rPr lang="en-US" sz="1600" dirty="0">
                          <a:solidFill>
                            <a:schemeClr val="tx1"/>
                          </a:solidFill>
                        </a:rPr>
                        <a:t>Documentation</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Markdown / MS Word</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README and reports</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6"/>
                  </a:ext>
                </a:extLst>
              </a:tr>
              <a:tr h="566928">
                <a:tc>
                  <a:txBody>
                    <a:bodyPr/>
                    <a:lstStyle/>
                    <a:p>
                      <a:pPr marL="0" indent="0">
                        <a:buNone/>
                      </a:pPr>
                      <a:r>
                        <a:rPr lang="en-US" sz="1600" dirty="0">
                          <a:solidFill>
                            <a:schemeClr val="tx1"/>
                          </a:solidFill>
                        </a:rPr>
                        <a:t>Project management</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Agile Scrum</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Sprints with defined deliverables</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365760"/>
            <a:ext cx="10149840" cy="777240"/>
          </a:xfrm>
          <a:prstGeom prst="rect">
            <a:avLst/>
          </a:prstGeom>
          <a:noFill/>
          <a:ln/>
        </p:spPr>
        <p:txBody>
          <a:bodyPr wrap="square" lIns="0" tIns="0" rIns="0" bIns="0" rtlCol="0" anchor="ctr"/>
          <a:lstStyle/>
          <a:p>
            <a:pPr marL="0" indent="0" algn="l">
              <a:buNone/>
            </a:pPr>
            <a:r>
              <a:rPr lang="en-US" sz="3600" b="1" dirty="0">
                <a:solidFill>
                  <a:schemeClr val="tx1"/>
                </a:solidFill>
              </a:rPr>
              <a:t>Sprint roadmap</a:t>
            </a:r>
            <a:endParaRPr lang="en-US" sz="3600" dirty="0"/>
          </a:p>
        </p:txBody>
      </p:sp>
      <p:sp>
        <p:nvSpPr>
          <p:cNvPr id="4" name="Sprint card"/>
          <p:cNvSpPr/>
          <p:nvPr/>
        </p:nvSpPr>
        <p:spPr>
          <a:xfrm>
            <a:off x="548640" y="1463040"/>
            <a:ext cx="2651760" cy="4572000"/>
          </a:xfrm>
          <a:prstGeom prst="rect">
            <a:avLst/>
          </a:prstGeom>
          <a:solidFill>
            <a:schemeClr val="bg2"/>
          </a:solidFill>
          <a:ln w="12700">
            <a:solidFill>
              <a:schemeClr val="bg2"/>
            </a:solidFill>
            <a:prstDash val="solid"/>
          </a:ln>
        </p:spPr>
      </p:sp>
      <p:sp>
        <p:nvSpPr>
          <p:cNvPr id="5" name="Text 2"/>
          <p:cNvSpPr txBox="1"/>
          <p:nvPr/>
        </p:nvSpPr>
        <p:spPr>
          <a:xfrm>
            <a:off x="777240" y="1691640"/>
            <a:ext cx="2194560" cy="411480"/>
          </a:xfrm>
          <a:prstGeom prst="rect">
            <a:avLst/>
          </a:prstGeom>
          <a:noFill/>
          <a:ln/>
        </p:spPr>
        <p:txBody>
          <a:bodyPr wrap="square" lIns="0" tIns="0" rIns="0" bIns="0" rtlCol="0" anchor="t"/>
          <a:lstStyle/>
          <a:p>
            <a:pPr marL="0" indent="0">
              <a:buNone/>
            </a:pPr>
            <a:r>
              <a:rPr lang="en-US" sz="2400" b="1" dirty="0">
                <a:solidFill>
                  <a:schemeClr val="tx1"/>
                </a:solidFill>
              </a:rPr>
              <a:t>Sprint 0</a:t>
            </a:r>
            <a:endParaRPr lang="en-US" sz="2400" dirty="0"/>
          </a:p>
        </p:txBody>
      </p:sp>
      <p:sp>
        <p:nvSpPr>
          <p:cNvPr id="6" name="Text 3"/>
          <p:cNvSpPr txBox="1"/>
          <p:nvPr/>
        </p:nvSpPr>
        <p:spPr>
          <a:xfrm>
            <a:off x="777240" y="2286000"/>
            <a:ext cx="2240280" cy="640080"/>
          </a:xfrm>
          <a:prstGeom prst="rect">
            <a:avLst/>
          </a:prstGeom>
          <a:noFill/>
          <a:ln/>
        </p:spPr>
        <p:txBody>
          <a:bodyPr wrap="square" lIns="0" tIns="0" rIns="0" bIns="0" rtlCol="0" anchor="t"/>
          <a:lstStyle/>
          <a:p>
            <a:pPr marL="0" indent="0">
              <a:buNone/>
            </a:pPr>
            <a:r>
              <a:rPr lang="en-US" sz="1600" b="1" dirty="0">
                <a:solidFill>
                  <a:schemeClr val="accent1"/>
                </a:solidFill>
              </a:rPr>
              <a:t>Project initiation and architecture</a:t>
            </a:r>
            <a:endParaRPr lang="en-US" sz="1600" dirty="0"/>
          </a:p>
        </p:txBody>
      </p:sp>
      <p:sp>
        <p:nvSpPr>
          <p:cNvPr id="7" name="Text 4"/>
          <p:cNvSpPr txBox="1"/>
          <p:nvPr/>
        </p:nvSpPr>
        <p:spPr>
          <a:xfrm>
            <a:off x="777240" y="3063240"/>
            <a:ext cx="2240280" cy="1005840"/>
          </a:xfrm>
          <a:prstGeom prst="rect">
            <a:avLst/>
          </a:prstGeom>
          <a:noFill/>
          <a:ln/>
        </p:spPr>
        <p:txBody>
          <a:bodyPr wrap="square" lIns="0" tIns="0" rIns="0" bIns="0" rtlCol="0" anchor="t"/>
          <a:lstStyle/>
          <a:p>
            <a:pPr marL="0" indent="0">
              <a:buNone/>
            </a:pPr>
            <a:r>
              <a:rPr lang="en-US" sz="1400" dirty="0">
                <a:solidFill>
                  <a:schemeClr val="tx2"/>
                </a:solidFill>
              </a:rPr>
              <a:t>Understand the ERP ecosystem and prepare the project plan.</a:t>
            </a:r>
            <a:endParaRPr lang="en-US" sz="1400" dirty="0"/>
          </a:p>
        </p:txBody>
      </p:sp>
      <p:sp>
        <p:nvSpPr>
          <p:cNvPr id="8" name="Text 5"/>
          <p:cNvSpPr txBox="1"/>
          <p:nvPr/>
        </p:nvSpPr>
        <p:spPr>
          <a:xfrm>
            <a:off x="777240" y="4206240"/>
            <a:ext cx="2240280" cy="274320"/>
          </a:xfrm>
          <a:prstGeom prst="rect">
            <a:avLst/>
          </a:prstGeom>
          <a:noFill/>
          <a:ln/>
        </p:spPr>
        <p:txBody>
          <a:bodyPr wrap="square" lIns="0" tIns="0" rIns="0" bIns="0" rtlCol="0" anchor="t"/>
          <a:lstStyle/>
          <a:p>
            <a:pPr marL="0" indent="0">
              <a:buNone/>
            </a:pPr>
            <a:r>
              <a:rPr lang="en-US" sz="1400" b="1" dirty="0">
                <a:solidFill>
                  <a:schemeClr val="tx1"/>
                </a:solidFill>
              </a:rPr>
              <a:t>Key deliverables</a:t>
            </a:r>
            <a:endParaRPr lang="en-US" sz="1400" dirty="0"/>
          </a:p>
        </p:txBody>
      </p:sp>
      <p:sp>
        <p:nvSpPr>
          <p:cNvPr id="9" name="Text 6"/>
          <p:cNvSpPr txBox="1"/>
          <p:nvPr/>
        </p:nvSpPr>
        <p:spPr>
          <a:xfrm>
            <a:off x="777240" y="4526280"/>
            <a:ext cx="2240280" cy="137160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chemeClr val="tx1"/>
                </a:solidFill>
              </a:rPr>
              <a:t>BRD and project charter</a:t>
            </a:r>
            <a:endParaRPr lang="en-US" sz="1400" dirty="0"/>
          </a:p>
          <a:p>
            <a:pPr marL="203200" indent="-203200">
              <a:spcAft>
                <a:spcPts val="400"/>
              </a:spcAft>
              <a:buSzPct val="100000"/>
              <a:buChar char="•"/>
            </a:pPr>
            <a:r>
              <a:rPr lang="en-US" sz="1400" dirty="0">
                <a:solidFill>
                  <a:schemeClr val="tx1"/>
                </a:solidFill>
              </a:rPr>
              <a:t>Solution architecture</a:t>
            </a:r>
            <a:endParaRPr lang="en-US" sz="1400" dirty="0"/>
          </a:p>
          <a:p>
            <a:pPr marL="203200" indent="-203200">
              <a:spcAft>
                <a:spcPts val="400"/>
              </a:spcAft>
              <a:buSzPct val="100000"/>
              <a:buChar char="•"/>
            </a:pPr>
            <a:r>
              <a:rPr lang="en-US" sz="1400" dirty="0">
                <a:solidFill>
                  <a:schemeClr val="tx1"/>
                </a:solidFill>
              </a:rPr>
              <a:t>Repository and backlog</a:t>
            </a:r>
            <a:endParaRPr lang="en-US" sz="1400" dirty="0"/>
          </a:p>
        </p:txBody>
      </p:sp>
      <p:sp>
        <p:nvSpPr>
          <p:cNvPr id="10" name="Sprint card"/>
          <p:cNvSpPr/>
          <p:nvPr/>
        </p:nvSpPr>
        <p:spPr>
          <a:xfrm>
            <a:off x="3362249" y="1463040"/>
            <a:ext cx="2651760" cy="4572000"/>
          </a:xfrm>
          <a:prstGeom prst="rect">
            <a:avLst/>
          </a:prstGeom>
          <a:solidFill>
            <a:schemeClr val="bg2"/>
          </a:solidFill>
          <a:ln w="12700">
            <a:solidFill>
              <a:schemeClr val="bg2"/>
            </a:solidFill>
            <a:prstDash val="solid"/>
          </a:ln>
        </p:spPr>
      </p:sp>
      <p:sp>
        <p:nvSpPr>
          <p:cNvPr id="11" name="Text 8"/>
          <p:cNvSpPr txBox="1"/>
          <p:nvPr/>
        </p:nvSpPr>
        <p:spPr>
          <a:xfrm>
            <a:off x="3590849" y="1691640"/>
            <a:ext cx="2194560" cy="411480"/>
          </a:xfrm>
          <a:prstGeom prst="rect">
            <a:avLst/>
          </a:prstGeom>
          <a:noFill/>
          <a:ln/>
        </p:spPr>
        <p:txBody>
          <a:bodyPr wrap="square" lIns="0" tIns="0" rIns="0" bIns="0" rtlCol="0" anchor="t"/>
          <a:lstStyle/>
          <a:p>
            <a:pPr marL="0" indent="0">
              <a:buNone/>
            </a:pPr>
            <a:r>
              <a:rPr lang="en-US" sz="2400" b="1" dirty="0">
                <a:solidFill>
                  <a:schemeClr val="tx1"/>
                </a:solidFill>
              </a:rPr>
              <a:t>Sprint 1</a:t>
            </a:r>
            <a:endParaRPr lang="en-US" sz="2400" dirty="0"/>
          </a:p>
        </p:txBody>
      </p:sp>
      <p:sp>
        <p:nvSpPr>
          <p:cNvPr id="12" name="Text 9"/>
          <p:cNvSpPr txBox="1"/>
          <p:nvPr/>
        </p:nvSpPr>
        <p:spPr>
          <a:xfrm>
            <a:off x="3590849" y="2286000"/>
            <a:ext cx="2240280" cy="640080"/>
          </a:xfrm>
          <a:prstGeom prst="rect">
            <a:avLst/>
          </a:prstGeom>
          <a:noFill/>
          <a:ln/>
        </p:spPr>
        <p:txBody>
          <a:bodyPr wrap="square" lIns="0" tIns="0" rIns="0" bIns="0" rtlCol="0" anchor="t"/>
          <a:lstStyle/>
          <a:p>
            <a:pPr marL="0" indent="0">
              <a:buNone/>
            </a:pPr>
            <a:r>
              <a:rPr lang="en-US" sz="1600" b="1" dirty="0">
                <a:solidFill>
                  <a:schemeClr val="accent1"/>
                </a:solidFill>
              </a:rPr>
              <a:t>Data discovery and ingestion</a:t>
            </a:r>
            <a:endParaRPr lang="en-US" sz="1600" dirty="0"/>
          </a:p>
        </p:txBody>
      </p:sp>
      <p:sp>
        <p:nvSpPr>
          <p:cNvPr id="13" name="Text 10"/>
          <p:cNvSpPr txBox="1"/>
          <p:nvPr/>
        </p:nvSpPr>
        <p:spPr>
          <a:xfrm>
            <a:off x="3590849" y="3063240"/>
            <a:ext cx="2240280" cy="1005840"/>
          </a:xfrm>
          <a:prstGeom prst="rect">
            <a:avLst/>
          </a:prstGeom>
          <a:noFill/>
          <a:ln/>
        </p:spPr>
        <p:txBody>
          <a:bodyPr wrap="square" lIns="0" tIns="0" rIns="0" bIns="0" rtlCol="0" anchor="t"/>
          <a:lstStyle/>
          <a:p>
            <a:pPr marL="0" indent="0">
              <a:buNone/>
            </a:pPr>
            <a:r>
              <a:rPr lang="en-US" sz="1400" dirty="0">
                <a:solidFill>
                  <a:schemeClr val="tx2"/>
                </a:solidFill>
              </a:rPr>
              <a:t>Build the enterprise raw data landing zone from the ERP modules.</a:t>
            </a:r>
            <a:endParaRPr lang="en-US" sz="1400" dirty="0"/>
          </a:p>
        </p:txBody>
      </p:sp>
      <p:sp>
        <p:nvSpPr>
          <p:cNvPr id="14" name="Text 11"/>
          <p:cNvSpPr txBox="1"/>
          <p:nvPr/>
        </p:nvSpPr>
        <p:spPr>
          <a:xfrm>
            <a:off x="3590849" y="4206240"/>
            <a:ext cx="2240280" cy="274320"/>
          </a:xfrm>
          <a:prstGeom prst="rect">
            <a:avLst/>
          </a:prstGeom>
          <a:noFill/>
          <a:ln/>
        </p:spPr>
        <p:txBody>
          <a:bodyPr wrap="square" lIns="0" tIns="0" rIns="0" bIns="0" rtlCol="0" anchor="t"/>
          <a:lstStyle/>
          <a:p>
            <a:pPr marL="0" indent="0">
              <a:buNone/>
            </a:pPr>
            <a:r>
              <a:rPr lang="en-US" sz="1400" b="1" dirty="0">
                <a:solidFill>
                  <a:schemeClr val="tx1"/>
                </a:solidFill>
              </a:rPr>
              <a:t>Key deliverables</a:t>
            </a:r>
            <a:endParaRPr lang="en-US" sz="1400" dirty="0"/>
          </a:p>
        </p:txBody>
      </p:sp>
      <p:sp>
        <p:nvSpPr>
          <p:cNvPr id="15" name="Text 12"/>
          <p:cNvSpPr txBox="1"/>
          <p:nvPr/>
        </p:nvSpPr>
        <p:spPr>
          <a:xfrm>
            <a:off x="3590849" y="4526280"/>
            <a:ext cx="2240280" cy="137160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chemeClr val="tx1"/>
                </a:solidFill>
              </a:rPr>
              <a:t>Data dictionary</a:t>
            </a:r>
            <a:endParaRPr lang="en-US" sz="1400" dirty="0"/>
          </a:p>
          <a:p>
            <a:pPr marL="203200" indent="-203200">
              <a:spcAft>
                <a:spcPts val="400"/>
              </a:spcAft>
              <a:buSzPct val="100000"/>
              <a:buChar char="•"/>
            </a:pPr>
            <a:r>
              <a:rPr lang="en-US" sz="1400" dirty="0">
                <a:solidFill>
                  <a:schemeClr val="tx1"/>
                </a:solidFill>
              </a:rPr>
              <a:t>Pentaho ingestion pipelines</a:t>
            </a:r>
            <a:endParaRPr lang="en-US" sz="1400" dirty="0"/>
          </a:p>
          <a:p>
            <a:pPr marL="203200" indent="-203200">
              <a:spcAft>
                <a:spcPts val="400"/>
              </a:spcAft>
              <a:buSzPct val="100000"/>
              <a:buChar char="•"/>
            </a:pPr>
            <a:r>
              <a:rPr lang="en-US" sz="1400" dirty="0">
                <a:solidFill>
                  <a:schemeClr val="tx1"/>
                </a:solidFill>
              </a:rPr>
              <a:t>Staging database</a:t>
            </a:r>
            <a:endParaRPr lang="en-US" sz="1400" dirty="0"/>
          </a:p>
        </p:txBody>
      </p:sp>
      <p:sp>
        <p:nvSpPr>
          <p:cNvPr id="16" name="Sprint card"/>
          <p:cNvSpPr/>
          <p:nvPr/>
        </p:nvSpPr>
        <p:spPr>
          <a:xfrm>
            <a:off x="6175858" y="1463040"/>
            <a:ext cx="2651760" cy="4572000"/>
          </a:xfrm>
          <a:prstGeom prst="rect">
            <a:avLst/>
          </a:prstGeom>
          <a:solidFill>
            <a:schemeClr val="bg2"/>
          </a:solidFill>
          <a:ln w="12700">
            <a:solidFill>
              <a:schemeClr val="bg2"/>
            </a:solidFill>
            <a:prstDash val="solid"/>
          </a:ln>
        </p:spPr>
      </p:sp>
      <p:sp>
        <p:nvSpPr>
          <p:cNvPr id="17" name="Text 14"/>
          <p:cNvSpPr txBox="1"/>
          <p:nvPr/>
        </p:nvSpPr>
        <p:spPr>
          <a:xfrm>
            <a:off x="6404458" y="1691640"/>
            <a:ext cx="2194560" cy="411480"/>
          </a:xfrm>
          <a:prstGeom prst="rect">
            <a:avLst/>
          </a:prstGeom>
          <a:noFill/>
          <a:ln/>
        </p:spPr>
        <p:txBody>
          <a:bodyPr wrap="square" lIns="0" tIns="0" rIns="0" bIns="0" rtlCol="0" anchor="t"/>
          <a:lstStyle/>
          <a:p>
            <a:pPr marL="0" indent="0">
              <a:buNone/>
            </a:pPr>
            <a:r>
              <a:rPr lang="en-US" sz="2400" b="1" dirty="0">
                <a:solidFill>
                  <a:schemeClr val="tx1"/>
                </a:solidFill>
              </a:rPr>
              <a:t>Sprint 2</a:t>
            </a:r>
            <a:endParaRPr lang="en-US" sz="2400" dirty="0"/>
          </a:p>
        </p:txBody>
      </p:sp>
      <p:sp>
        <p:nvSpPr>
          <p:cNvPr id="18" name="Text 15"/>
          <p:cNvSpPr txBox="1"/>
          <p:nvPr/>
        </p:nvSpPr>
        <p:spPr>
          <a:xfrm>
            <a:off x="6404458" y="2286000"/>
            <a:ext cx="2240280" cy="640080"/>
          </a:xfrm>
          <a:prstGeom prst="rect">
            <a:avLst/>
          </a:prstGeom>
          <a:noFill/>
          <a:ln/>
        </p:spPr>
        <p:txBody>
          <a:bodyPr wrap="square" lIns="0" tIns="0" rIns="0" bIns="0" rtlCol="0" anchor="t"/>
          <a:lstStyle/>
          <a:p>
            <a:pPr marL="0" indent="0">
              <a:buNone/>
            </a:pPr>
            <a:r>
              <a:rPr lang="en-US" sz="1600" b="1" dirty="0">
                <a:solidFill>
                  <a:schemeClr val="accent1"/>
                </a:solidFill>
              </a:rPr>
              <a:t>Data profiling and data warehouse</a:t>
            </a:r>
            <a:endParaRPr lang="en-US" sz="1600" dirty="0"/>
          </a:p>
        </p:txBody>
      </p:sp>
      <p:sp>
        <p:nvSpPr>
          <p:cNvPr id="19" name="Text 16"/>
          <p:cNvSpPr txBox="1"/>
          <p:nvPr/>
        </p:nvSpPr>
        <p:spPr>
          <a:xfrm>
            <a:off x="6404458" y="3063240"/>
            <a:ext cx="2240280" cy="1005840"/>
          </a:xfrm>
          <a:prstGeom prst="rect">
            <a:avLst/>
          </a:prstGeom>
          <a:noFill/>
          <a:ln/>
        </p:spPr>
        <p:txBody>
          <a:bodyPr wrap="square" lIns="0" tIns="0" rIns="0" bIns="0" rtlCol="0" anchor="t"/>
          <a:lstStyle/>
          <a:p>
            <a:pPr marL="0" indent="0">
              <a:buNone/>
            </a:pPr>
            <a:r>
              <a:rPr lang="en-US" sz="1400" dirty="0">
                <a:solidFill>
                  <a:schemeClr val="tx2"/>
                </a:solidFill>
              </a:rPr>
              <a:t>Transform raw ERP data into trusted, analytics-ready datasets.</a:t>
            </a:r>
            <a:endParaRPr lang="en-US" sz="1400" dirty="0"/>
          </a:p>
        </p:txBody>
      </p:sp>
      <p:sp>
        <p:nvSpPr>
          <p:cNvPr id="20" name="Text 17"/>
          <p:cNvSpPr txBox="1"/>
          <p:nvPr/>
        </p:nvSpPr>
        <p:spPr>
          <a:xfrm>
            <a:off x="6404458" y="4206240"/>
            <a:ext cx="2240280" cy="274320"/>
          </a:xfrm>
          <a:prstGeom prst="rect">
            <a:avLst/>
          </a:prstGeom>
          <a:noFill/>
          <a:ln/>
        </p:spPr>
        <p:txBody>
          <a:bodyPr wrap="square" lIns="0" tIns="0" rIns="0" bIns="0" rtlCol="0" anchor="t"/>
          <a:lstStyle/>
          <a:p>
            <a:pPr marL="0" indent="0">
              <a:buNone/>
            </a:pPr>
            <a:r>
              <a:rPr lang="en-US" sz="1400" b="1" dirty="0">
                <a:solidFill>
                  <a:schemeClr val="tx1"/>
                </a:solidFill>
              </a:rPr>
              <a:t>Key deliverables</a:t>
            </a:r>
            <a:endParaRPr lang="en-US" sz="1400" dirty="0"/>
          </a:p>
        </p:txBody>
      </p:sp>
      <p:sp>
        <p:nvSpPr>
          <p:cNvPr id="21" name="Text 18"/>
          <p:cNvSpPr txBox="1"/>
          <p:nvPr/>
        </p:nvSpPr>
        <p:spPr>
          <a:xfrm>
            <a:off x="6404458" y="4526280"/>
            <a:ext cx="2240280" cy="137160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chemeClr val="tx1"/>
                </a:solidFill>
              </a:rPr>
              <a:t>Profiling and quality reports</a:t>
            </a:r>
            <a:endParaRPr lang="en-US" sz="1400" dirty="0"/>
          </a:p>
          <a:p>
            <a:pPr marL="203200" indent="-203200">
              <a:spcAft>
                <a:spcPts val="400"/>
              </a:spcAft>
              <a:buSzPct val="100000"/>
              <a:buChar char="•"/>
            </a:pPr>
            <a:r>
              <a:rPr lang="en-US" sz="1400" dirty="0">
                <a:solidFill>
                  <a:schemeClr val="tx1"/>
                </a:solidFill>
              </a:rPr>
              <a:t>Star schema and warehouse</a:t>
            </a:r>
            <a:endParaRPr lang="en-US" sz="1400" dirty="0"/>
          </a:p>
          <a:p>
            <a:pPr marL="203200" indent="-203200">
              <a:spcAft>
                <a:spcPts val="400"/>
              </a:spcAft>
              <a:buSzPct val="100000"/>
              <a:buChar char="•"/>
            </a:pPr>
            <a:r>
              <a:rPr lang="en-US" sz="1400" dirty="0">
                <a:solidFill>
                  <a:schemeClr val="tx1"/>
                </a:solidFill>
              </a:rPr>
              <a:t>SQL scripts and reporting</a:t>
            </a:r>
            <a:endParaRPr lang="en-US" sz="1400" dirty="0"/>
          </a:p>
        </p:txBody>
      </p:sp>
      <p:sp>
        <p:nvSpPr>
          <p:cNvPr id="22" name="Sprint card"/>
          <p:cNvSpPr/>
          <p:nvPr/>
        </p:nvSpPr>
        <p:spPr>
          <a:xfrm>
            <a:off x="8989466" y="1463040"/>
            <a:ext cx="2651760" cy="4572000"/>
          </a:xfrm>
          <a:prstGeom prst="rect">
            <a:avLst/>
          </a:prstGeom>
          <a:solidFill>
            <a:schemeClr val="bg2"/>
          </a:solidFill>
          <a:ln w="12700">
            <a:solidFill>
              <a:schemeClr val="bg2"/>
            </a:solidFill>
            <a:prstDash val="solid"/>
          </a:ln>
        </p:spPr>
      </p:sp>
      <p:sp>
        <p:nvSpPr>
          <p:cNvPr id="23" name="Text 20"/>
          <p:cNvSpPr txBox="1"/>
          <p:nvPr/>
        </p:nvSpPr>
        <p:spPr>
          <a:xfrm>
            <a:off x="9218066" y="1691640"/>
            <a:ext cx="2194560" cy="411480"/>
          </a:xfrm>
          <a:prstGeom prst="rect">
            <a:avLst/>
          </a:prstGeom>
          <a:noFill/>
          <a:ln/>
        </p:spPr>
        <p:txBody>
          <a:bodyPr wrap="square" lIns="0" tIns="0" rIns="0" bIns="0" rtlCol="0" anchor="t"/>
          <a:lstStyle/>
          <a:p>
            <a:pPr marL="0" indent="0">
              <a:buNone/>
            </a:pPr>
            <a:r>
              <a:rPr lang="en-US" sz="2400" b="1" dirty="0">
                <a:solidFill>
                  <a:schemeClr val="tx1"/>
                </a:solidFill>
              </a:rPr>
              <a:t>Sprint 3</a:t>
            </a:r>
            <a:endParaRPr lang="en-US" sz="2400" dirty="0"/>
          </a:p>
        </p:txBody>
      </p:sp>
      <p:sp>
        <p:nvSpPr>
          <p:cNvPr id="24" name="Text 21"/>
          <p:cNvSpPr txBox="1"/>
          <p:nvPr/>
        </p:nvSpPr>
        <p:spPr>
          <a:xfrm>
            <a:off x="9218066" y="2286000"/>
            <a:ext cx="2240280" cy="640080"/>
          </a:xfrm>
          <a:prstGeom prst="rect">
            <a:avLst/>
          </a:prstGeom>
          <a:noFill/>
          <a:ln/>
        </p:spPr>
        <p:txBody>
          <a:bodyPr wrap="square" lIns="0" tIns="0" rIns="0" bIns="0" rtlCol="0" anchor="t"/>
          <a:lstStyle/>
          <a:p>
            <a:pPr marL="0" indent="0">
              <a:buNone/>
            </a:pPr>
            <a:r>
              <a:rPr lang="en-US" sz="1600" b="1" dirty="0">
                <a:solidFill>
                  <a:schemeClr val="accent1"/>
                </a:solidFill>
              </a:rPr>
              <a:t>Governance, lineage and analytics</a:t>
            </a:r>
            <a:endParaRPr lang="en-US" sz="1600" dirty="0"/>
          </a:p>
        </p:txBody>
      </p:sp>
      <p:sp>
        <p:nvSpPr>
          <p:cNvPr id="25" name="Text 22"/>
          <p:cNvSpPr txBox="1"/>
          <p:nvPr/>
        </p:nvSpPr>
        <p:spPr>
          <a:xfrm>
            <a:off x="9218066" y="3063240"/>
            <a:ext cx="2240280" cy="1005840"/>
          </a:xfrm>
          <a:prstGeom prst="rect">
            <a:avLst/>
          </a:prstGeom>
          <a:noFill/>
          <a:ln/>
        </p:spPr>
        <p:txBody>
          <a:bodyPr wrap="square" lIns="0" tIns="0" rIns="0" bIns="0" rtlCol="0" anchor="t"/>
          <a:lstStyle/>
          <a:p>
            <a:pPr marL="0" indent="0">
              <a:buNone/>
            </a:pPr>
            <a:r>
              <a:rPr lang="en-US" sz="1400" dirty="0">
                <a:solidFill>
                  <a:schemeClr val="tx2"/>
                </a:solidFill>
              </a:rPr>
              <a:t>Make the platform traceable, checked and ready for reporting.</a:t>
            </a:r>
            <a:endParaRPr lang="en-US" sz="1400" dirty="0"/>
          </a:p>
        </p:txBody>
      </p:sp>
      <p:sp>
        <p:nvSpPr>
          <p:cNvPr id="26" name="Text 23"/>
          <p:cNvSpPr txBox="1"/>
          <p:nvPr/>
        </p:nvSpPr>
        <p:spPr>
          <a:xfrm>
            <a:off x="9218066" y="4206240"/>
            <a:ext cx="2240280" cy="274320"/>
          </a:xfrm>
          <a:prstGeom prst="rect">
            <a:avLst/>
          </a:prstGeom>
          <a:noFill/>
          <a:ln/>
        </p:spPr>
        <p:txBody>
          <a:bodyPr wrap="square" lIns="0" tIns="0" rIns="0" bIns="0" rtlCol="0" anchor="t"/>
          <a:lstStyle/>
          <a:p>
            <a:pPr marL="0" indent="0">
              <a:buNone/>
            </a:pPr>
            <a:r>
              <a:rPr lang="en-US" sz="1400" b="1" dirty="0">
                <a:solidFill>
                  <a:schemeClr val="tx1"/>
                </a:solidFill>
              </a:rPr>
              <a:t>Key deliverables</a:t>
            </a:r>
            <a:endParaRPr lang="en-US" sz="1400" dirty="0"/>
          </a:p>
        </p:txBody>
      </p:sp>
      <p:sp>
        <p:nvSpPr>
          <p:cNvPr id="27" name="Text 24"/>
          <p:cNvSpPr txBox="1"/>
          <p:nvPr/>
        </p:nvSpPr>
        <p:spPr>
          <a:xfrm>
            <a:off x="9218066" y="4526280"/>
            <a:ext cx="2240280" cy="137160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chemeClr val="tx1"/>
                </a:solidFill>
              </a:rPr>
              <a:t>Pentaho jobs and audit log</a:t>
            </a:r>
            <a:endParaRPr lang="en-US" sz="1400" dirty="0"/>
          </a:p>
          <a:p>
            <a:pPr marL="203200" indent="-203200">
              <a:spcAft>
                <a:spcPts val="400"/>
              </a:spcAft>
              <a:buSzPct val="100000"/>
              <a:buChar char="•"/>
            </a:pPr>
            <a:r>
              <a:rPr lang="en-US" sz="1400" dirty="0">
                <a:solidFill>
                  <a:schemeClr val="tx1"/>
                </a:solidFill>
              </a:rPr>
              <a:t>Mapping, lineage, glossary</a:t>
            </a:r>
            <a:endParaRPr lang="en-US" sz="1400" dirty="0"/>
          </a:p>
          <a:p>
            <a:pPr marL="203200" indent="-203200">
              <a:spcAft>
                <a:spcPts val="400"/>
              </a:spcAft>
              <a:buSzPct val="100000"/>
              <a:buChar char="•"/>
            </a:pPr>
            <a:r>
              <a:rPr lang="en-US" sz="1400" dirty="0">
                <a:solidFill>
                  <a:schemeClr val="tx1"/>
                </a:solidFill>
              </a:rPr>
              <a:t>Quality checks, Tableau dashboards</a:t>
            </a:r>
            <a:endParaRPr lang="en-US" sz="1400" dirty="0"/>
          </a:p>
        </p:txBody>
      </p:sp>
      <p:sp>
        <p:nvSpPr>
          <p:cNvPr id="2"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365760"/>
            <a:ext cx="10149840" cy="777240"/>
          </a:xfrm>
          <a:prstGeom prst="rect">
            <a:avLst/>
          </a:prstGeom>
          <a:noFill/>
          <a:ln/>
        </p:spPr>
        <p:txBody>
          <a:bodyPr wrap="square" lIns="0" tIns="0" rIns="0" bIns="0" rtlCol="0" anchor="ctr"/>
          <a:lstStyle/>
          <a:p>
            <a:pPr marL="0" indent="0" algn="l">
              <a:buNone/>
            </a:pPr>
            <a:r>
              <a:rPr lang="en-US" sz="3600" b="1" dirty="0">
                <a:solidFill>
                  <a:schemeClr val="tx1"/>
                </a:solidFill>
              </a:rPr>
              <a:t>Sprint 0: initiation and architecture</a:t>
            </a:r>
            <a:endParaRPr lang="en-US" sz="3600" dirty="0"/>
          </a:p>
        </p:txBody>
      </p:sp>
      <p:sp>
        <p:nvSpPr>
          <p:cNvPr id="4" name="Objective banner"/>
          <p:cNvSpPr/>
          <p:nvPr/>
        </p:nvSpPr>
        <p:spPr>
          <a:xfrm>
            <a:off x="548640" y="1417320"/>
            <a:ext cx="11091672" cy="777240"/>
          </a:xfrm>
          <a:prstGeom prst="rect">
            <a:avLst/>
          </a:prstGeom>
          <a:solidFill>
            <a:schemeClr val="tx1"/>
          </a:solidFill>
          <a:ln w="12700">
            <a:solidFill>
              <a:schemeClr val="bg2"/>
            </a:solidFill>
            <a:prstDash val="solid"/>
          </a:ln>
        </p:spPr>
      </p:sp>
      <p:sp>
        <p:nvSpPr>
          <p:cNvPr id="5" name="Text 2"/>
          <p:cNvSpPr txBox="1"/>
          <p:nvPr/>
        </p:nvSpPr>
        <p:spPr>
          <a:xfrm>
            <a:off x="822960" y="1417320"/>
            <a:ext cx="10515600" cy="777240"/>
          </a:xfrm>
          <a:prstGeom prst="rect">
            <a:avLst/>
          </a:prstGeom>
          <a:noFill/>
          <a:ln/>
        </p:spPr>
        <p:txBody>
          <a:bodyPr wrap="square" lIns="0" tIns="0" rIns="0" bIns="0" rtlCol="0" anchor="ctr"/>
          <a:lstStyle/>
          <a:p>
            <a:pPr marL="0" indent="0">
              <a:buNone/>
            </a:pPr>
            <a:r>
              <a:rPr lang="en-US" sz="1800" b="1" dirty="0">
                <a:solidFill>
                  <a:schemeClr val="bg1"/>
                </a:solidFill>
              </a:rPr>
              <a:t>Objective: understand the ERP ecosystem and prepare the project plan before development begins.</a:t>
            </a:r>
            <a:endParaRPr lang="en-US" sz="1800" dirty="0"/>
          </a:p>
        </p:txBody>
      </p:sp>
      <p:sp>
        <p:nvSpPr>
          <p:cNvPr id="6" name="Text 3"/>
          <p:cNvSpPr txBox="1"/>
          <p:nvPr/>
        </p:nvSpPr>
        <p:spPr>
          <a:xfrm>
            <a:off x="548640" y="2468880"/>
            <a:ext cx="5486400" cy="365760"/>
          </a:xfrm>
          <a:prstGeom prst="rect">
            <a:avLst/>
          </a:prstGeom>
          <a:noFill/>
          <a:ln/>
        </p:spPr>
        <p:txBody>
          <a:bodyPr wrap="square" lIns="0" tIns="0" rIns="0" bIns="0" rtlCol="0" anchor="t"/>
          <a:lstStyle/>
          <a:p>
            <a:pPr marL="0" indent="0">
              <a:buNone/>
            </a:pPr>
            <a:r>
              <a:rPr lang="en-US" sz="2000" b="1" dirty="0">
                <a:solidFill>
                  <a:schemeClr val="accent1"/>
                </a:solidFill>
              </a:rPr>
              <a:t>What we did</a:t>
            </a:r>
            <a:endParaRPr lang="en-US" sz="2000" dirty="0"/>
          </a:p>
        </p:txBody>
      </p:sp>
      <p:sp>
        <p:nvSpPr>
          <p:cNvPr id="7" name="Tasks card"/>
          <p:cNvSpPr/>
          <p:nvPr/>
        </p:nvSpPr>
        <p:spPr>
          <a:xfrm>
            <a:off x="548640" y="2880360"/>
            <a:ext cx="5943600" cy="3154680"/>
          </a:xfrm>
          <a:prstGeom prst="rect">
            <a:avLst/>
          </a:prstGeom>
          <a:solidFill>
            <a:schemeClr val="bg2"/>
          </a:solidFill>
          <a:ln w="12700">
            <a:solidFill>
              <a:schemeClr val="bg2"/>
            </a:solidFill>
            <a:prstDash val="solid"/>
          </a:ln>
        </p:spPr>
      </p:sp>
      <p:sp>
        <p:nvSpPr>
          <p:cNvPr id="8" name="Text 5"/>
          <p:cNvSpPr txBox="1"/>
          <p:nvPr/>
        </p:nvSpPr>
        <p:spPr>
          <a:xfrm>
            <a:off x="777240" y="3017520"/>
            <a:ext cx="5486400" cy="2926080"/>
          </a:xfrm>
          <a:prstGeom prst="rect">
            <a:avLst/>
          </a:prstGeom>
          <a:noFill/>
          <a:ln/>
        </p:spPr>
        <p:txBody>
          <a:bodyPr wrap="square" lIns="0" tIns="0" rIns="0" bIns="0" rtlCol="0" anchor="t"/>
          <a:lstStyle/>
          <a:p>
            <a:pPr marL="203200" indent="-203200">
              <a:spcAft>
                <a:spcPts val="500"/>
              </a:spcAft>
              <a:buSzPct val="100000"/>
              <a:buChar char="•"/>
            </a:pPr>
            <a:r>
              <a:rPr lang="en-US" sz="1600" dirty="0">
                <a:solidFill>
                  <a:schemeClr val="tx1"/>
                </a:solidFill>
              </a:rPr>
              <a:t>Study the ERP business processes</a:t>
            </a:r>
            <a:endParaRPr lang="en-US" sz="1600" dirty="0"/>
          </a:p>
          <a:p>
            <a:pPr marL="203200" indent="-203200">
              <a:spcAft>
                <a:spcPts val="500"/>
              </a:spcAft>
              <a:buSzPct val="100000"/>
              <a:buChar char="•"/>
            </a:pPr>
            <a:r>
              <a:rPr lang="en-US" sz="1600" dirty="0">
                <a:solidFill>
                  <a:schemeClr val="tx1"/>
                </a:solidFill>
              </a:rPr>
              <a:t>Identify business stakeholders</a:t>
            </a:r>
            <a:endParaRPr lang="en-US" sz="1600" dirty="0"/>
          </a:p>
          <a:p>
            <a:pPr marL="203200" indent="-203200">
              <a:spcAft>
                <a:spcPts val="500"/>
              </a:spcAft>
              <a:buSzPct val="100000"/>
              <a:buChar char="•"/>
            </a:pPr>
            <a:r>
              <a:rPr lang="en-US" sz="1600" dirty="0">
                <a:solidFill>
                  <a:schemeClr val="tx1"/>
                </a:solidFill>
              </a:rPr>
              <a:t>Prepare the Business Requirement Document</a:t>
            </a:r>
            <a:endParaRPr lang="en-US" sz="1600" dirty="0"/>
          </a:p>
          <a:p>
            <a:pPr marL="203200" indent="-203200">
              <a:spcAft>
                <a:spcPts val="500"/>
              </a:spcAft>
              <a:buSzPct val="100000"/>
              <a:buChar char="•"/>
            </a:pPr>
            <a:r>
              <a:rPr lang="en-US" sz="1600" dirty="0">
                <a:solidFill>
                  <a:schemeClr val="tx1"/>
                </a:solidFill>
              </a:rPr>
              <a:t>Identify the ERP data sources</a:t>
            </a:r>
            <a:endParaRPr lang="en-US" sz="1600" dirty="0"/>
          </a:p>
          <a:p>
            <a:pPr marL="203200" indent="-203200">
              <a:spcAft>
                <a:spcPts val="500"/>
              </a:spcAft>
              <a:buSzPct val="100000"/>
              <a:buChar char="•"/>
            </a:pPr>
            <a:r>
              <a:rPr lang="en-US" sz="1600" dirty="0">
                <a:solidFill>
                  <a:schemeClr val="tx1"/>
                </a:solidFill>
              </a:rPr>
              <a:t>Define the project scope</a:t>
            </a:r>
            <a:endParaRPr lang="en-US" sz="1600" dirty="0"/>
          </a:p>
          <a:p>
            <a:pPr marL="203200" indent="-203200">
              <a:spcAft>
                <a:spcPts val="500"/>
              </a:spcAft>
              <a:buSzPct val="100000"/>
              <a:buChar char="•"/>
            </a:pPr>
            <a:r>
              <a:rPr lang="en-US" sz="1600" dirty="0">
                <a:solidFill>
                  <a:schemeClr val="tx1"/>
                </a:solidFill>
              </a:rPr>
              <a:t>Design the high-level architecture</a:t>
            </a:r>
            <a:endParaRPr lang="en-US" sz="1600" dirty="0"/>
          </a:p>
          <a:p>
            <a:pPr marL="203200" indent="-203200">
              <a:spcAft>
                <a:spcPts val="500"/>
              </a:spcAft>
              <a:buSzPct val="100000"/>
              <a:buChar char="•"/>
            </a:pPr>
            <a:r>
              <a:rPr lang="en-US" sz="1600" dirty="0">
                <a:solidFill>
                  <a:schemeClr val="tx1"/>
                </a:solidFill>
              </a:rPr>
              <a:t>Create the Git repository and enterprise folder structure</a:t>
            </a:r>
            <a:endParaRPr lang="en-US" sz="1600" dirty="0"/>
          </a:p>
          <a:p>
            <a:pPr marL="203200" indent="-203200">
              <a:spcAft>
                <a:spcPts val="500"/>
              </a:spcAft>
              <a:buSzPct val="100000"/>
              <a:buChar char="•"/>
            </a:pPr>
            <a:r>
              <a:rPr lang="en-US" sz="1600" dirty="0">
                <a:solidFill>
                  <a:schemeClr val="tx1"/>
                </a:solidFill>
              </a:rPr>
              <a:t>Prepare the product backlog</a:t>
            </a:r>
            <a:endParaRPr lang="en-US" sz="1600" dirty="0"/>
          </a:p>
        </p:txBody>
      </p:sp>
      <p:sp>
        <p:nvSpPr>
          <p:cNvPr id="9" name="Text 6"/>
          <p:cNvSpPr txBox="1"/>
          <p:nvPr/>
        </p:nvSpPr>
        <p:spPr>
          <a:xfrm>
            <a:off x="6812280" y="2468880"/>
            <a:ext cx="4572000" cy="365760"/>
          </a:xfrm>
          <a:prstGeom prst="rect">
            <a:avLst/>
          </a:prstGeom>
          <a:noFill/>
          <a:ln/>
        </p:spPr>
        <p:txBody>
          <a:bodyPr wrap="square" lIns="0" tIns="0" rIns="0" bIns="0" rtlCol="0" anchor="t"/>
          <a:lstStyle/>
          <a:p>
            <a:pPr marL="0" indent="0">
              <a:buNone/>
            </a:pPr>
            <a:r>
              <a:rPr lang="en-US" sz="2000" b="1" dirty="0">
                <a:solidFill>
                  <a:schemeClr val="accent1"/>
                </a:solidFill>
              </a:rPr>
              <a:t>Deliverables</a:t>
            </a:r>
            <a:endParaRPr lang="en-US" sz="2000" dirty="0"/>
          </a:p>
        </p:txBody>
      </p:sp>
      <p:sp>
        <p:nvSpPr>
          <p:cNvPr id="10" name="Deliverable row"/>
          <p:cNvSpPr/>
          <p:nvPr/>
        </p:nvSpPr>
        <p:spPr>
          <a:xfrm>
            <a:off x="6812280" y="2880360"/>
            <a:ext cx="4828032" cy="566928"/>
          </a:xfrm>
          <a:prstGeom prst="rect">
            <a:avLst/>
          </a:prstGeom>
          <a:solidFill>
            <a:schemeClr val="bg2"/>
          </a:solidFill>
          <a:ln w="12700">
            <a:solidFill>
              <a:schemeClr val="bg2"/>
            </a:solidFill>
            <a:prstDash val="solid"/>
          </a:ln>
        </p:spPr>
      </p:sp>
      <p:sp>
        <p:nvSpPr>
          <p:cNvPr id="11" name="Shape 8"/>
          <p:cNvSpPr/>
          <p:nvPr/>
        </p:nvSpPr>
        <p:spPr>
          <a:xfrm>
            <a:off x="6922008" y="2958084"/>
            <a:ext cx="411480" cy="411480"/>
          </a:xfrm>
          <a:prstGeom prst="ellipse">
            <a:avLst/>
          </a:prstGeom>
          <a:solidFill>
            <a:srgbClr val="0F766E"/>
          </a:solidFill>
          <a:ln w="12700">
            <a:solidFill>
              <a:srgbClr val="0F766E"/>
            </a:solidFill>
            <a:prstDash val="solid"/>
          </a:ln>
        </p:spPr>
      </p:sp>
      <p:pic>
        <p:nvPicPr>
          <p:cNvPr id="12" name="Image 0" descr="preencoded.png"/>
          <p:cNvPicPr>
            <a:picLocks noChangeAspect="1"/>
          </p:cNvPicPr>
          <p:nvPr/>
        </p:nvPicPr>
        <p:blipFill>
          <a:blip r:embed="rId3"/>
          <a:stretch>
            <a:fillRect/>
          </a:stretch>
        </p:blipFill>
        <p:spPr>
          <a:xfrm>
            <a:off x="7028993" y="3065069"/>
            <a:ext cx="197510" cy="197510"/>
          </a:xfrm>
          <a:prstGeom prst="rect">
            <a:avLst/>
          </a:prstGeom>
        </p:spPr>
      </p:pic>
      <p:sp>
        <p:nvSpPr>
          <p:cNvPr id="13" name="Text 9"/>
          <p:cNvSpPr txBox="1"/>
          <p:nvPr/>
        </p:nvSpPr>
        <p:spPr>
          <a:xfrm>
            <a:off x="7498080" y="2916936"/>
            <a:ext cx="4023360" cy="256032"/>
          </a:xfrm>
          <a:prstGeom prst="rect">
            <a:avLst/>
          </a:prstGeom>
          <a:noFill/>
          <a:ln/>
        </p:spPr>
        <p:txBody>
          <a:bodyPr wrap="square" lIns="0" tIns="0" rIns="0" bIns="0" rtlCol="0" anchor="t"/>
          <a:lstStyle/>
          <a:p>
            <a:pPr marL="0" indent="0">
              <a:buNone/>
            </a:pPr>
            <a:r>
              <a:rPr lang="en-US" sz="1400" b="1" dirty="0">
                <a:solidFill>
                  <a:schemeClr val="tx1"/>
                </a:solidFill>
              </a:rPr>
              <a:t>BRD</a:t>
            </a:r>
            <a:endParaRPr lang="en-US" sz="1400" dirty="0"/>
          </a:p>
        </p:txBody>
      </p:sp>
      <p:sp>
        <p:nvSpPr>
          <p:cNvPr id="14" name="Text 10"/>
          <p:cNvSpPr txBox="1"/>
          <p:nvPr/>
        </p:nvSpPr>
        <p:spPr>
          <a:xfrm>
            <a:off x="7498080" y="3182112"/>
            <a:ext cx="4023360" cy="228600"/>
          </a:xfrm>
          <a:prstGeom prst="rect">
            <a:avLst/>
          </a:prstGeom>
          <a:noFill/>
          <a:ln/>
        </p:spPr>
        <p:txBody>
          <a:bodyPr wrap="square" lIns="0" tIns="0" rIns="0" bIns="0" rtlCol="0" anchor="t"/>
          <a:lstStyle/>
          <a:p>
            <a:pPr marL="0" indent="0">
              <a:buNone/>
            </a:pPr>
            <a:r>
              <a:rPr lang="en-US" sz="1200" dirty="0">
                <a:solidFill>
                  <a:schemeClr val="tx2"/>
                </a:solidFill>
              </a:rPr>
              <a:t>docs/BRD.md</a:t>
            </a:r>
            <a:endParaRPr lang="en-US" sz="1200" dirty="0"/>
          </a:p>
        </p:txBody>
      </p:sp>
      <p:sp>
        <p:nvSpPr>
          <p:cNvPr id="15" name="Deliverable row"/>
          <p:cNvSpPr/>
          <p:nvPr/>
        </p:nvSpPr>
        <p:spPr>
          <a:xfrm>
            <a:off x="6812280" y="3538728"/>
            <a:ext cx="4828032" cy="566928"/>
          </a:xfrm>
          <a:prstGeom prst="rect">
            <a:avLst/>
          </a:prstGeom>
          <a:solidFill>
            <a:schemeClr val="bg2"/>
          </a:solidFill>
          <a:ln w="12700">
            <a:solidFill>
              <a:schemeClr val="bg2"/>
            </a:solidFill>
            <a:prstDash val="solid"/>
          </a:ln>
        </p:spPr>
      </p:sp>
      <p:sp>
        <p:nvSpPr>
          <p:cNvPr id="16" name="Shape 12"/>
          <p:cNvSpPr/>
          <p:nvPr/>
        </p:nvSpPr>
        <p:spPr>
          <a:xfrm>
            <a:off x="6922008" y="3616452"/>
            <a:ext cx="411480" cy="411480"/>
          </a:xfrm>
          <a:prstGeom prst="ellipse">
            <a:avLst/>
          </a:prstGeom>
          <a:solidFill>
            <a:srgbClr val="0F766E"/>
          </a:solidFill>
          <a:ln w="12700">
            <a:solidFill>
              <a:srgbClr val="0F766E"/>
            </a:solidFill>
            <a:prstDash val="solid"/>
          </a:ln>
        </p:spPr>
      </p:sp>
      <p:pic>
        <p:nvPicPr>
          <p:cNvPr id="17" name="Image 1" descr="preencoded.png"/>
          <p:cNvPicPr>
            <a:picLocks noChangeAspect="1"/>
          </p:cNvPicPr>
          <p:nvPr/>
        </p:nvPicPr>
        <p:blipFill>
          <a:blip r:embed="rId4"/>
          <a:stretch>
            <a:fillRect/>
          </a:stretch>
        </p:blipFill>
        <p:spPr>
          <a:xfrm>
            <a:off x="7028993" y="3723437"/>
            <a:ext cx="197510" cy="197510"/>
          </a:xfrm>
          <a:prstGeom prst="rect">
            <a:avLst/>
          </a:prstGeom>
        </p:spPr>
      </p:pic>
      <p:sp>
        <p:nvSpPr>
          <p:cNvPr id="18" name="Text 13"/>
          <p:cNvSpPr txBox="1"/>
          <p:nvPr/>
        </p:nvSpPr>
        <p:spPr>
          <a:xfrm>
            <a:off x="7498080" y="3575304"/>
            <a:ext cx="4023360" cy="256032"/>
          </a:xfrm>
          <a:prstGeom prst="rect">
            <a:avLst/>
          </a:prstGeom>
          <a:noFill/>
          <a:ln/>
        </p:spPr>
        <p:txBody>
          <a:bodyPr wrap="square" lIns="0" tIns="0" rIns="0" bIns="0" rtlCol="0" anchor="t"/>
          <a:lstStyle/>
          <a:p>
            <a:pPr marL="0" indent="0">
              <a:buNone/>
            </a:pPr>
            <a:r>
              <a:rPr lang="en-US" sz="1400" b="1" dirty="0">
                <a:solidFill>
                  <a:schemeClr val="tx1"/>
                </a:solidFill>
              </a:rPr>
              <a:t>Solution Architecture</a:t>
            </a:r>
            <a:endParaRPr lang="en-US" sz="1400" dirty="0"/>
          </a:p>
        </p:txBody>
      </p:sp>
      <p:sp>
        <p:nvSpPr>
          <p:cNvPr id="19" name="Text 14"/>
          <p:cNvSpPr txBox="1"/>
          <p:nvPr/>
        </p:nvSpPr>
        <p:spPr>
          <a:xfrm>
            <a:off x="7498080" y="3840480"/>
            <a:ext cx="4023360" cy="228600"/>
          </a:xfrm>
          <a:prstGeom prst="rect">
            <a:avLst/>
          </a:prstGeom>
          <a:noFill/>
          <a:ln/>
        </p:spPr>
        <p:txBody>
          <a:bodyPr wrap="square" lIns="0" tIns="0" rIns="0" bIns="0" rtlCol="0" anchor="t"/>
          <a:lstStyle/>
          <a:p>
            <a:pPr marL="0" indent="0">
              <a:buNone/>
            </a:pPr>
            <a:r>
              <a:rPr lang="en-US" sz="1200" dirty="0">
                <a:solidFill>
                  <a:schemeClr val="tx2"/>
                </a:solidFill>
              </a:rPr>
              <a:t>docs/architecture.md</a:t>
            </a:r>
            <a:endParaRPr lang="en-US" sz="1200" dirty="0"/>
          </a:p>
        </p:txBody>
      </p:sp>
      <p:sp>
        <p:nvSpPr>
          <p:cNvPr id="20" name="Deliverable row"/>
          <p:cNvSpPr/>
          <p:nvPr/>
        </p:nvSpPr>
        <p:spPr>
          <a:xfrm>
            <a:off x="6812280" y="4197096"/>
            <a:ext cx="4828032" cy="566928"/>
          </a:xfrm>
          <a:prstGeom prst="rect">
            <a:avLst/>
          </a:prstGeom>
          <a:solidFill>
            <a:schemeClr val="bg2"/>
          </a:solidFill>
          <a:ln w="12700">
            <a:solidFill>
              <a:schemeClr val="bg2"/>
            </a:solidFill>
            <a:prstDash val="solid"/>
          </a:ln>
        </p:spPr>
      </p:sp>
      <p:sp>
        <p:nvSpPr>
          <p:cNvPr id="21" name="Shape 16"/>
          <p:cNvSpPr/>
          <p:nvPr/>
        </p:nvSpPr>
        <p:spPr>
          <a:xfrm>
            <a:off x="6922008" y="4274820"/>
            <a:ext cx="411480" cy="411480"/>
          </a:xfrm>
          <a:prstGeom prst="ellipse">
            <a:avLst/>
          </a:prstGeom>
          <a:solidFill>
            <a:srgbClr val="0F766E"/>
          </a:solidFill>
          <a:ln w="12700">
            <a:solidFill>
              <a:srgbClr val="0F766E"/>
            </a:solidFill>
            <a:prstDash val="solid"/>
          </a:ln>
        </p:spPr>
      </p:sp>
      <p:pic>
        <p:nvPicPr>
          <p:cNvPr id="22" name="Image 2" descr="preencoded.png"/>
          <p:cNvPicPr>
            <a:picLocks noChangeAspect="1"/>
          </p:cNvPicPr>
          <p:nvPr/>
        </p:nvPicPr>
        <p:blipFill>
          <a:blip r:embed="rId5"/>
          <a:stretch>
            <a:fillRect/>
          </a:stretch>
        </p:blipFill>
        <p:spPr>
          <a:xfrm>
            <a:off x="7028993" y="4381805"/>
            <a:ext cx="197510" cy="197510"/>
          </a:xfrm>
          <a:prstGeom prst="rect">
            <a:avLst/>
          </a:prstGeom>
        </p:spPr>
      </p:pic>
      <p:sp>
        <p:nvSpPr>
          <p:cNvPr id="23" name="Text 17"/>
          <p:cNvSpPr txBox="1"/>
          <p:nvPr/>
        </p:nvSpPr>
        <p:spPr>
          <a:xfrm>
            <a:off x="7498080" y="4233672"/>
            <a:ext cx="4023360" cy="256032"/>
          </a:xfrm>
          <a:prstGeom prst="rect">
            <a:avLst/>
          </a:prstGeom>
          <a:noFill/>
          <a:ln/>
        </p:spPr>
        <p:txBody>
          <a:bodyPr wrap="square" lIns="0" tIns="0" rIns="0" bIns="0" rtlCol="0" anchor="t"/>
          <a:lstStyle/>
          <a:p>
            <a:pPr marL="0" indent="0">
              <a:buNone/>
            </a:pPr>
            <a:r>
              <a:rPr lang="en-US" sz="1400" b="1" dirty="0">
                <a:solidFill>
                  <a:schemeClr val="tx1"/>
                </a:solidFill>
              </a:rPr>
              <a:t>Git Repository</a:t>
            </a:r>
            <a:endParaRPr lang="en-US" sz="1400" dirty="0"/>
          </a:p>
        </p:txBody>
      </p:sp>
      <p:sp>
        <p:nvSpPr>
          <p:cNvPr id="24" name="Text 18"/>
          <p:cNvSpPr txBox="1"/>
          <p:nvPr/>
        </p:nvSpPr>
        <p:spPr>
          <a:xfrm>
            <a:off x="7498080" y="4498848"/>
            <a:ext cx="4023360" cy="228600"/>
          </a:xfrm>
          <a:prstGeom prst="rect">
            <a:avLst/>
          </a:prstGeom>
          <a:noFill/>
          <a:ln/>
        </p:spPr>
        <p:txBody>
          <a:bodyPr wrap="square" lIns="0" tIns="0" rIns="0" bIns="0" rtlCol="0" anchor="t"/>
          <a:lstStyle/>
          <a:p>
            <a:pPr marL="0" indent="0">
              <a:buNone/>
            </a:pPr>
            <a:r>
              <a:rPr lang="en-US" sz="1200" dirty="0">
                <a:solidFill>
                  <a:schemeClr val="tx2"/>
                </a:solidFill>
              </a:rPr>
              <a:t>github.com/7-Kaviya/Data-Engineering-UC15</a:t>
            </a:r>
            <a:endParaRPr lang="en-US" sz="1200" dirty="0"/>
          </a:p>
        </p:txBody>
      </p:sp>
      <p:sp>
        <p:nvSpPr>
          <p:cNvPr id="25" name="Deliverable row"/>
          <p:cNvSpPr/>
          <p:nvPr/>
        </p:nvSpPr>
        <p:spPr>
          <a:xfrm>
            <a:off x="6812280" y="4855464"/>
            <a:ext cx="4828032" cy="566928"/>
          </a:xfrm>
          <a:prstGeom prst="rect">
            <a:avLst/>
          </a:prstGeom>
          <a:solidFill>
            <a:schemeClr val="bg2"/>
          </a:solidFill>
          <a:ln w="12700">
            <a:solidFill>
              <a:schemeClr val="bg2"/>
            </a:solidFill>
            <a:prstDash val="solid"/>
          </a:ln>
        </p:spPr>
      </p:sp>
      <p:sp>
        <p:nvSpPr>
          <p:cNvPr id="26" name="Shape 20"/>
          <p:cNvSpPr/>
          <p:nvPr/>
        </p:nvSpPr>
        <p:spPr>
          <a:xfrm>
            <a:off x="6922008" y="4933188"/>
            <a:ext cx="411480" cy="411480"/>
          </a:xfrm>
          <a:prstGeom prst="ellipse">
            <a:avLst/>
          </a:prstGeom>
          <a:solidFill>
            <a:srgbClr val="0F766E"/>
          </a:solidFill>
          <a:ln w="12700">
            <a:solidFill>
              <a:srgbClr val="0F766E"/>
            </a:solidFill>
            <a:prstDash val="solid"/>
          </a:ln>
        </p:spPr>
      </p:sp>
      <p:pic>
        <p:nvPicPr>
          <p:cNvPr id="27" name="Image 3" descr="preencoded.png"/>
          <p:cNvPicPr>
            <a:picLocks noChangeAspect="1"/>
          </p:cNvPicPr>
          <p:nvPr/>
        </p:nvPicPr>
        <p:blipFill>
          <a:blip r:embed="rId6"/>
          <a:stretch>
            <a:fillRect/>
          </a:stretch>
        </p:blipFill>
        <p:spPr>
          <a:xfrm>
            <a:off x="7028993" y="5040173"/>
            <a:ext cx="197510" cy="197510"/>
          </a:xfrm>
          <a:prstGeom prst="rect">
            <a:avLst/>
          </a:prstGeom>
        </p:spPr>
      </p:pic>
      <p:sp>
        <p:nvSpPr>
          <p:cNvPr id="28" name="Text 21"/>
          <p:cNvSpPr txBox="1"/>
          <p:nvPr/>
        </p:nvSpPr>
        <p:spPr>
          <a:xfrm>
            <a:off x="7498080" y="4892040"/>
            <a:ext cx="4023360" cy="256032"/>
          </a:xfrm>
          <a:prstGeom prst="rect">
            <a:avLst/>
          </a:prstGeom>
          <a:noFill/>
          <a:ln/>
        </p:spPr>
        <p:txBody>
          <a:bodyPr wrap="square" lIns="0" tIns="0" rIns="0" bIns="0" rtlCol="0" anchor="t"/>
          <a:lstStyle/>
          <a:p>
            <a:pPr marL="0" indent="0">
              <a:buNone/>
            </a:pPr>
            <a:r>
              <a:rPr lang="en-US" sz="1400" b="1" dirty="0">
                <a:solidFill>
                  <a:schemeClr val="tx1"/>
                </a:solidFill>
              </a:rPr>
              <a:t>Sprint Backlog</a:t>
            </a:r>
            <a:endParaRPr lang="en-US" sz="1400" dirty="0"/>
          </a:p>
        </p:txBody>
      </p:sp>
      <p:sp>
        <p:nvSpPr>
          <p:cNvPr id="29" name="Text 22"/>
          <p:cNvSpPr txBox="1"/>
          <p:nvPr/>
        </p:nvSpPr>
        <p:spPr>
          <a:xfrm>
            <a:off x="7498080" y="5157216"/>
            <a:ext cx="4023360" cy="228600"/>
          </a:xfrm>
          <a:prstGeom prst="rect">
            <a:avLst/>
          </a:prstGeom>
          <a:noFill/>
          <a:ln/>
        </p:spPr>
        <p:txBody>
          <a:bodyPr wrap="square" lIns="0" tIns="0" rIns="0" bIns="0" rtlCol="0" anchor="t"/>
          <a:lstStyle/>
          <a:p>
            <a:pPr marL="0" indent="0">
              <a:buNone/>
            </a:pPr>
            <a:r>
              <a:rPr lang="en-US" sz="1200" dirty="0">
                <a:solidFill>
                  <a:schemeClr val="tx2"/>
                </a:solidFill>
              </a:rPr>
              <a:t>docs/sprint_backlog.md</a:t>
            </a:r>
            <a:endParaRPr lang="en-US" sz="1200" dirty="0"/>
          </a:p>
        </p:txBody>
      </p:sp>
      <p:sp>
        <p:nvSpPr>
          <p:cNvPr id="30" name="Deliverable row"/>
          <p:cNvSpPr/>
          <p:nvPr/>
        </p:nvSpPr>
        <p:spPr>
          <a:xfrm>
            <a:off x="6812280" y="5513832"/>
            <a:ext cx="4828032" cy="566928"/>
          </a:xfrm>
          <a:prstGeom prst="rect">
            <a:avLst/>
          </a:prstGeom>
          <a:solidFill>
            <a:schemeClr val="bg2"/>
          </a:solidFill>
          <a:ln w="12700">
            <a:solidFill>
              <a:schemeClr val="bg2"/>
            </a:solidFill>
            <a:prstDash val="solid"/>
          </a:ln>
        </p:spPr>
      </p:sp>
      <p:sp>
        <p:nvSpPr>
          <p:cNvPr id="31" name="Shape 24"/>
          <p:cNvSpPr/>
          <p:nvPr/>
        </p:nvSpPr>
        <p:spPr>
          <a:xfrm>
            <a:off x="6922008" y="5591556"/>
            <a:ext cx="411480" cy="411480"/>
          </a:xfrm>
          <a:prstGeom prst="ellipse">
            <a:avLst/>
          </a:prstGeom>
          <a:solidFill>
            <a:srgbClr val="0F766E"/>
          </a:solidFill>
          <a:ln w="12700">
            <a:solidFill>
              <a:srgbClr val="0F766E"/>
            </a:solidFill>
            <a:prstDash val="solid"/>
          </a:ln>
        </p:spPr>
      </p:sp>
      <p:pic>
        <p:nvPicPr>
          <p:cNvPr id="32" name="Image 4" descr="preencoded.png"/>
          <p:cNvPicPr>
            <a:picLocks noChangeAspect="1"/>
          </p:cNvPicPr>
          <p:nvPr/>
        </p:nvPicPr>
        <p:blipFill>
          <a:blip r:embed="rId7"/>
          <a:stretch>
            <a:fillRect/>
          </a:stretch>
        </p:blipFill>
        <p:spPr>
          <a:xfrm>
            <a:off x="7028993" y="5698541"/>
            <a:ext cx="197510" cy="197510"/>
          </a:xfrm>
          <a:prstGeom prst="rect">
            <a:avLst/>
          </a:prstGeom>
        </p:spPr>
      </p:pic>
      <p:sp>
        <p:nvSpPr>
          <p:cNvPr id="33" name="Text 25"/>
          <p:cNvSpPr txBox="1"/>
          <p:nvPr/>
        </p:nvSpPr>
        <p:spPr>
          <a:xfrm>
            <a:off x="7498080" y="5550408"/>
            <a:ext cx="4023360" cy="256032"/>
          </a:xfrm>
          <a:prstGeom prst="rect">
            <a:avLst/>
          </a:prstGeom>
          <a:noFill/>
          <a:ln/>
        </p:spPr>
        <p:txBody>
          <a:bodyPr wrap="square" lIns="0" tIns="0" rIns="0" bIns="0" rtlCol="0" anchor="t"/>
          <a:lstStyle/>
          <a:p>
            <a:pPr marL="0" indent="0">
              <a:buNone/>
            </a:pPr>
            <a:r>
              <a:rPr lang="en-US" sz="1400" b="1" dirty="0">
                <a:solidFill>
                  <a:schemeClr val="tx1"/>
                </a:solidFill>
              </a:rPr>
              <a:t>Project Charter</a:t>
            </a:r>
            <a:endParaRPr lang="en-US" sz="1400" dirty="0"/>
          </a:p>
        </p:txBody>
      </p:sp>
      <p:sp>
        <p:nvSpPr>
          <p:cNvPr id="34" name="Text 26"/>
          <p:cNvSpPr txBox="1"/>
          <p:nvPr/>
        </p:nvSpPr>
        <p:spPr>
          <a:xfrm>
            <a:off x="7498080" y="5815584"/>
            <a:ext cx="4023360" cy="228600"/>
          </a:xfrm>
          <a:prstGeom prst="rect">
            <a:avLst/>
          </a:prstGeom>
          <a:noFill/>
          <a:ln/>
        </p:spPr>
        <p:txBody>
          <a:bodyPr wrap="square" lIns="0" tIns="0" rIns="0" bIns="0" rtlCol="0" anchor="t"/>
          <a:lstStyle/>
          <a:p>
            <a:pPr marL="0" indent="0">
              <a:buNone/>
            </a:pPr>
            <a:r>
              <a:rPr lang="en-US" sz="1200" dirty="0">
                <a:solidFill>
                  <a:schemeClr val="tx2"/>
                </a:solidFill>
              </a:rPr>
              <a:t>docs/charter.md</a:t>
            </a:r>
            <a:endParaRPr lang="en-US" sz="1200" dirty="0"/>
          </a:p>
        </p:txBody>
      </p:sp>
      <p:sp>
        <p:nvSpPr>
          <p:cNvPr id="2"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365760"/>
            <a:ext cx="10149840" cy="777240"/>
          </a:xfrm>
          <a:prstGeom prst="rect">
            <a:avLst/>
          </a:prstGeom>
          <a:noFill/>
          <a:ln/>
        </p:spPr>
        <p:txBody>
          <a:bodyPr wrap="square" lIns="0" tIns="0" rIns="0" bIns="0" rtlCol="0" anchor="ctr"/>
          <a:lstStyle/>
          <a:p>
            <a:pPr marL="0" indent="0" algn="l">
              <a:buNone/>
            </a:pPr>
            <a:r>
              <a:rPr lang="en-US" sz="3600" b="1" dirty="0">
                <a:solidFill>
                  <a:schemeClr val="tx1"/>
                </a:solidFill>
              </a:rPr>
              <a:t>Sprint 1: data discovery and ingestion</a:t>
            </a:r>
            <a:endParaRPr lang="en-US" sz="3600" dirty="0"/>
          </a:p>
        </p:txBody>
      </p:sp>
      <p:sp>
        <p:nvSpPr>
          <p:cNvPr id="4" name="Objective banner"/>
          <p:cNvSpPr/>
          <p:nvPr/>
        </p:nvSpPr>
        <p:spPr>
          <a:xfrm>
            <a:off x="548640" y="1417320"/>
            <a:ext cx="11091672" cy="777240"/>
          </a:xfrm>
          <a:prstGeom prst="rect">
            <a:avLst/>
          </a:prstGeom>
          <a:solidFill>
            <a:schemeClr val="tx1"/>
          </a:solidFill>
          <a:ln w="12700">
            <a:solidFill>
              <a:schemeClr val="bg2"/>
            </a:solidFill>
            <a:prstDash val="solid"/>
          </a:ln>
        </p:spPr>
      </p:sp>
      <p:sp>
        <p:nvSpPr>
          <p:cNvPr id="5" name="Text 2"/>
          <p:cNvSpPr txBox="1"/>
          <p:nvPr/>
        </p:nvSpPr>
        <p:spPr>
          <a:xfrm>
            <a:off x="822960" y="1417320"/>
            <a:ext cx="10515600" cy="777240"/>
          </a:xfrm>
          <a:prstGeom prst="rect">
            <a:avLst/>
          </a:prstGeom>
          <a:noFill/>
          <a:ln/>
        </p:spPr>
        <p:txBody>
          <a:bodyPr wrap="square" lIns="0" tIns="0" rIns="0" bIns="0" rtlCol="0" anchor="ctr"/>
          <a:lstStyle/>
          <a:p>
            <a:pPr marL="0" indent="0">
              <a:buNone/>
            </a:pPr>
            <a:r>
              <a:rPr lang="en-US" sz="1800" b="1" dirty="0">
                <a:solidFill>
                  <a:schemeClr val="bg1"/>
                </a:solidFill>
              </a:rPr>
              <a:t>Objective: build the enterprise raw data landing zone by integrating data from multiple ERP modules.</a:t>
            </a:r>
            <a:endParaRPr lang="en-US" sz="1800" dirty="0"/>
          </a:p>
        </p:txBody>
      </p:sp>
      <p:sp>
        <p:nvSpPr>
          <p:cNvPr id="6" name="Text 3"/>
          <p:cNvSpPr/>
          <p:nvPr/>
        </p:nvSpPr>
        <p:spPr>
          <a:xfrm>
            <a:off x="548640" y="2395728"/>
            <a:ext cx="3383280" cy="685800"/>
          </a:xfrm>
          <a:prstGeom prst="rect">
            <a:avLst/>
          </a:prstGeom>
          <a:solidFill>
            <a:srgbClr val="24424D"/>
          </a:solidFill>
          <a:ln/>
        </p:spPr>
        <p:txBody>
          <a:bodyPr wrap="square" lIns="0" tIns="0" rIns="0" bIns="0" rtlCol="0" anchor="ctr"/>
          <a:lstStyle/>
          <a:p>
            <a:pPr marL="0" indent="0" algn="ctr">
              <a:buNone/>
            </a:pPr>
            <a:r>
              <a:rPr lang="en-US" sz="1600" b="1" dirty="0">
                <a:solidFill>
                  <a:schemeClr val="bg1"/>
                </a:solidFill>
              </a:rPr>
              <a:t>CSV · Excel · JSON · XML · SQL</a:t>
            </a:r>
            <a:endParaRPr lang="en-US" sz="1600" dirty="0"/>
          </a:p>
        </p:txBody>
      </p:sp>
      <p:sp>
        <p:nvSpPr>
          <p:cNvPr id="7" name="Shape 4"/>
          <p:cNvSpPr/>
          <p:nvPr/>
        </p:nvSpPr>
        <p:spPr>
          <a:xfrm>
            <a:off x="3931920" y="2743200"/>
            <a:ext cx="457200" cy="0"/>
          </a:xfrm>
          <a:prstGeom prst="line">
            <a:avLst/>
          </a:prstGeom>
          <a:noFill/>
          <a:ln w="25400">
            <a:solidFill>
              <a:srgbClr val="1B2A34"/>
            </a:solidFill>
            <a:prstDash val="solid"/>
            <a:tailEnd type="triangle"/>
          </a:ln>
        </p:spPr>
      </p:sp>
      <p:sp>
        <p:nvSpPr>
          <p:cNvPr id="8" name="Text 5"/>
          <p:cNvSpPr/>
          <p:nvPr/>
        </p:nvSpPr>
        <p:spPr>
          <a:xfrm>
            <a:off x="4389120" y="2395728"/>
            <a:ext cx="3383280" cy="685800"/>
          </a:xfrm>
          <a:prstGeom prst="rect">
            <a:avLst/>
          </a:prstGeom>
          <a:solidFill>
            <a:srgbClr val="24424D"/>
          </a:solidFill>
          <a:ln/>
        </p:spPr>
        <p:txBody>
          <a:bodyPr wrap="square" lIns="0" tIns="0" rIns="0" bIns="0" rtlCol="0" anchor="ctr"/>
          <a:lstStyle/>
          <a:p>
            <a:pPr marL="0" indent="0" algn="ctr">
              <a:buNone/>
            </a:pPr>
            <a:r>
              <a:rPr lang="en-US" sz="1600" b="1" dirty="0">
                <a:solidFill>
                  <a:schemeClr val="bg1"/>
                </a:solidFill>
              </a:rPr>
              <a:t>Pentaho ingestion pipelines</a:t>
            </a:r>
            <a:endParaRPr lang="en-US" sz="1600" dirty="0"/>
          </a:p>
        </p:txBody>
      </p:sp>
      <p:sp>
        <p:nvSpPr>
          <p:cNvPr id="9" name="Shape 6"/>
          <p:cNvSpPr/>
          <p:nvPr/>
        </p:nvSpPr>
        <p:spPr>
          <a:xfrm>
            <a:off x="7772400" y="2743200"/>
            <a:ext cx="457200" cy="0"/>
          </a:xfrm>
          <a:prstGeom prst="line">
            <a:avLst/>
          </a:prstGeom>
          <a:noFill/>
          <a:ln w="25400">
            <a:solidFill>
              <a:srgbClr val="1B2A34"/>
            </a:solidFill>
            <a:prstDash val="solid"/>
            <a:tailEnd type="triangle"/>
          </a:ln>
        </p:spPr>
      </p:sp>
      <p:sp>
        <p:nvSpPr>
          <p:cNvPr id="10" name="Text 7"/>
          <p:cNvSpPr/>
          <p:nvPr/>
        </p:nvSpPr>
        <p:spPr>
          <a:xfrm>
            <a:off x="8229600" y="2395728"/>
            <a:ext cx="3383280" cy="685800"/>
          </a:xfrm>
          <a:prstGeom prst="rect">
            <a:avLst/>
          </a:prstGeom>
          <a:solidFill>
            <a:srgbClr val="B87333"/>
          </a:solidFill>
          <a:ln/>
        </p:spPr>
        <p:txBody>
          <a:bodyPr wrap="square" lIns="0" tIns="0" rIns="0" bIns="0" rtlCol="0" anchor="ctr"/>
          <a:lstStyle/>
          <a:p>
            <a:pPr marL="0" indent="0" algn="ctr">
              <a:buNone/>
            </a:pPr>
            <a:r>
              <a:rPr lang="en-US" sz="1600" b="1" dirty="0">
                <a:solidFill>
                  <a:schemeClr val="bg1"/>
                </a:solidFill>
              </a:rPr>
              <a:t>Staging tables</a:t>
            </a:r>
            <a:endParaRPr lang="en-US" sz="1600" dirty="0"/>
          </a:p>
        </p:txBody>
      </p:sp>
      <p:sp>
        <p:nvSpPr>
          <p:cNvPr id="11" name="Tasks card"/>
          <p:cNvSpPr/>
          <p:nvPr/>
        </p:nvSpPr>
        <p:spPr>
          <a:xfrm>
            <a:off x="548640" y="3429000"/>
            <a:ext cx="5943600" cy="2606040"/>
          </a:xfrm>
          <a:prstGeom prst="rect">
            <a:avLst/>
          </a:prstGeom>
          <a:solidFill>
            <a:schemeClr val="bg2"/>
          </a:solidFill>
          <a:ln w="12700">
            <a:solidFill>
              <a:schemeClr val="bg2"/>
            </a:solidFill>
            <a:prstDash val="solid"/>
          </a:ln>
        </p:spPr>
      </p:sp>
      <p:sp>
        <p:nvSpPr>
          <p:cNvPr id="12" name="Text 9"/>
          <p:cNvSpPr txBox="1"/>
          <p:nvPr/>
        </p:nvSpPr>
        <p:spPr>
          <a:xfrm>
            <a:off x="777240" y="3566160"/>
            <a:ext cx="5486400" cy="2377440"/>
          </a:xfrm>
          <a:prstGeom prst="rect">
            <a:avLst/>
          </a:prstGeom>
          <a:noFill/>
          <a:ln/>
        </p:spPr>
        <p:txBody>
          <a:bodyPr wrap="square" lIns="0" tIns="0" rIns="0" bIns="0" rtlCol="0" anchor="t"/>
          <a:lstStyle/>
          <a:p>
            <a:pPr marL="203200" indent="-203200">
              <a:spcAft>
                <a:spcPts val="500"/>
              </a:spcAft>
              <a:buSzPct val="100000"/>
              <a:buChar char="•"/>
            </a:pPr>
            <a:r>
              <a:rPr lang="en-US" sz="1400" dirty="0">
                <a:solidFill>
                  <a:schemeClr val="tx1"/>
                </a:solidFill>
              </a:rPr>
              <a:t>Analyze the ERP source systems</a:t>
            </a:r>
            <a:endParaRPr lang="en-US" sz="1400" dirty="0"/>
          </a:p>
          <a:p>
            <a:pPr marL="203200" indent="-203200">
              <a:spcAft>
                <a:spcPts val="500"/>
              </a:spcAft>
              <a:buSzPct val="100000"/>
              <a:buChar char="•"/>
            </a:pPr>
            <a:r>
              <a:rPr lang="en-US" sz="1400" dirty="0">
                <a:solidFill>
                  <a:schemeClr val="tx1"/>
                </a:solidFill>
              </a:rPr>
              <a:t>Prepare the Data Dictionary</a:t>
            </a:r>
            <a:endParaRPr lang="en-US" sz="1400" dirty="0"/>
          </a:p>
          <a:p>
            <a:pPr marL="203200" indent="-203200">
              <a:spcAft>
                <a:spcPts val="500"/>
              </a:spcAft>
              <a:buSzPct val="100000"/>
              <a:buChar char="•"/>
            </a:pPr>
            <a:r>
              <a:rPr lang="en-US" sz="1400" dirty="0">
                <a:solidFill>
                  <a:schemeClr val="tx1"/>
                </a:solidFill>
              </a:rPr>
              <a:t>Develop Pentaho transformations to ingest CSV, Excel, JSON, XML and SQL data</a:t>
            </a:r>
            <a:endParaRPr lang="en-US" sz="1400" dirty="0"/>
          </a:p>
          <a:p>
            <a:pPr marL="203200" indent="-203200">
              <a:spcAft>
                <a:spcPts val="500"/>
              </a:spcAft>
              <a:buSzPct val="100000"/>
              <a:buChar char="•"/>
            </a:pPr>
            <a:r>
              <a:rPr lang="en-US" sz="1400" dirty="0">
                <a:solidFill>
                  <a:schemeClr val="tx1"/>
                </a:solidFill>
              </a:rPr>
              <a:t>Load raw ERP data into staging tables</a:t>
            </a:r>
            <a:endParaRPr lang="en-US" sz="1400" dirty="0"/>
          </a:p>
          <a:p>
            <a:pPr marL="203200" indent="-203200">
              <a:spcAft>
                <a:spcPts val="500"/>
              </a:spcAft>
              <a:buSzPct val="100000"/>
              <a:buChar char="•"/>
            </a:pPr>
            <a:r>
              <a:rPr lang="en-US" sz="1400" dirty="0">
                <a:solidFill>
                  <a:schemeClr val="tx1"/>
                </a:solidFill>
              </a:rPr>
              <a:t>Implement basic logging and exception handling</a:t>
            </a:r>
            <a:endParaRPr lang="en-US" sz="1400" dirty="0"/>
          </a:p>
          <a:p>
            <a:pPr marL="203200" indent="-203200">
              <a:spcAft>
                <a:spcPts val="500"/>
              </a:spcAft>
              <a:buSzPct val="100000"/>
              <a:buChar char="•"/>
            </a:pPr>
            <a:r>
              <a:rPr lang="en-US" sz="1400" dirty="0">
                <a:solidFill>
                  <a:schemeClr val="tx1"/>
                </a:solidFill>
              </a:rPr>
              <a:t>Commit code to Git after each successful ingestion</a:t>
            </a:r>
            <a:endParaRPr lang="en-US" sz="1400" dirty="0"/>
          </a:p>
        </p:txBody>
      </p:sp>
      <p:sp>
        <p:nvSpPr>
          <p:cNvPr id="13" name="Deliverable row"/>
          <p:cNvSpPr/>
          <p:nvPr/>
        </p:nvSpPr>
        <p:spPr>
          <a:xfrm>
            <a:off x="6812280" y="3429000"/>
            <a:ext cx="4828032" cy="457200"/>
          </a:xfrm>
          <a:prstGeom prst="rect">
            <a:avLst/>
          </a:prstGeom>
          <a:solidFill>
            <a:schemeClr val="bg2"/>
          </a:solidFill>
          <a:ln w="12700">
            <a:solidFill>
              <a:schemeClr val="bg2"/>
            </a:solidFill>
            <a:prstDash val="solid"/>
          </a:ln>
        </p:spPr>
      </p:sp>
      <p:sp>
        <p:nvSpPr>
          <p:cNvPr id="14" name="Shape 11"/>
          <p:cNvSpPr/>
          <p:nvPr/>
        </p:nvSpPr>
        <p:spPr>
          <a:xfrm>
            <a:off x="6885432" y="3483864"/>
            <a:ext cx="347472" cy="347472"/>
          </a:xfrm>
          <a:prstGeom prst="ellipse">
            <a:avLst/>
          </a:prstGeom>
          <a:solidFill>
            <a:srgbClr val="0F766E"/>
          </a:solidFill>
          <a:ln w="12700">
            <a:solidFill>
              <a:srgbClr val="0F766E"/>
            </a:solidFill>
            <a:prstDash val="solid"/>
          </a:ln>
        </p:spPr>
      </p:sp>
      <p:pic>
        <p:nvPicPr>
          <p:cNvPr id="15" name="Image 0" descr="preencoded.png"/>
          <p:cNvPicPr>
            <a:picLocks noChangeAspect="1"/>
          </p:cNvPicPr>
          <p:nvPr/>
        </p:nvPicPr>
        <p:blipFill>
          <a:blip r:embed="rId3"/>
          <a:stretch>
            <a:fillRect/>
          </a:stretch>
        </p:blipFill>
        <p:spPr>
          <a:xfrm>
            <a:off x="6975775" y="3574207"/>
            <a:ext cx="166787" cy="166787"/>
          </a:xfrm>
          <a:prstGeom prst="rect">
            <a:avLst/>
          </a:prstGeom>
        </p:spPr>
      </p:pic>
      <p:sp>
        <p:nvSpPr>
          <p:cNvPr id="16" name="Text 12"/>
          <p:cNvSpPr txBox="1"/>
          <p:nvPr/>
        </p:nvSpPr>
        <p:spPr>
          <a:xfrm>
            <a:off x="7360920" y="3429000"/>
            <a:ext cx="4206240" cy="457200"/>
          </a:xfrm>
          <a:prstGeom prst="rect">
            <a:avLst/>
          </a:prstGeom>
          <a:noFill/>
          <a:ln/>
        </p:spPr>
        <p:txBody>
          <a:bodyPr wrap="square" lIns="0" tIns="0" rIns="0" bIns="0" rtlCol="0" anchor="ctr"/>
          <a:lstStyle/>
          <a:p>
            <a:pPr marL="0" indent="0">
              <a:buNone/>
            </a:pPr>
            <a:r>
              <a:rPr lang="en-US" sz="1400" b="1" dirty="0">
                <a:solidFill>
                  <a:schemeClr val="tx1"/>
                </a:solidFill>
              </a:rPr>
              <a:t>Source Inventory</a:t>
            </a:r>
            <a:r>
              <a:rPr lang="en-US" sz="1400" dirty="0">
                <a:solidFill>
                  <a:schemeClr val="tx2"/>
                </a:solidFill>
              </a:rPr>
              <a:t>   docs/ and bronze/ingestion/</a:t>
            </a:r>
            <a:endParaRPr lang="en-US" sz="1400" dirty="0"/>
          </a:p>
        </p:txBody>
      </p:sp>
      <p:sp>
        <p:nvSpPr>
          <p:cNvPr id="17" name="Deliverable row"/>
          <p:cNvSpPr/>
          <p:nvPr/>
        </p:nvSpPr>
        <p:spPr>
          <a:xfrm>
            <a:off x="6812280" y="3959352"/>
            <a:ext cx="4828032" cy="457200"/>
          </a:xfrm>
          <a:prstGeom prst="rect">
            <a:avLst/>
          </a:prstGeom>
          <a:solidFill>
            <a:schemeClr val="bg2"/>
          </a:solidFill>
          <a:ln w="12700">
            <a:solidFill>
              <a:schemeClr val="bg2"/>
            </a:solidFill>
            <a:prstDash val="solid"/>
          </a:ln>
        </p:spPr>
      </p:sp>
      <p:sp>
        <p:nvSpPr>
          <p:cNvPr id="18" name="Shape 14"/>
          <p:cNvSpPr/>
          <p:nvPr/>
        </p:nvSpPr>
        <p:spPr>
          <a:xfrm>
            <a:off x="6885432" y="4014216"/>
            <a:ext cx="347472" cy="347472"/>
          </a:xfrm>
          <a:prstGeom prst="ellipse">
            <a:avLst/>
          </a:prstGeom>
          <a:solidFill>
            <a:srgbClr val="0F766E"/>
          </a:solidFill>
          <a:ln w="12700">
            <a:solidFill>
              <a:srgbClr val="0F766E"/>
            </a:solidFill>
            <a:prstDash val="solid"/>
          </a:ln>
        </p:spPr>
      </p:sp>
      <p:pic>
        <p:nvPicPr>
          <p:cNvPr id="19" name="Image 1" descr="preencoded.png"/>
          <p:cNvPicPr>
            <a:picLocks noChangeAspect="1"/>
          </p:cNvPicPr>
          <p:nvPr/>
        </p:nvPicPr>
        <p:blipFill>
          <a:blip r:embed="rId4"/>
          <a:stretch>
            <a:fillRect/>
          </a:stretch>
        </p:blipFill>
        <p:spPr>
          <a:xfrm>
            <a:off x="6975775" y="4104559"/>
            <a:ext cx="166787" cy="166787"/>
          </a:xfrm>
          <a:prstGeom prst="rect">
            <a:avLst/>
          </a:prstGeom>
        </p:spPr>
      </p:pic>
      <p:sp>
        <p:nvSpPr>
          <p:cNvPr id="20" name="Text 15"/>
          <p:cNvSpPr txBox="1"/>
          <p:nvPr/>
        </p:nvSpPr>
        <p:spPr>
          <a:xfrm>
            <a:off x="7360920" y="3959352"/>
            <a:ext cx="4206240" cy="457200"/>
          </a:xfrm>
          <a:prstGeom prst="rect">
            <a:avLst/>
          </a:prstGeom>
          <a:noFill/>
          <a:ln/>
        </p:spPr>
        <p:txBody>
          <a:bodyPr wrap="square" lIns="0" tIns="0" rIns="0" bIns="0" rtlCol="0" anchor="ctr"/>
          <a:lstStyle/>
          <a:p>
            <a:pPr marL="0" indent="0">
              <a:buNone/>
            </a:pPr>
            <a:r>
              <a:rPr lang="en-US" sz="1400" b="1" dirty="0">
                <a:solidFill>
                  <a:schemeClr val="tx1"/>
                </a:solidFill>
              </a:rPr>
              <a:t>Data Dictionary</a:t>
            </a:r>
            <a:r>
              <a:rPr lang="en-US" sz="1400" dirty="0">
                <a:solidFill>
                  <a:schemeClr val="tx2"/>
                </a:solidFill>
              </a:rPr>
              <a:t>   bronze/ingestion/</a:t>
            </a:r>
            <a:endParaRPr lang="en-US" sz="1400" dirty="0"/>
          </a:p>
        </p:txBody>
      </p:sp>
      <p:sp>
        <p:nvSpPr>
          <p:cNvPr id="21" name="Deliverable row"/>
          <p:cNvSpPr/>
          <p:nvPr/>
        </p:nvSpPr>
        <p:spPr>
          <a:xfrm>
            <a:off x="6812280" y="4489704"/>
            <a:ext cx="4828032" cy="457200"/>
          </a:xfrm>
          <a:prstGeom prst="rect">
            <a:avLst/>
          </a:prstGeom>
          <a:solidFill>
            <a:schemeClr val="bg2"/>
          </a:solidFill>
          <a:ln w="12700">
            <a:solidFill>
              <a:schemeClr val="bg2"/>
            </a:solidFill>
            <a:prstDash val="solid"/>
          </a:ln>
        </p:spPr>
      </p:sp>
      <p:sp>
        <p:nvSpPr>
          <p:cNvPr id="22" name="Shape 17"/>
          <p:cNvSpPr/>
          <p:nvPr/>
        </p:nvSpPr>
        <p:spPr>
          <a:xfrm>
            <a:off x="6885432" y="4544568"/>
            <a:ext cx="347472" cy="347472"/>
          </a:xfrm>
          <a:prstGeom prst="ellipse">
            <a:avLst/>
          </a:prstGeom>
          <a:solidFill>
            <a:srgbClr val="0F766E"/>
          </a:solidFill>
          <a:ln w="12700">
            <a:solidFill>
              <a:srgbClr val="0F766E"/>
            </a:solidFill>
            <a:prstDash val="solid"/>
          </a:ln>
        </p:spPr>
      </p:sp>
      <p:pic>
        <p:nvPicPr>
          <p:cNvPr id="23" name="Image 2" descr="preencoded.png"/>
          <p:cNvPicPr>
            <a:picLocks noChangeAspect="1"/>
          </p:cNvPicPr>
          <p:nvPr/>
        </p:nvPicPr>
        <p:blipFill>
          <a:blip r:embed="rId5"/>
          <a:stretch>
            <a:fillRect/>
          </a:stretch>
        </p:blipFill>
        <p:spPr>
          <a:xfrm>
            <a:off x="6975775" y="4634911"/>
            <a:ext cx="166787" cy="166787"/>
          </a:xfrm>
          <a:prstGeom prst="rect">
            <a:avLst/>
          </a:prstGeom>
        </p:spPr>
      </p:pic>
      <p:sp>
        <p:nvSpPr>
          <p:cNvPr id="24" name="Text 18"/>
          <p:cNvSpPr txBox="1"/>
          <p:nvPr/>
        </p:nvSpPr>
        <p:spPr>
          <a:xfrm>
            <a:off x="7360920" y="4489704"/>
            <a:ext cx="4206240" cy="457200"/>
          </a:xfrm>
          <a:prstGeom prst="rect">
            <a:avLst/>
          </a:prstGeom>
          <a:noFill/>
          <a:ln/>
        </p:spPr>
        <p:txBody>
          <a:bodyPr wrap="square" lIns="0" tIns="0" rIns="0" bIns="0" rtlCol="0" anchor="ctr"/>
          <a:lstStyle/>
          <a:p>
            <a:pPr marL="0" indent="0">
              <a:buNone/>
            </a:pPr>
            <a:r>
              <a:rPr lang="en-US" sz="1400" b="1" dirty="0">
                <a:solidFill>
                  <a:schemeClr val="tx1"/>
                </a:solidFill>
              </a:rPr>
              <a:t>Pentaho ETL pipelines</a:t>
            </a:r>
            <a:r>
              <a:rPr lang="en-US" sz="1400" dirty="0">
                <a:solidFill>
                  <a:schemeClr val="tx2"/>
                </a:solidFill>
              </a:rPr>
              <a:t>   11 ingestion .ktr files in pentaho/</a:t>
            </a:r>
            <a:endParaRPr lang="en-US" sz="1400" dirty="0"/>
          </a:p>
        </p:txBody>
      </p:sp>
      <p:sp>
        <p:nvSpPr>
          <p:cNvPr id="25" name="Deliverable row"/>
          <p:cNvSpPr/>
          <p:nvPr/>
        </p:nvSpPr>
        <p:spPr>
          <a:xfrm>
            <a:off x="6812280" y="5020056"/>
            <a:ext cx="4828032" cy="457200"/>
          </a:xfrm>
          <a:prstGeom prst="rect">
            <a:avLst/>
          </a:prstGeom>
          <a:solidFill>
            <a:schemeClr val="bg2"/>
          </a:solidFill>
          <a:ln w="12700">
            <a:solidFill>
              <a:schemeClr val="bg2"/>
            </a:solidFill>
            <a:prstDash val="solid"/>
          </a:ln>
        </p:spPr>
      </p:sp>
      <p:sp>
        <p:nvSpPr>
          <p:cNvPr id="26" name="Shape 20"/>
          <p:cNvSpPr/>
          <p:nvPr/>
        </p:nvSpPr>
        <p:spPr>
          <a:xfrm>
            <a:off x="6885432" y="5074920"/>
            <a:ext cx="347472" cy="347472"/>
          </a:xfrm>
          <a:prstGeom prst="ellipse">
            <a:avLst/>
          </a:prstGeom>
          <a:solidFill>
            <a:srgbClr val="0F766E"/>
          </a:solidFill>
          <a:ln w="12700">
            <a:solidFill>
              <a:srgbClr val="0F766E"/>
            </a:solidFill>
            <a:prstDash val="solid"/>
          </a:ln>
        </p:spPr>
      </p:sp>
      <p:pic>
        <p:nvPicPr>
          <p:cNvPr id="27" name="Image 3" descr="preencoded.png"/>
          <p:cNvPicPr>
            <a:picLocks noChangeAspect="1"/>
          </p:cNvPicPr>
          <p:nvPr/>
        </p:nvPicPr>
        <p:blipFill>
          <a:blip r:embed="rId6"/>
          <a:stretch>
            <a:fillRect/>
          </a:stretch>
        </p:blipFill>
        <p:spPr>
          <a:xfrm>
            <a:off x="6975775" y="5165263"/>
            <a:ext cx="166787" cy="166787"/>
          </a:xfrm>
          <a:prstGeom prst="rect">
            <a:avLst/>
          </a:prstGeom>
        </p:spPr>
      </p:pic>
      <p:sp>
        <p:nvSpPr>
          <p:cNvPr id="28" name="Text 21"/>
          <p:cNvSpPr txBox="1"/>
          <p:nvPr/>
        </p:nvSpPr>
        <p:spPr>
          <a:xfrm>
            <a:off x="7360920" y="5020056"/>
            <a:ext cx="4206240" cy="457200"/>
          </a:xfrm>
          <a:prstGeom prst="rect">
            <a:avLst/>
          </a:prstGeom>
          <a:noFill/>
          <a:ln/>
        </p:spPr>
        <p:txBody>
          <a:bodyPr wrap="square" lIns="0" tIns="0" rIns="0" bIns="0" rtlCol="0" anchor="ctr"/>
          <a:lstStyle/>
          <a:p>
            <a:pPr marL="0" indent="0">
              <a:buNone/>
            </a:pPr>
            <a:r>
              <a:rPr lang="en-US" sz="1400" b="1" dirty="0">
                <a:solidFill>
                  <a:schemeClr val="tx1"/>
                </a:solidFill>
              </a:rPr>
              <a:t>Staging data</a:t>
            </a:r>
            <a:r>
              <a:rPr lang="en-US" sz="1400" dirty="0">
                <a:solidFill>
                  <a:schemeClr val="tx2"/>
                </a:solidFill>
              </a:rPr>
              <a:t>   bronze/staging/ (11 files)</a:t>
            </a:r>
            <a:endParaRPr lang="en-US" sz="1400" dirty="0"/>
          </a:p>
        </p:txBody>
      </p:sp>
      <p:sp>
        <p:nvSpPr>
          <p:cNvPr id="29" name="Deliverable row"/>
          <p:cNvSpPr/>
          <p:nvPr/>
        </p:nvSpPr>
        <p:spPr>
          <a:xfrm>
            <a:off x="6812280" y="5550408"/>
            <a:ext cx="4828032" cy="457200"/>
          </a:xfrm>
          <a:prstGeom prst="rect">
            <a:avLst/>
          </a:prstGeom>
          <a:solidFill>
            <a:schemeClr val="bg2"/>
          </a:solidFill>
          <a:ln w="12700">
            <a:solidFill>
              <a:schemeClr val="bg2"/>
            </a:solidFill>
            <a:prstDash val="solid"/>
          </a:ln>
        </p:spPr>
      </p:sp>
      <p:sp>
        <p:nvSpPr>
          <p:cNvPr id="30" name="Shape 23"/>
          <p:cNvSpPr/>
          <p:nvPr/>
        </p:nvSpPr>
        <p:spPr>
          <a:xfrm>
            <a:off x="6885432" y="5605272"/>
            <a:ext cx="347472" cy="347472"/>
          </a:xfrm>
          <a:prstGeom prst="ellipse">
            <a:avLst/>
          </a:prstGeom>
          <a:solidFill>
            <a:srgbClr val="0F766E"/>
          </a:solidFill>
          <a:ln w="12700">
            <a:solidFill>
              <a:srgbClr val="0F766E"/>
            </a:solidFill>
            <a:prstDash val="solid"/>
          </a:ln>
        </p:spPr>
      </p:sp>
      <p:pic>
        <p:nvPicPr>
          <p:cNvPr id="31" name="Image 4" descr="preencoded.png"/>
          <p:cNvPicPr>
            <a:picLocks noChangeAspect="1"/>
          </p:cNvPicPr>
          <p:nvPr/>
        </p:nvPicPr>
        <p:blipFill>
          <a:blip r:embed="rId7"/>
          <a:stretch>
            <a:fillRect/>
          </a:stretch>
        </p:blipFill>
        <p:spPr>
          <a:xfrm>
            <a:off x="6975775" y="5695615"/>
            <a:ext cx="166787" cy="166787"/>
          </a:xfrm>
          <a:prstGeom prst="rect">
            <a:avLst/>
          </a:prstGeom>
        </p:spPr>
      </p:pic>
      <p:sp>
        <p:nvSpPr>
          <p:cNvPr id="32" name="Text 24"/>
          <p:cNvSpPr txBox="1"/>
          <p:nvPr/>
        </p:nvSpPr>
        <p:spPr>
          <a:xfrm>
            <a:off x="7360920" y="5550408"/>
            <a:ext cx="4206240" cy="457200"/>
          </a:xfrm>
          <a:prstGeom prst="rect">
            <a:avLst/>
          </a:prstGeom>
          <a:noFill/>
          <a:ln/>
        </p:spPr>
        <p:txBody>
          <a:bodyPr wrap="square" lIns="0" tIns="0" rIns="0" bIns="0" rtlCol="0" anchor="ctr"/>
          <a:lstStyle/>
          <a:p>
            <a:pPr marL="0" indent="0">
              <a:buNone/>
            </a:pPr>
            <a:r>
              <a:rPr lang="en-US" sz="1400" b="1" dirty="0">
                <a:solidFill>
                  <a:schemeClr val="tx1"/>
                </a:solidFill>
              </a:rPr>
              <a:t>Git commit history</a:t>
            </a:r>
            <a:r>
              <a:rPr lang="en-US" sz="1400" dirty="0">
                <a:solidFill>
                  <a:schemeClr val="tx2"/>
                </a:solidFill>
              </a:rPr>
              <a:t>   GitHub</a:t>
            </a:r>
            <a:endParaRPr lang="en-US" sz="1400" dirty="0"/>
          </a:p>
        </p:txBody>
      </p:sp>
      <p:sp>
        <p:nvSpPr>
          <p:cNvPr id="2"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365760"/>
            <a:ext cx="10149840" cy="777240"/>
          </a:xfrm>
          <a:prstGeom prst="rect">
            <a:avLst/>
          </a:prstGeom>
          <a:noFill/>
          <a:ln/>
        </p:spPr>
        <p:txBody>
          <a:bodyPr wrap="square" lIns="0" tIns="0" rIns="0" bIns="0" rtlCol="0" anchor="ctr"/>
          <a:lstStyle/>
          <a:p>
            <a:pPr marL="0" indent="0" algn="l">
              <a:buNone/>
            </a:pPr>
            <a:r>
              <a:rPr lang="en-US" sz="3600" b="1" dirty="0">
                <a:solidFill>
                  <a:schemeClr val="tx1"/>
                </a:solidFill>
              </a:rPr>
              <a:t>Sprint 2: scope and deliverables</a:t>
            </a:r>
            <a:endParaRPr lang="en-US" sz="3600" dirty="0"/>
          </a:p>
        </p:txBody>
      </p:sp>
      <p:sp>
        <p:nvSpPr>
          <p:cNvPr id="4" name="Scope card"/>
          <p:cNvSpPr/>
          <p:nvPr/>
        </p:nvSpPr>
        <p:spPr>
          <a:xfrm>
            <a:off x="548640" y="1417320"/>
            <a:ext cx="3566160" cy="3017520"/>
          </a:xfrm>
          <a:prstGeom prst="rect">
            <a:avLst/>
          </a:prstGeom>
          <a:solidFill>
            <a:schemeClr val="bg2"/>
          </a:solidFill>
          <a:ln w="12700">
            <a:solidFill>
              <a:schemeClr val="bg2"/>
            </a:solidFill>
            <a:prstDash val="solid"/>
          </a:ln>
        </p:spPr>
      </p:sp>
      <p:sp>
        <p:nvSpPr>
          <p:cNvPr id="5" name="Text 2"/>
          <p:cNvSpPr txBox="1"/>
          <p:nvPr/>
        </p:nvSpPr>
        <p:spPr>
          <a:xfrm>
            <a:off x="777240" y="1554480"/>
            <a:ext cx="3108960" cy="320040"/>
          </a:xfrm>
          <a:prstGeom prst="rect">
            <a:avLst/>
          </a:prstGeom>
          <a:noFill/>
          <a:ln/>
        </p:spPr>
        <p:txBody>
          <a:bodyPr wrap="square" lIns="0" tIns="0" rIns="0" bIns="0" rtlCol="0" anchor="t"/>
          <a:lstStyle/>
          <a:p>
            <a:pPr marL="0" indent="0">
              <a:buNone/>
            </a:pPr>
            <a:r>
              <a:rPr lang="en-US" sz="1800" b="1" dirty="0">
                <a:solidFill>
                  <a:schemeClr val="accent1"/>
                </a:solidFill>
              </a:rPr>
              <a:t>Modules covered</a:t>
            </a:r>
            <a:endParaRPr lang="en-US" sz="1800" dirty="0"/>
          </a:p>
        </p:txBody>
      </p:sp>
      <p:sp>
        <p:nvSpPr>
          <p:cNvPr id="6" name="Text 3"/>
          <p:cNvSpPr txBox="1"/>
          <p:nvPr/>
        </p:nvSpPr>
        <p:spPr>
          <a:xfrm>
            <a:off x="777240" y="1965960"/>
            <a:ext cx="3154680" cy="100584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chemeClr val="tx1"/>
                </a:solidFill>
              </a:rPr>
              <a:t>Module 3: Data Profiling (Python)</a:t>
            </a:r>
            <a:endParaRPr lang="en-US" sz="1400" dirty="0"/>
          </a:p>
          <a:p>
            <a:pPr marL="203200" indent="-203200">
              <a:spcAft>
                <a:spcPts val="400"/>
              </a:spcAft>
              <a:buSzPct val="100000"/>
              <a:buChar char="•"/>
            </a:pPr>
            <a:r>
              <a:rPr lang="en-US" sz="1400" dirty="0">
                <a:solidFill>
                  <a:schemeClr val="tx1"/>
                </a:solidFill>
              </a:rPr>
              <a:t>Module 4: Storage &amp; Retrieval (PostgreSQL)</a:t>
            </a:r>
            <a:endParaRPr lang="en-US" sz="1400" dirty="0"/>
          </a:p>
        </p:txBody>
      </p:sp>
      <p:sp>
        <p:nvSpPr>
          <p:cNvPr id="7" name="Text 4"/>
          <p:cNvSpPr txBox="1"/>
          <p:nvPr/>
        </p:nvSpPr>
        <p:spPr>
          <a:xfrm>
            <a:off x="777240" y="3017520"/>
            <a:ext cx="3108960" cy="320040"/>
          </a:xfrm>
          <a:prstGeom prst="rect">
            <a:avLst/>
          </a:prstGeom>
          <a:noFill/>
          <a:ln/>
        </p:spPr>
        <p:txBody>
          <a:bodyPr wrap="square" lIns="0" tIns="0" rIns="0" bIns="0" rtlCol="0" anchor="t"/>
          <a:lstStyle/>
          <a:p>
            <a:pPr marL="0" indent="0">
              <a:buNone/>
            </a:pPr>
            <a:r>
              <a:rPr lang="en-US" sz="1800" b="1" dirty="0">
                <a:solidFill>
                  <a:schemeClr val="accent1"/>
                </a:solidFill>
              </a:rPr>
              <a:t>Business objective</a:t>
            </a:r>
            <a:endParaRPr lang="en-US" sz="1800" dirty="0"/>
          </a:p>
        </p:txBody>
      </p:sp>
      <p:sp>
        <p:nvSpPr>
          <p:cNvPr id="8" name="Text 5"/>
          <p:cNvSpPr txBox="1"/>
          <p:nvPr/>
        </p:nvSpPr>
        <p:spPr>
          <a:xfrm>
            <a:off x="777240" y="3429000"/>
            <a:ext cx="3154680" cy="914400"/>
          </a:xfrm>
          <a:prstGeom prst="rect">
            <a:avLst/>
          </a:prstGeom>
          <a:noFill/>
          <a:ln/>
        </p:spPr>
        <p:txBody>
          <a:bodyPr wrap="square" lIns="0" tIns="0" rIns="0" bIns="0" rtlCol="0" anchor="t"/>
          <a:lstStyle/>
          <a:p>
            <a:pPr marL="0" indent="0">
              <a:buNone/>
            </a:pPr>
            <a:r>
              <a:rPr lang="en-US" sz="1400" dirty="0">
                <a:solidFill>
                  <a:schemeClr val="tx1"/>
                </a:solidFill>
              </a:rPr>
              <a:t>Transform raw ERP data into trusted, analytics-ready datasets.</a:t>
            </a:r>
            <a:endParaRPr lang="en-US" sz="1400" dirty="0"/>
          </a:p>
        </p:txBody>
      </p:sp>
      <p:sp>
        <p:nvSpPr>
          <p:cNvPr id="9" name="Text 6"/>
          <p:cNvSpPr txBox="1"/>
          <p:nvPr/>
        </p:nvSpPr>
        <p:spPr>
          <a:xfrm>
            <a:off x="4434840" y="1417320"/>
            <a:ext cx="3657600" cy="320040"/>
          </a:xfrm>
          <a:prstGeom prst="rect">
            <a:avLst/>
          </a:prstGeom>
          <a:noFill/>
          <a:ln/>
        </p:spPr>
        <p:txBody>
          <a:bodyPr wrap="square" lIns="0" tIns="0" rIns="0" bIns="0" rtlCol="0" anchor="t"/>
          <a:lstStyle/>
          <a:p>
            <a:pPr marL="0" indent="0">
              <a:buNone/>
            </a:pPr>
            <a:r>
              <a:rPr lang="en-US" sz="1800" b="1" dirty="0">
                <a:solidFill>
                  <a:schemeClr val="accent1"/>
                </a:solidFill>
              </a:rPr>
              <a:t>Assigned tasks</a:t>
            </a:r>
            <a:endParaRPr lang="en-US" sz="1800" dirty="0"/>
          </a:p>
        </p:txBody>
      </p:sp>
      <p:sp>
        <p:nvSpPr>
          <p:cNvPr id="10" name="Text 7"/>
          <p:cNvSpPr/>
          <p:nvPr/>
        </p:nvSpPr>
        <p:spPr>
          <a:xfrm>
            <a:off x="4434840" y="1920240"/>
            <a:ext cx="347472" cy="347472"/>
          </a:xfrm>
          <a:prstGeom prst="ellipse">
            <a:avLst/>
          </a:prstGeom>
          <a:solidFill>
            <a:srgbClr val="0F766E"/>
          </a:solid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11" name="Text 8"/>
          <p:cNvSpPr txBox="1"/>
          <p:nvPr/>
        </p:nvSpPr>
        <p:spPr>
          <a:xfrm>
            <a:off x="4892040" y="1911096"/>
            <a:ext cx="3063240" cy="566928"/>
          </a:xfrm>
          <a:prstGeom prst="rect">
            <a:avLst/>
          </a:prstGeom>
          <a:noFill/>
          <a:ln/>
        </p:spPr>
        <p:txBody>
          <a:bodyPr wrap="square" lIns="0" tIns="0" rIns="0" bIns="0" rtlCol="0" anchor="t"/>
          <a:lstStyle/>
          <a:p>
            <a:pPr marL="0" indent="0">
              <a:buNone/>
            </a:pPr>
            <a:r>
              <a:rPr lang="en-US" sz="1400" dirty="0">
                <a:solidFill>
                  <a:schemeClr val="tx1"/>
                </a:solidFill>
              </a:rPr>
              <a:t>Profile ERP datasets using Python</a:t>
            </a:r>
            <a:endParaRPr lang="en-US" sz="1400" dirty="0"/>
          </a:p>
        </p:txBody>
      </p:sp>
      <p:sp>
        <p:nvSpPr>
          <p:cNvPr id="12" name="Text 9"/>
          <p:cNvSpPr/>
          <p:nvPr/>
        </p:nvSpPr>
        <p:spPr>
          <a:xfrm>
            <a:off x="4434840" y="2560320"/>
            <a:ext cx="347472" cy="347472"/>
          </a:xfrm>
          <a:prstGeom prst="ellipse">
            <a:avLst/>
          </a:prstGeom>
          <a:solidFill>
            <a:srgbClr val="0F766E"/>
          </a:solid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13" name="Text 10"/>
          <p:cNvSpPr txBox="1"/>
          <p:nvPr/>
        </p:nvSpPr>
        <p:spPr>
          <a:xfrm>
            <a:off x="4892040" y="2551176"/>
            <a:ext cx="3063240" cy="566928"/>
          </a:xfrm>
          <a:prstGeom prst="rect">
            <a:avLst/>
          </a:prstGeom>
          <a:noFill/>
          <a:ln/>
        </p:spPr>
        <p:txBody>
          <a:bodyPr wrap="square" lIns="0" tIns="0" rIns="0" bIns="0" rtlCol="0" anchor="t"/>
          <a:lstStyle/>
          <a:p>
            <a:pPr marL="0" indent="0">
              <a:buNone/>
            </a:pPr>
            <a:r>
              <a:rPr lang="en-US" sz="1400" dirty="0">
                <a:solidFill>
                  <a:schemeClr val="tx1"/>
                </a:solidFill>
              </a:rPr>
              <a:t>Identify duplicate, missing, inventory and financial data issues</a:t>
            </a:r>
            <a:endParaRPr lang="en-US" sz="1400" dirty="0"/>
          </a:p>
        </p:txBody>
      </p:sp>
      <p:sp>
        <p:nvSpPr>
          <p:cNvPr id="14" name="Text 11"/>
          <p:cNvSpPr/>
          <p:nvPr/>
        </p:nvSpPr>
        <p:spPr>
          <a:xfrm>
            <a:off x="4434840" y="3200400"/>
            <a:ext cx="347472" cy="347472"/>
          </a:xfrm>
          <a:prstGeom prst="ellipse">
            <a:avLst/>
          </a:prstGeom>
          <a:solidFill>
            <a:srgbClr val="0F766E"/>
          </a:solid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15" name="Text 12"/>
          <p:cNvSpPr txBox="1"/>
          <p:nvPr/>
        </p:nvSpPr>
        <p:spPr>
          <a:xfrm>
            <a:off x="4892040" y="3191256"/>
            <a:ext cx="3063240" cy="566928"/>
          </a:xfrm>
          <a:prstGeom prst="rect">
            <a:avLst/>
          </a:prstGeom>
          <a:noFill/>
          <a:ln/>
        </p:spPr>
        <p:txBody>
          <a:bodyPr wrap="square" lIns="0" tIns="0" rIns="0" bIns="0" rtlCol="0" anchor="t"/>
          <a:lstStyle/>
          <a:p>
            <a:pPr marL="0" indent="0">
              <a:buNone/>
            </a:pPr>
            <a:r>
              <a:rPr lang="en-US" sz="1400" dirty="0">
                <a:solidFill>
                  <a:schemeClr val="tx1"/>
                </a:solidFill>
              </a:rPr>
              <a:t>Clean and standardize enterprise data</a:t>
            </a:r>
            <a:endParaRPr lang="en-US" sz="1400" dirty="0"/>
          </a:p>
        </p:txBody>
      </p:sp>
      <p:sp>
        <p:nvSpPr>
          <p:cNvPr id="16" name="Text 13"/>
          <p:cNvSpPr/>
          <p:nvPr/>
        </p:nvSpPr>
        <p:spPr>
          <a:xfrm>
            <a:off x="4434840" y="3840480"/>
            <a:ext cx="347472" cy="347472"/>
          </a:xfrm>
          <a:prstGeom prst="ellipse">
            <a:avLst/>
          </a:prstGeom>
          <a:solidFill>
            <a:srgbClr val="0F766E"/>
          </a:solidFill>
          <a:ln/>
        </p:spPr>
        <p:txBody>
          <a:bodyPr wrap="square" lIns="0" tIns="0" rIns="0" bIns="0" rtlCol="0" anchor="ctr"/>
          <a:lstStyle/>
          <a:p>
            <a:pPr marL="0" indent="0" algn="ctr">
              <a:buNone/>
            </a:pPr>
            <a:r>
              <a:rPr lang="en-US" sz="1200" b="1" dirty="0">
                <a:solidFill>
                  <a:schemeClr val="bg1"/>
                </a:solidFill>
              </a:rPr>
              <a:t>4</a:t>
            </a:r>
            <a:endParaRPr lang="en-US" sz="1200" dirty="0"/>
          </a:p>
        </p:txBody>
      </p:sp>
      <p:sp>
        <p:nvSpPr>
          <p:cNvPr id="17" name="Text 14"/>
          <p:cNvSpPr txBox="1"/>
          <p:nvPr/>
        </p:nvSpPr>
        <p:spPr>
          <a:xfrm>
            <a:off x="4892040" y="3831336"/>
            <a:ext cx="3063240" cy="566928"/>
          </a:xfrm>
          <a:prstGeom prst="rect">
            <a:avLst/>
          </a:prstGeom>
          <a:noFill/>
          <a:ln/>
        </p:spPr>
        <p:txBody>
          <a:bodyPr wrap="square" lIns="0" tIns="0" rIns="0" bIns="0" rtlCol="0" anchor="t"/>
          <a:lstStyle/>
          <a:p>
            <a:pPr marL="0" indent="0">
              <a:buNone/>
            </a:pPr>
            <a:r>
              <a:rPr lang="en-US" sz="1400" dirty="0">
                <a:solidFill>
                  <a:schemeClr val="tx1"/>
                </a:solidFill>
              </a:rPr>
              <a:t>Design Star Schema</a:t>
            </a:r>
            <a:endParaRPr lang="en-US" sz="1400" dirty="0"/>
          </a:p>
        </p:txBody>
      </p:sp>
      <p:sp>
        <p:nvSpPr>
          <p:cNvPr id="18" name="Text 15"/>
          <p:cNvSpPr/>
          <p:nvPr/>
        </p:nvSpPr>
        <p:spPr>
          <a:xfrm>
            <a:off x="8092440" y="1920240"/>
            <a:ext cx="347472" cy="347472"/>
          </a:xfrm>
          <a:prstGeom prst="ellipse">
            <a:avLst/>
          </a:prstGeom>
          <a:solidFill>
            <a:srgbClr val="0F766E"/>
          </a:solidFill>
          <a:ln/>
        </p:spPr>
        <p:txBody>
          <a:bodyPr wrap="square" lIns="0" tIns="0" rIns="0" bIns="0" rtlCol="0" anchor="ctr"/>
          <a:lstStyle/>
          <a:p>
            <a:pPr marL="0" indent="0" algn="ctr">
              <a:buNone/>
            </a:pPr>
            <a:r>
              <a:rPr lang="en-US" sz="1200" b="1" dirty="0">
                <a:solidFill>
                  <a:schemeClr val="bg1"/>
                </a:solidFill>
              </a:rPr>
              <a:t>5</a:t>
            </a:r>
            <a:endParaRPr lang="en-US" sz="1200" dirty="0"/>
          </a:p>
        </p:txBody>
      </p:sp>
      <p:sp>
        <p:nvSpPr>
          <p:cNvPr id="19" name="Text 16"/>
          <p:cNvSpPr txBox="1"/>
          <p:nvPr/>
        </p:nvSpPr>
        <p:spPr>
          <a:xfrm>
            <a:off x="8549640" y="1911096"/>
            <a:ext cx="3063240" cy="566928"/>
          </a:xfrm>
          <a:prstGeom prst="rect">
            <a:avLst/>
          </a:prstGeom>
          <a:noFill/>
          <a:ln/>
        </p:spPr>
        <p:txBody>
          <a:bodyPr wrap="square" lIns="0" tIns="0" rIns="0" bIns="0" rtlCol="0" anchor="t"/>
          <a:lstStyle/>
          <a:p>
            <a:pPr marL="0" indent="0">
              <a:buNone/>
            </a:pPr>
            <a:r>
              <a:rPr lang="en-US" sz="1400" dirty="0">
                <a:solidFill>
                  <a:schemeClr val="tx1"/>
                </a:solidFill>
              </a:rPr>
              <a:t>Create Fact and Dimension tables</a:t>
            </a:r>
            <a:endParaRPr lang="en-US" sz="1400" dirty="0"/>
          </a:p>
        </p:txBody>
      </p:sp>
      <p:sp>
        <p:nvSpPr>
          <p:cNvPr id="20" name="Text 17"/>
          <p:cNvSpPr/>
          <p:nvPr/>
        </p:nvSpPr>
        <p:spPr>
          <a:xfrm>
            <a:off x="8092440" y="2560320"/>
            <a:ext cx="347472" cy="347472"/>
          </a:xfrm>
          <a:prstGeom prst="ellipse">
            <a:avLst/>
          </a:prstGeom>
          <a:solidFill>
            <a:srgbClr val="0F766E"/>
          </a:solidFill>
          <a:ln/>
        </p:spPr>
        <p:txBody>
          <a:bodyPr wrap="square" lIns="0" tIns="0" rIns="0" bIns="0" rtlCol="0" anchor="ctr"/>
          <a:lstStyle/>
          <a:p>
            <a:pPr marL="0" indent="0" algn="ctr">
              <a:buNone/>
            </a:pPr>
            <a:r>
              <a:rPr lang="en-US" sz="1200" b="1" dirty="0">
                <a:solidFill>
                  <a:schemeClr val="bg1"/>
                </a:solidFill>
              </a:rPr>
              <a:t>6</a:t>
            </a:r>
            <a:endParaRPr lang="en-US" sz="1200" dirty="0"/>
          </a:p>
        </p:txBody>
      </p:sp>
      <p:sp>
        <p:nvSpPr>
          <p:cNvPr id="21" name="Text 18"/>
          <p:cNvSpPr txBox="1"/>
          <p:nvPr/>
        </p:nvSpPr>
        <p:spPr>
          <a:xfrm>
            <a:off x="8549640" y="2551176"/>
            <a:ext cx="3063240" cy="566928"/>
          </a:xfrm>
          <a:prstGeom prst="rect">
            <a:avLst/>
          </a:prstGeom>
          <a:noFill/>
          <a:ln/>
        </p:spPr>
        <p:txBody>
          <a:bodyPr wrap="square" lIns="0" tIns="0" rIns="0" bIns="0" rtlCol="0" anchor="t"/>
          <a:lstStyle/>
          <a:p>
            <a:pPr marL="0" indent="0">
              <a:buNone/>
            </a:pPr>
            <a:r>
              <a:rPr lang="en-US" sz="1400" dirty="0">
                <a:solidFill>
                  <a:schemeClr val="tx1"/>
                </a:solidFill>
              </a:rPr>
              <a:t>Build Pentaho transformations to populate warehouse tables</a:t>
            </a:r>
            <a:endParaRPr lang="en-US" sz="1400" dirty="0"/>
          </a:p>
        </p:txBody>
      </p:sp>
      <p:sp>
        <p:nvSpPr>
          <p:cNvPr id="22" name="Text 19"/>
          <p:cNvSpPr/>
          <p:nvPr/>
        </p:nvSpPr>
        <p:spPr>
          <a:xfrm>
            <a:off x="8092440" y="3200400"/>
            <a:ext cx="347472" cy="347472"/>
          </a:xfrm>
          <a:prstGeom prst="ellipse">
            <a:avLst/>
          </a:prstGeom>
          <a:solidFill>
            <a:srgbClr val="0F766E"/>
          </a:solidFill>
          <a:ln/>
        </p:spPr>
        <p:txBody>
          <a:bodyPr wrap="square" lIns="0" tIns="0" rIns="0" bIns="0" rtlCol="0" anchor="ctr"/>
          <a:lstStyle/>
          <a:p>
            <a:pPr marL="0" indent="0" algn="ctr">
              <a:buNone/>
            </a:pPr>
            <a:r>
              <a:rPr lang="en-US" sz="1200" b="1" dirty="0">
                <a:solidFill>
                  <a:schemeClr val="bg1"/>
                </a:solidFill>
              </a:rPr>
              <a:t>7</a:t>
            </a:r>
            <a:endParaRPr lang="en-US" sz="1200" dirty="0"/>
          </a:p>
        </p:txBody>
      </p:sp>
      <p:sp>
        <p:nvSpPr>
          <p:cNvPr id="23" name="Text 20"/>
          <p:cNvSpPr txBox="1"/>
          <p:nvPr/>
        </p:nvSpPr>
        <p:spPr>
          <a:xfrm>
            <a:off x="8549640" y="3191256"/>
            <a:ext cx="3063240" cy="566928"/>
          </a:xfrm>
          <a:prstGeom prst="rect">
            <a:avLst/>
          </a:prstGeom>
          <a:noFill/>
          <a:ln/>
        </p:spPr>
        <p:txBody>
          <a:bodyPr wrap="square" lIns="0" tIns="0" rIns="0" bIns="0" rtlCol="0" anchor="t"/>
          <a:lstStyle/>
          <a:p>
            <a:pPr marL="0" indent="0">
              <a:buNone/>
            </a:pPr>
            <a:r>
              <a:rPr lang="en-US" sz="1400" dirty="0">
                <a:solidFill>
                  <a:schemeClr val="tx1"/>
                </a:solidFill>
              </a:rPr>
              <a:t>Develop SQL queries for enterprise reporting</a:t>
            </a:r>
            <a:endParaRPr lang="en-US" sz="1400" dirty="0"/>
          </a:p>
        </p:txBody>
      </p:sp>
      <p:sp>
        <p:nvSpPr>
          <p:cNvPr id="24" name="Text 21"/>
          <p:cNvSpPr/>
          <p:nvPr/>
        </p:nvSpPr>
        <p:spPr>
          <a:xfrm>
            <a:off x="8092440" y="3840480"/>
            <a:ext cx="347472" cy="347472"/>
          </a:xfrm>
          <a:prstGeom prst="ellipse">
            <a:avLst/>
          </a:prstGeom>
          <a:solidFill>
            <a:srgbClr val="0F766E"/>
          </a:solidFill>
          <a:ln/>
        </p:spPr>
        <p:txBody>
          <a:bodyPr wrap="square" lIns="0" tIns="0" rIns="0" bIns="0" rtlCol="0" anchor="ctr"/>
          <a:lstStyle/>
          <a:p>
            <a:pPr marL="0" indent="0" algn="ctr">
              <a:buNone/>
            </a:pPr>
            <a:r>
              <a:rPr lang="en-US" sz="1200" b="1" dirty="0">
                <a:solidFill>
                  <a:schemeClr val="bg1"/>
                </a:solidFill>
              </a:rPr>
              <a:t>8</a:t>
            </a:r>
            <a:endParaRPr lang="en-US" sz="1200" dirty="0"/>
          </a:p>
        </p:txBody>
      </p:sp>
      <p:sp>
        <p:nvSpPr>
          <p:cNvPr id="25" name="Text 22"/>
          <p:cNvSpPr txBox="1"/>
          <p:nvPr/>
        </p:nvSpPr>
        <p:spPr>
          <a:xfrm>
            <a:off x="8549640" y="3831336"/>
            <a:ext cx="3063240" cy="566928"/>
          </a:xfrm>
          <a:prstGeom prst="rect">
            <a:avLst/>
          </a:prstGeom>
          <a:noFill/>
          <a:ln/>
        </p:spPr>
        <p:txBody>
          <a:bodyPr wrap="square" lIns="0" tIns="0" rIns="0" bIns="0" rtlCol="0" anchor="t"/>
          <a:lstStyle/>
          <a:p>
            <a:pPr marL="0" indent="0">
              <a:buNone/>
            </a:pPr>
            <a:r>
              <a:rPr lang="en-US" sz="1400" dirty="0">
                <a:solidFill>
                  <a:schemeClr val="tx1"/>
                </a:solidFill>
              </a:rPr>
              <a:t>Push incremental updates to Git</a:t>
            </a:r>
            <a:endParaRPr lang="en-US" sz="1400" dirty="0"/>
          </a:p>
        </p:txBody>
      </p:sp>
      <p:sp>
        <p:nvSpPr>
          <p:cNvPr id="26" name="Text 23"/>
          <p:cNvSpPr txBox="1"/>
          <p:nvPr/>
        </p:nvSpPr>
        <p:spPr>
          <a:xfrm>
            <a:off x="548640" y="4663440"/>
            <a:ext cx="3657600" cy="320040"/>
          </a:xfrm>
          <a:prstGeom prst="rect">
            <a:avLst/>
          </a:prstGeom>
          <a:noFill/>
          <a:ln/>
        </p:spPr>
        <p:txBody>
          <a:bodyPr wrap="square" lIns="0" tIns="0" rIns="0" bIns="0" rtlCol="0" anchor="t"/>
          <a:lstStyle/>
          <a:p>
            <a:pPr marL="0" indent="0">
              <a:buNone/>
            </a:pPr>
            <a:r>
              <a:rPr lang="en-US" sz="1800" b="1" dirty="0">
                <a:solidFill>
                  <a:schemeClr val="accent1"/>
                </a:solidFill>
              </a:rPr>
              <a:t>Deliverables</a:t>
            </a:r>
            <a:endParaRPr lang="en-US" sz="1800" dirty="0"/>
          </a:p>
        </p:txBody>
      </p:sp>
      <p:sp>
        <p:nvSpPr>
          <p:cNvPr id="27" name="Deliverable chip"/>
          <p:cNvSpPr/>
          <p:nvPr/>
        </p:nvSpPr>
        <p:spPr>
          <a:xfrm>
            <a:off x="548640" y="5074920"/>
            <a:ext cx="1737360" cy="914400"/>
          </a:xfrm>
          <a:prstGeom prst="rect">
            <a:avLst/>
          </a:prstGeom>
          <a:solidFill>
            <a:schemeClr val="bg2"/>
          </a:solidFill>
          <a:ln w="12700">
            <a:solidFill>
              <a:schemeClr val="bg2"/>
            </a:solidFill>
            <a:prstDash val="solid"/>
          </a:ln>
        </p:spPr>
      </p:sp>
      <p:sp>
        <p:nvSpPr>
          <p:cNvPr id="28" name="Text 25"/>
          <p:cNvSpPr txBox="1"/>
          <p:nvPr/>
        </p:nvSpPr>
        <p:spPr>
          <a:xfrm>
            <a:off x="658368" y="5074920"/>
            <a:ext cx="1517904" cy="914400"/>
          </a:xfrm>
          <a:prstGeom prst="rect">
            <a:avLst/>
          </a:prstGeom>
          <a:noFill/>
          <a:ln/>
        </p:spPr>
        <p:txBody>
          <a:bodyPr wrap="square" lIns="0" tIns="0" rIns="0" bIns="0" rtlCol="0" anchor="ctr"/>
          <a:lstStyle/>
          <a:p>
            <a:pPr marL="0" indent="0" algn="ctr">
              <a:buNone/>
            </a:pPr>
            <a:r>
              <a:rPr lang="en-US" sz="1400" b="1" dirty="0">
                <a:solidFill>
                  <a:schemeClr val="tx1"/>
                </a:solidFill>
              </a:rPr>
              <a:t>Data Profiling Report</a:t>
            </a:r>
            <a:endParaRPr lang="en-US" sz="1400" dirty="0"/>
          </a:p>
        </p:txBody>
      </p:sp>
      <p:sp>
        <p:nvSpPr>
          <p:cNvPr id="29" name="Deliverable chip"/>
          <p:cNvSpPr/>
          <p:nvPr/>
        </p:nvSpPr>
        <p:spPr>
          <a:xfrm>
            <a:off x="2423160" y="5074920"/>
            <a:ext cx="1737360" cy="914400"/>
          </a:xfrm>
          <a:prstGeom prst="rect">
            <a:avLst/>
          </a:prstGeom>
          <a:solidFill>
            <a:schemeClr val="bg2"/>
          </a:solidFill>
          <a:ln w="12700">
            <a:solidFill>
              <a:schemeClr val="bg2"/>
            </a:solidFill>
            <a:prstDash val="solid"/>
          </a:ln>
        </p:spPr>
      </p:sp>
      <p:sp>
        <p:nvSpPr>
          <p:cNvPr id="30" name="Text 27"/>
          <p:cNvSpPr txBox="1"/>
          <p:nvPr/>
        </p:nvSpPr>
        <p:spPr>
          <a:xfrm>
            <a:off x="2532888" y="5074920"/>
            <a:ext cx="1517904" cy="914400"/>
          </a:xfrm>
          <a:prstGeom prst="rect">
            <a:avLst/>
          </a:prstGeom>
          <a:noFill/>
          <a:ln/>
        </p:spPr>
        <p:txBody>
          <a:bodyPr wrap="square" lIns="0" tIns="0" rIns="0" bIns="0" rtlCol="0" anchor="ctr"/>
          <a:lstStyle/>
          <a:p>
            <a:pPr marL="0" indent="0" algn="ctr">
              <a:buNone/>
            </a:pPr>
            <a:r>
              <a:rPr lang="en-US" sz="1400" b="1" dirty="0">
                <a:solidFill>
                  <a:schemeClr val="tx1"/>
                </a:solidFill>
              </a:rPr>
              <a:t>Data Quality Report</a:t>
            </a:r>
            <a:endParaRPr lang="en-US" sz="1400" dirty="0"/>
          </a:p>
        </p:txBody>
      </p:sp>
      <p:sp>
        <p:nvSpPr>
          <p:cNvPr id="31" name="Deliverable chip"/>
          <p:cNvSpPr/>
          <p:nvPr/>
        </p:nvSpPr>
        <p:spPr>
          <a:xfrm>
            <a:off x="4297680" y="5074920"/>
            <a:ext cx="1737360" cy="914400"/>
          </a:xfrm>
          <a:prstGeom prst="rect">
            <a:avLst/>
          </a:prstGeom>
          <a:solidFill>
            <a:schemeClr val="bg2"/>
          </a:solidFill>
          <a:ln w="12700">
            <a:solidFill>
              <a:schemeClr val="bg2"/>
            </a:solidFill>
            <a:prstDash val="solid"/>
          </a:ln>
        </p:spPr>
      </p:sp>
      <p:sp>
        <p:nvSpPr>
          <p:cNvPr id="32" name="Text 29"/>
          <p:cNvSpPr txBox="1"/>
          <p:nvPr/>
        </p:nvSpPr>
        <p:spPr>
          <a:xfrm>
            <a:off x="4407408" y="5074920"/>
            <a:ext cx="1517904" cy="914400"/>
          </a:xfrm>
          <a:prstGeom prst="rect">
            <a:avLst/>
          </a:prstGeom>
          <a:noFill/>
          <a:ln/>
        </p:spPr>
        <p:txBody>
          <a:bodyPr wrap="square" lIns="0" tIns="0" rIns="0" bIns="0" rtlCol="0" anchor="ctr"/>
          <a:lstStyle/>
          <a:p>
            <a:pPr marL="0" indent="0" algn="ctr">
              <a:buNone/>
            </a:pPr>
            <a:r>
              <a:rPr lang="en-US" sz="1400" b="1" dirty="0">
                <a:solidFill>
                  <a:schemeClr val="tx1"/>
                </a:solidFill>
              </a:rPr>
              <a:t>Star Schema</a:t>
            </a:r>
            <a:endParaRPr lang="en-US" sz="1400" dirty="0"/>
          </a:p>
        </p:txBody>
      </p:sp>
      <p:sp>
        <p:nvSpPr>
          <p:cNvPr id="33" name="Deliverable chip"/>
          <p:cNvSpPr/>
          <p:nvPr/>
        </p:nvSpPr>
        <p:spPr>
          <a:xfrm>
            <a:off x="6172200" y="5074920"/>
            <a:ext cx="1737360" cy="914400"/>
          </a:xfrm>
          <a:prstGeom prst="rect">
            <a:avLst/>
          </a:prstGeom>
          <a:solidFill>
            <a:schemeClr val="bg2"/>
          </a:solidFill>
          <a:ln w="12700">
            <a:solidFill>
              <a:schemeClr val="bg2"/>
            </a:solidFill>
            <a:prstDash val="solid"/>
          </a:ln>
        </p:spPr>
      </p:sp>
      <p:sp>
        <p:nvSpPr>
          <p:cNvPr id="34" name="Text 31"/>
          <p:cNvSpPr txBox="1"/>
          <p:nvPr/>
        </p:nvSpPr>
        <p:spPr>
          <a:xfrm>
            <a:off x="6281928" y="5074920"/>
            <a:ext cx="1517904" cy="914400"/>
          </a:xfrm>
          <a:prstGeom prst="rect">
            <a:avLst/>
          </a:prstGeom>
          <a:noFill/>
          <a:ln/>
        </p:spPr>
        <p:txBody>
          <a:bodyPr wrap="square" lIns="0" tIns="0" rIns="0" bIns="0" rtlCol="0" anchor="ctr"/>
          <a:lstStyle/>
          <a:p>
            <a:pPr marL="0" indent="0" algn="ctr">
              <a:buNone/>
            </a:pPr>
            <a:r>
              <a:rPr lang="en-US" sz="1400" b="1" dirty="0">
                <a:solidFill>
                  <a:schemeClr val="tx1"/>
                </a:solidFill>
              </a:rPr>
              <a:t>PostgreSQL Data Warehouse</a:t>
            </a:r>
            <a:endParaRPr lang="en-US" sz="1400" dirty="0"/>
          </a:p>
        </p:txBody>
      </p:sp>
      <p:sp>
        <p:nvSpPr>
          <p:cNvPr id="35" name="Deliverable chip"/>
          <p:cNvSpPr/>
          <p:nvPr/>
        </p:nvSpPr>
        <p:spPr>
          <a:xfrm>
            <a:off x="8046720" y="5074920"/>
            <a:ext cx="1737360" cy="914400"/>
          </a:xfrm>
          <a:prstGeom prst="rect">
            <a:avLst/>
          </a:prstGeom>
          <a:solidFill>
            <a:schemeClr val="bg2"/>
          </a:solidFill>
          <a:ln w="12700">
            <a:solidFill>
              <a:schemeClr val="bg2"/>
            </a:solidFill>
            <a:prstDash val="solid"/>
          </a:ln>
        </p:spPr>
      </p:sp>
      <p:sp>
        <p:nvSpPr>
          <p:cNvPr id="36" name="Text 33"/>
          <p:cNvSpPr txBox="1"/>
          <p:nvPr/>
        </p:nvSpPr>
        <p:spPr>
          <a:xfrm>
            <a:off x="8156448" y="5074920"/>
            <a:ext cx="1517904" cy="914400"/>
          </a:xfrm>
          <a:prstGeom prst="rect">
            <a:avLst/>
          </a:prstGeom>
          <a:noFill/>
          <a:ln/>
        </p:spPr>
        <p:txBody>
          <a:bodyPr wrap="square" lIns="0" tIns="0" rIns="0" bIns="0" rtlCol="0" anchor="ctr"/>
          <a:lstStyle/>
          <a:p>
            <a:pPr marL="0" indent="0" algn="ctr">
              <a:buNone/>
            </a:pPr>
            <a:r>
              <a:rPr lang="en-US" sz="1400" b="1" dirty="0">
                <a:solidFill>
                  <a:schemeClr val="tx1"/>
                </a:solidFill>
              </a:rPr>
              <a:t>SQL Scripts</a:t>
            </a:r>
            <a:endParaRPr lang="en-US" sz="1400" dirty="0"/>
          </a:p>
        </p:txBody>
      </p:sp>
      <p:sp>
        <p:nvSpPr>
          <p:cNvPr id="37" name="Deliverable chip"/>
          <p:cNvSpPr/>
          <p:nvPr/>
        </p:nvSpPr>
        <p:spPr>
          <a:xfrm>
            <a:off x="9921240" y="5074920"/>
            <a:ext cx="1737360" cy="914400"/>
          </a:xfrm>
          <a:prstGeom prst="rect">
            <a:avLst/>
          </a:prstGeom>
          <a:solidFill>
            <a:schemeClr val="bg2"/>
          </a:solidFill>
          <a:ln w="12700">
            <a:solidFill>
              <a:schemeClr val="bg2"/>
            </a:solidFill>
            <a:prstDash val="solid"/>
          </a:ln>
        </p:spPr>
      </p:sp>
      <p:sp>
        <p:nvSpPr>
          <p:cNvPr id="38" name="Text 35"/>
          <p:cNvSpPr txBox="1"/>
          <p:nvPr/>
        </p:nvSpPr>
        <p:spPr>
          <a:xfrm>
            <a:off x="10030968" y="5074920"/>
            <a:ext cx="1517904" cy="914400"/>
          </a:xfrm>
          <a:prstGeom prst="rect">
            <a:avLst/>
          </a:prstGeom>
          <a:noFill/>
          <a:ln/>
        </p:spPr>
        <p:txBody>
          <a:bodyPr wrap="square" lIns="0" tIns="0" rIns="0" bIns="0" rtlCol="0" anchor="ctr"/>
          <a:lstStyle/>
          <a:p>
            <a:pPr marL="0" indent="0" algn="ctr">
              <a:buNone/>
            </a:pPr>
            <a:r>
              <a:rPr lang="en-US" sz="1400" b="1" dirty="0">
                <a:solidFill>
                  <a:schemeClr val="tx1"/>
                </a:solidFill>
              </a:rPr>
              <a:t>Git Repository Updates</a:t>
            </a:r>
            <a:endParaRPr lang="en-US" sz="1400" dirty="0"/>
          </a:p>
        </p:txBody>
      </p:sp>
      <p:sp>
        <p:nvSpPr>
          <p:cNvPr id="2"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365760"/>
            <a:ext cx="10149840" cy="777240"/>
          </a:xfrm>
          <a:prstGeom prst="rect">
            <a:avLst/>
          </a:prstGeom>
          <a:noFill/>
          <a:ln/>
        </p:spPr>
        <p:txBody>
          <a:bodyPr wrap="square" lIns="0" tIns="0" rIns="0" bIns="0" rtlCol="0" anchor="ctr"/>
          <a:lstStyle/>
          <a:p>
            <a:pPr marL="0" indent="0" algn="l">
              <a:buNone/>
            </a:pPr>
            <a:r>
              <a:rPr lang="en-US" sz="3600" b="1" dirty="0">
                <a:solidFill>
                  <a:schemeClr val="tx1"/>
                </a:solidFill>
              </a:rPr>
              <a:t>Solution architecture</a:t>
            </a:r>
            <a:endParaRPr lang="en-US" sz="3600" dirty="0"/>
          </a:p>
        </p:txBody>
      </p:sp>
      <p:sp>
        <p:nvSpPr>
          <p:cNvPr id="4" name="Layer box"/>
          <p:cNvSpPr/>
          <p:nvPr/>
        </p:nvSpPr>
        <p:spPr>
          <a:xfrm>
            <a:off x="548640" y="1645920"/>
            <a:ext cx="2011680" cy="1463040"/>
          </a:xfrm>
          <a:prstGeom prst="rect">
            <a:avLst/>
          </a:prstGeom>
          <a:solidFill>
            <a:srgbClr val="24424D"/>
          </a:solidFill>
          <a:ln w="12700">
            <a:solidFill>
              <a:srgbClr val="24424D"/>
            </a:solidFill>
            <a:prstDash val="solid"/>
          </a:ln>
        </p:spPr>
      </p:sp>
      <p:sp>
        <p:nvSpPr>
          <p:cNvPr id="5" name="Text 2"/>
          <p:cNvSpPr txBox="1"/>
          <p:nvPr/>
        </p:nvSpPr>
        <p:spPr>
          <a:xfrm>
            <a:off x="685800" y="1783080"/>
            <a:ext cx="1737360" cy="365760"/>
          </a:xfrm>
          <a:prstGeom prst="rect">
            <a:avLst/>
          </a:prstGeom>
          <a:noFill/>
          <a:ln/>
        </p:spPr>
        <p:txBody>
          <a:bodyPr wrap="square" lIns="0" tIns="0" rIns="0" bIns="0" rtlCol="0" anchor="t"/>
          <a:lstStyle/>
          <a:p>
            <a:pPr marL="0" indent="0">
              <a:buNone/>
            </a:pPr>
            <a:r>
              <a:rPr lang="en-US" sz="2000" b="1" dirty="0">
                <a:solidFill>
                  <a:srgbClr val="FFFFFF"/>
                </a:solidFill>
              </a:rPr>
              <a:t>Source files</a:t>
            </a:r>
            <a:endParaRPr lang="en-US" sz="2000" dirty="0"/>
          </a:p>
        </p:txBody>
      </p:sp>
      <p:sp>
        <p:nvSpPr>
          <p:cNvPr id="6" name="Text 3"/>
          <p:cNvSpPr txBox="1"/>
          <p:nvPr/>
        </p:nvSpPr>
        <p:spPr>
          <a:xfrm>
            <a:off x="685800" y="2240280"/>
            <a:ext cx="1737360" cy="731520"/>
          </a:xfrm>
          <a:prstGeom prst="rect">
            <a:avLst/>
          </a:prstGeom>
          <a:noFill/>
          <a:ln/>
        </p:spPr>
        <p:txBody>
          <a:bodyPr wrap="square" lIns="0" tIns="0" rIns="0" bIns="0" rtlCol="0" anchor="t"/>
          <a:lstStyle/>
          <a:p>
            <a:pPr marL="0" indent="0">
              <a:buNone/>
            </a:pPr>
            <a:r>
              <a:rPr lang="en-US" sz="1400" dirty="0">
                <a:solidFill>
                  <a:srgbClr val="FFFFFF"/>
                </a:solidFill>
              </a:rPr>
              <a:t>10 datasets</a:t>
            </a:r>
            <a:endParaRPr lang="en-US" sz="1400" dirty="0"/>
          </a:p>
        </p:txBody>
      </p:sp>
      <p:sp>
        <p:nvSpPr>
          <p:cNvPr id="7" name="Shape 4"/>
          <p:cNvSpPr/>
          <p:nvPr/>
        </p:nvSpPr>
        <p:spPr>
          <a:xfrm>
            <a:off x="2560320" y="2377440"/>
            <a:ext cx="256032" cy="0"/>
          </a:xfrm>
          <a:prstGeom prst="line">
            <a:avLst/>
          </a:prstGeom>
          <a:noFill/>
          <a:ln w="25400">
            <a:solidFill>
              <a:srgbClr val="1B2A34"/>
            </a:solidFill>
            <a:prstDash val="solid"/>
            <a:tailEnd type="triangle"/>
          </a:ln>
        </p:spPr>
      </p:sp>
      <p:sp>
        <p:nvSpPr>
          <p:cNvPr id="8" name="Text 5"/>
          <p:cNvSpPr txBox="1"/>
          <p:nvPr/>
        </p:nvSpPr>
        <p:spPr>
          <a:xfrm>
            <a:off x="548640" y="3291840"/>
            <a:ext cx="2011680" cy="594360"/>
          </a:xfrm>
          <a:prstGeom prst="rect">
            <a:avLst/>
          </a:prstGeom>
          <a:noFill/>
          <a:ln/>
        </p:spPr>
        <p:txBody>
          <a:bodyPr wrap="square" lIns="0" tIns="0" rIns="0" bIns="0" rtlCol="0" anchor="t"/>
          <a:lstStyle/>
          <a:p>
            <a:pPr marL="0" indent="0">
              <a:buNone/>
            </a:pPr>
            <a:r>
              <a:rPr lang="en-US" sz="1400" dirty="0">
                <a:solidFill>
                  <a:schemeClr val="tx2"/>
                </a:solidFill>
              </a:rPr>
              <a:t>CSV · Excel · JSON · XML · SQL</a:t>
            </a:r>
            <a:endParaRPr lang="en-US" sz="1400" dirty="0"/>
          </a:p>
        </p:txBody>
      </p:sp>
      <p:sp>
        <p:nvSpPr>
          <p:cNvPr id="9" name="Text 6"/>
          <p:cNvSpPr txBox="1"/>
          <p:nvPr/>
        </p:nvSpPr>
        <p:spPr>
          <a:xfrm>
            <a:off x="548640" y="3931920"/>
            <a:ext cx="2011680" cy="274320"/>
          </a:xfrm>
          <a:prstGeom prst="rect">
            <a:avLst/>
          </a:prstGeom>
          <a:noFill/>
          <a:ln/>
        </p:spPr>
        <p:txBody>
          <a:bodyPr wrap="square" lIns="0" tIns="0" rIns="0" bIns="0" rtlCol="0" anchor="t"/>
          <a:lstStyle/>
          <a:p>
            <a:pPr marL="0" indent="0">
              <a:buNone/>
            </a:pPr>
            <a:r>
              <a:rPr lang="en-US" sz="1400" b="1" dirty="0">
                <a:solidFill>
                  <a:schemeClr val="tx1"/>
                </a:solidFill>
                <a:latin typeface="Courier New" pitchFamily="34" charset="0"/>
                <a:ea typeface="Courier New" pitchFamily="34" charset="-122"/>
                <a:cs typeface="Courier New" pitchFamily="34" charset="-120"/>
              </a:rPr>
              <a:t>datasets/</a:t>
            </a:r>
            <a:endParaRPr lang="en-US" sz="1400" dirty="0"/>
          </a:p>
        </p:txBody>
      </p:sp>
      <p:sp>
        <p:nvSpPr>
          <p:cNvPr id="10" name="Layer box"/>
          <p:cNvSpPr/>
          <p:nvPr/>
        </p:nvSpPr>
        <p:spPr>
          <a:xfrm>
            <a:off x="2816352" y="1645920"/>
            <a:ext cx="2011680" cy="1463040"/>
          </a:xfrm>
          <a:prstGeom prst="rect">
            <a:avLst/>
          </a:prstGeom>
          <a:solidFill>
            <a:srgbClr val="B87333"/>
          </a:solidFill>
          <a:ln w="12700">
            <a:solidFill>
              <a:srgbClr val="B87333"/>
            </a:solidFill>
            <a:prstDash val="solid"/>
          </a:ln>
        </p:spPr>
      </p:sp>
      <p:sp>
        <p:nvSpPr>
          <p:cNvPr id="11" name="Text 8"/>
          <p:cNvSpPr txBox="1"/>
          <p:nvPr/>
        </p:nvSpPr>
        <p:spPr>
          <a:xfrm>
            <a:off x="2953512" y="1783080"/>
            <a:ext cx="1737360" cy="365760"/>
          </a:xfrm>
          <a:prstGeom prst="rect">
            <a:avLst/>
          </a:prstGeom>
          <a:noFill/>
          <a:ln/>
        </p:spPr>
        <p:txBody>
          <a:bodyPr wrap="square" lIns="0" tIns="0" rIns="0" bIns="0" rtlCol="0" anchor="t"/>
          <a:lstStyle/>
          <a:p>
            <a:pPr marL="0" indent="0">
              <a:buNone/>
            </a:pPr>
            <a:r>
              <a:rPr lang="en-US" sz="2000" b="1" dirty="0">
                <a:solidFill>
                  <a:srgbClr val="FFFFFF"/>
                </a:solidFill>
              </a:rPr>
              <a:t>Bronze</a:t>
            </a:r>
            <a:endParaRPr lang="en-US" sz="2000" dirty="0"/>
          </a:p>
        </p:txBody>
      </p:sp>
      <p:sp>
        <p:nvSpPr>
          <p:cNvPr id="12" name="Text 9"/>
          <p:cNvSpPr txBox="1"/>
          <p:nvPr/>
        </p:nvSpPr>
        <p:spPr>
          <a:xfrm>
            <a:off x="2953512" y="2240280"/>
            <a:ext cx="1737360" cy="731520"/>
          </a:xfrm>
          <a:prstGeom prst="rect">
            <a:avLst/>
          </a:prstGeom>
          <a:noFill/>
          <a:ln/>
        </p:spPr>
        <p:txBody>
          <a:bodyPr wrap="square" lIns="0" tIns="0" rIns="0" bIns="0" rtlCol="0" anchor="t"/>
          <a:lstStyle/>
          <a:p>
            <a:pPr marL="0" indent="0">
              <a:buNone/>
            </a:pPr>
            <a:r>
              <a:rPr lang="en-US" sz="1400" dirty="0">
                <a:solidFill>
                  <a:srgbClr val="FFFFFF"/>
                </a:solidFill>
              </a:rPr>
              <a:t>Raw copy, unchanged</a:t>
            </a:r>
            <a:endParaRPr lang="en-US" sz="1400" dirty="0"/>
          </a:p>
        </p:txBody>
      </p:sp>
      <p:sp>
        <p:nvSpPr>
          <p:cNvPr id="13" name="Shape 10"/>
          <p:cNvSpPr/>
          <p:nvPr/>
        </p:nvSpPr>
        <p:spPr>
          <a:xfrm>
            <a:off x="4828032" y="2377440"/>
            <a:ext cx="256032" cy="0"/>
          </a:xfrm>
          <a:prstGeom prst="line">
            <a:avLst/>
          </a:prstGeom>
          <a:noFill/>
          <a:ln w="25400">
            <a:solidFill>
              <a:srgbClr val="1B2A34"/>
            </a:solidFill>
            <a:prstDash val="solid"/>
            <a:tailEnd type="triangle"/>
          </a:ln>
        </p:spPr>
      </p:sp>
      <p:sp>
        <p:nvSpPr>
          <p:cNvPr id="14" name="Text 11"/>
          <p:cNvSpPr txBox="1"/>
          <p:nvPr/>
        </p:nvSpPr>
        <p:spPr>
          <a:xfrm>
            <a:off x="2816352" y="3291840"/>
            <a:ext cx="2011680" cy="594360"/>
          </a:xfrm>
          <a:prstGeom prst="rect">
            <a:avLst/>
          </a:prstGeom>
          <a:noFill/>
          <a:ln/>
        </p:spPr>
        <p:txBody>
          <a:bodyPr wrap="square" lIns="0" tIns="0" rIns="0" bIns="0" rtlCol="0" anchor="t"/>
          <a:lstStyle/>
          <a:p>
            <a:pPr marL="0" indent="0">
              <a:buNone/>
            </a:pPr>
            <a:r>
              <a:rPr lang="en-US" sz="1400" dirty="0">
                <a:solidFill>
                  <a:schemeClr val="tx2"/>
                </a:solidFill>
              </a:rPr>
              <a:t>Pentaho ingestion</a:t>
            </a:r>
            <a:endParaRPr lang="en-US" sz="1400" dirty="0"/>
          </a:p>
        </p:txBody>
      </p:sp>
      <p:sp>
        <p:nvSpPr>
          <p:cNvPr id="15" name="Text 12"/>
          <p:cNvSpPr txBox="1"/>
          <p:nvPr/>
        </p:nvSpPr>
        <p:spPr>
          <a:xfrm>
            <a:off x="2816352" y="3931920"/>
            <a:ext cx="2011680" cy="274320"/>
          </a:xfrm>
          <a:prstGeom prst="rect">
            <a:avLst/>
          </a:prstGeom>
          <a:noFill/>
          <a:ln/>
        </p:spPr>
        <p:txBody>
          <a:bodyPr wrap="square" lIns="0" tIns="0" rIns="0" bIns="0" rtlCol="0" anchor="t"/>
          <a:lstStyle/>
          <a:p>
            <a:pPr marL="0" indent="0">
              <a:buNone/>
            </a:pPr>
            <a:r>
              <a:rPr lang="en-US" sz="1400" b="1" dirty="0">
                <a:solidFill>
                  <a:schemeClr val="tx1"/>
                </a:solidFill>
                <a:latin typeface="Courier New" pitchFamily="34" charset="0"/>
                <a:ea typeface="Courier New" pitchFamily="34" charset="-122"/>
                <a:cs typeface="Courier New" pitchFamily="34" charset="-120"/>
              </a:rPr>
              <a:t>bronze/</a:t>
            </a:r>
            <a:endParaRPr lang="en-US" sz="1400" dirty="0"/>
          </a:p>
        </p:txBody>
      </p:sp>
      <p:sp>
        <p:nvSpPr>
          <p:cNvPr id="16" name="Layer box"/>
          <p:cNvSpPr/>
          <p:nvPr/>
        </p:nvSpPr>
        <p:spPr>
          <a:xfrm>
            <a:off x="5084064" y="1645920"/>
            <a:ext cx="2011680" cy="1463040"/>
          </a:xfrm>
          <a:prstGeom prst="rect">
            <a:avLst/>
          </a:prstGeom>
          <a:solidFill>
            <a:srgbClr val="8E99A4"/>
          </a:solidFill>
          <a:ln w="12700">
            <a:solidFill>
              <a:srgbClr val="8E99A4"/>
            </a:solidFill>
            <a:prstDash val="solid"/>
          </a:ln>
        </p:spPr>
      </p:sp>
      <p:sp>
        <p:nvSpPr>
          <p:cNvPr id="17" name="Text 14"/>
          <p:cNvSpPr txBox="1"/>
          <p:nvPr/>
        </p:nvSpPr>
        <p:spPr>
          <a:xfrm>
            <a:off x="5221224" y="1783080"/>
            <a:ext cx="1737360" cy="365760"/>
          </a:xfrm>
          <a:prstGeom prst="rect">
            <a:avLst/>
          </a:prstGeom>
          <a:noFill/>
          <a:ln/>
        </p:spPr>
        <p:txBody>
          <a:bodyPr wrap="square" lIns="0" tIns="0" rIns="0" bIns="0" rtlCol="0" anchor="t"/>
          <a:lstStyle/>
          <a:p>
            <a:pPr marL="0" indent="0">
              <a:buNone/>
            </a:pPr>
            <a:r>
              <a:rPr lang="en-US" sz="2000" b="1" dirty="0">
                <a:solidFill>
                  <a:srgbClr val="1B2A34"/>
                </a:solidFill>
              </a:rPr>
              <a:t>Silver</a:t>
            </a:r>
            <a:endParaRPr lang="en-US" sz="2000" dirty="0"/>
          </a:p>
        </p:txBody>
      </p:sp>
      <p:sp>
        <p:nvSpPr>
          <p:cNvPr id="18" name="Text 15"/>
          <p:cNvSpPr txBox="1"/>
          <p:nvPr/>
        </p:nvSpPr>
        <p:spPr>
          <a:xfrm>
            <a:off x="5221224" y="2240280"/>
            <a:ext cx="1737360" cy="731520"/>
          </a:xfrm>
          <a:prstGeom prst="rect">
            <a:avLst/>
          </a:prstGeom>
          <a:noFill/>
          <a:ln/>
        </p:spPr>
        <p:txBody>
          <a:bodyPr wrap="square" lIns="0" tIns="0" rIns="0" bIns="0" rtlCol="0" anchor="t"/>
          <a:lstStyle/>
          <a:p>
            <a:pPr marL="0" indent="0">
              <a:buNone/>
            </a:pPr>
            <a:r>
              <a:rPr lang="en-US" sz="1400" dirty="0">
                <a:solidFill>
                  <a:srgbClr val="1B2A34"/>
                </a:solidFill>
              </a:rPr>
              <a:t>Cleaned and validated</a:t>
            </a:r>
            <a:endParaRPr lang="en-US" sz="1400" dirty="0"/>
          </a:p>
        </p:txBody>
      </p:sp>
      <p:sp>
        <p:nvSpPr>
          <p:cNvPr id="19" name="Shape 16"/>
          <p:cNvSpPr/>
          <p:nvPr/>
        </p:nvSpPr>
        <p:spPr>
          <a:xfrm>
            <a:off x="7095744" y="2377440"/>
            <a:ext cx="256032" cy="0"/>
          </a:xfrm>
          <a:prstGeom prst="line">
            <a:avLst/>
          </a:prstGeom>
          <a:noFill/>
          <a:ln w="25400">
            <a:solidFill>
              <a:srgbClr val="1B2A34"/>
            </a:solidFill>
            <a:prstDash val="solid"/>
            <a:tailEnd type="triangle"/>
          </a:ln>
        </p:spPr>
      </p:sp>
      <p:sp>
        <p:nvSpPr>
          <p:cNvPr id="20" name="Text 17"/>
          <p:cNvSpPr txBox="1"/>
          <p:nvPr/>
        </p:nvSpPr>
        <p:spPr>
          <a:xfrm>
            <a:off x="5084064" y="3291840"/>
            <a:ext cx="2011680" cy="594360"/>
          </a:xfrm>
          <a:prstGeom prst="rect">
            <a:avLst/>
          </a:prstGeom>
          <a:noFill/>
          <a:ln/>
        </p:spPr>
        <p:txBody>
          <a:bodyPr wrap="square" lIns="0" tIns="0" rIns="0" bIns="0" rtlCol="0" anchor="t"/>
          <a:lstStyle/>
          <a:p>
            <a:pPr marL="0" indent="0">
              <a:buNone/>
            </a:pPr>
            <a:r>
              <a:rPr lang="en-US" sz="1400" dirty="0">
                <a:solidFill>
                  <a:schemeClr val="tx2"/>
                </a:solidFill>
              </a:rPr>
              <a:t>Python scripts</a:t>
            </a:r>
            <a:endParaRPr lang="en-US" sz="1400" dirty="0"/>
          </a:p>
        </p:txBody>
      </p:sp>
      <p:sp>
        <p:nvSpPr>
          <p:cNvPr id="21" name="Text 18"/>
          <p:cNvSpPr txBox="1"/>
          <p:nvPr/>
        </p:nvSpPr>
        <p:spPr>
          <a:xfrm>
            <a:off x="5084064" y="3931920"/>
            <a:ext cx="2011680" cy="274320"/>
          </a:xfrm>
          <a:prstGeom prst="rect">
            <a:avLst/>
          </a:prstGeom>
          <a:noFill/>
          <a:ln/>
        </p:spPr>
        <p:txBody>
          <a:bodyPr wrap="square" lIns="0" tIns="0" rIns="0" bIns="0" rtlCol="0" anchor="t"/>
          <a:lstStyle/>
          <a:p>
            <a:pPr marL="0" indent="0">
              <a:buNone/>
            </a:pPr>
            <a:r>
              <a:rPr lang="en-US" sz="1400" b="1" dirty="0">
                <a:solidFill>
                  <a:schemeClr val="tx1"/>
                </a:solidFill>
                <a:latin typeface="Courier New" pitchFamily="34" charset="0"/>
                <a:ea typeface="Courier New" pitchFamily="34" charset="-122"/>
                <a:cs typeface="Courier New" pitchFamily="34" charset="-120"/>
              </a:rPr>
              <a:t>silver/</a:t>
            </a:r>
            <a:endParaRPr lang="en-US" sz="1400" dirty="0"/>
          </a:p>
        </p:txBody>
      </p:sp>
      <p:sp>
        <p:nvSpPr>
          <p:cNvPr id="22" name="Layer box"/>
          <p:cNvSpPr/>
          <p:nvPr/>
        </p:nvSpPr>
        <p:spPr>
          <a:xfrm>
            <a:off x="7351776" y="1645920"/>
            <a:ext cx="2011680" cy="1463040"/>
          </a:xfrm>
          <a:prstGeom prst="rect">
            <a:avLst/>
          </a:prstGeom>
          <a:solidFill>
            <a:srgbClr val="D9A404"/>
          </a:solidFill>
          <a:ln w="12700">
            <a:solidFill>
              <a:srgbClr val="D9A404"/>
            </a:solidFill>
            <a:prstDash val="solid"/>
          </a:ln>
        </p:spPr>
      </p:sp>
      <p:sp>
        <p:nvSpPr>
          <p:cNvPr id="23" name="Text 20"/>
          <p:cNvSpPr txBox="1"/>
          <p:nvPr/>
        </p:nvSpPr>
        <p:spPr>
          <a:xfrm>
            <a:off x="7488936" y="1783080"/>
            <a:ext cx="1737360" cy="365760"/>
          </a:xfrm>
          <a:prstGeom prst="rect">
            <a:avLst/>
          </a:prstGeom>
          <a:noFill/>
          <a:ln/>
        </p:spPr>
        <p:txBody>
          <a:bodyPr wrap="square" lIns="0" tIns="0" rIns="0" bIns="0" rtlCol="0" anchor="t"/>
          <a:lstStyle/>
          <a:p>
            <a:pPr marL="0" indent="0">
              <a:buNone/>
            </a:pPr>
            <a:r>
              <a:rPr lang="en-US" sz="2000" b="1" dirty="0">
                <a:solidFill>
                  <a:srgbClr val="1B2A34"/>
                </a:solidFill>
              </a:rPr>
              <a:t>Gold</a:t>
            </a:r>
            <a:endParaRPr lang="en-US" sz="2000" dirty="0"/>
          </a:p>
        </p:txBody>
      </p:sp>
      <p:sp>
        <p:nvSpPr>
          <p:cNvPr id="24" name="Text 21"/>
          <p:cNvSpPr txBox="1"/>
          <p:nvPr/>
        </p:nvSpPr>
        <p:spPr>
          <a:xfrm>
            <a:off x="7488936" y="2240280"/>
            <a:ext cx="1737360" cy="731520"/>
          </a:xfrm>
          <a:prstGeom prst="rect">
            <a:avLst/>
          </a:prstGeom>
          <a:noFill/>
          <a:ln/>
        </p:spPr>
        <p:txBody>
          <a:bodyPr wrap="square" lIns="0" tIns="0" rIns="0" bIns="0" rtlCol="0" anchor="t"/>
          <a:lstStyle/>
          <a:p>
            <a:pPr marL="0" indent="0">
              <a:buNone/>
            </a:pPr>
            <a:r>
              <a:rPr lang="en-US" sz="1400" dirty="0">
                <a:solidFill>
                  <a:srgbClr val="1B2A34"/>
                </a:solidFill>
              </a:rPr>
              <a:t>Star schema</a:t>
            </a:r>
            <a:endParaRPr lang="en-US" sz="1400" dirty="0"/>
          </a:p>
        </p:txBody>
      </p:sp>
      <p:sp>
        <p:nvSpPr>
          <p:cNvPr id="25" name="Shape 22"/>
          <p:cNvSpPr/>
          <p:nvPr/>
        </p:nvSpPr>
        <p:spPr>
          <a:xfrm>
            <a:off x="9363456" y="2377440"/>
            <a:ext cx="256032" cy="0"/>
          </a:xfrm>
          <a:prstGeom prst="line">
            <a:avLst/>
          </a:prstGeom>
          <a:noFill/>
          <a:ln w="25400">
            <a:solidFill>
              <a:srgbClr val="1B2A34"/>
            </a:solidFill>
            <a:prstDash val="solid"/>
            <a:tailEnd type="triangle"/>
          </a:ln>
        </p:spPr>
      </p:sp>
      <p:sp>
        <p:nvSpPr>
          <p:cNvPr id="26" name="Text 23"/>
          <p:cNvSpPr txBox="1"/>
          <p:nvPr/>
        </p:nvSpPr>
        <p:spPr>
          <a:xfrm>
            <a:off x="7351776" y="3291840"/>
            <a:ext cx="2011680" cy="594360"/>
          </a:xfrm>
          <a:prstGeom prst="rect">
            <a:avLst/>
          </a:prstGeom>
          <a:noFill/>
          <a:ln/>
        </p:spPr>
        <p:txBody>
          <a:bodyPr wrap="square" lIns="0" tIns="0" rIns="0" bIns="0" rtlCol="0" anchor="t"/>
          <a:lstStyle/>
          <a:p>
            <a:pPr marL="0" indent="0">
              <a:buNone/>
            </a:pPr>
            <a:r>
              <a:rPr lang="en-US" sz="1400" dirty="0">
                <a:solidFill>
                  <a:schemeClr val="tx2"/>
                </a:solidFill>
              </a:rPr>
              <a:t>PostgreSQL, loaded by Pentaho</a:t>
            </a:r>
            <a:endParaRPr lang="en-US" sz="1400" dirty="0"/>
          </a:p>
        </p:txBody>
      </p:sp>
      <p:sp>
        <p:nvSpPr>
          <p:cNvPr id="27" name="Text 24"/>
          <p:cNvSpPr txBox="1"/>
          <p:nvPr/>
        </p:nvSpPr>
        <p:spPr>
          <a:xfrm>
            <a:off x="7351776" y="3931920"/>
            <a:ext cx="2011680" cy="274320"/>
          </a:xfrm>
          <a:prstGeom prst="rect">
            <a:avLst/>
          </a:prstGeom>
          <a:noFill/>
          <a:ln/>
        </p:spPr>
        <p:txBody>
          <a:bodyPr wrap="square" lIns="0" tIns="0" rIns="0" bIns="0" rtlCol="0" anchor="t"/>
          <a:lstStyle/>
          <a:p>
            <a:pPr marL="0" indent="0">
              <a:buNone/>
            </a:pPr>
            <a:r>
              <a:rPr lang="en-US" sz="1400" b="1" dirty="0">
                <a:solidFill>
                  <a:schemeClr val="tx1"/>
                </a:solidFill>
                <a:latin typeface="Courier New" pitchFamily="34" charset="0"/>
                <a:ea typeface="Courier New" pitchFamily="34" charset="-122"/>
                <a:cs typeface="Courier New" pitchFamily="34" charset="-120"/>
              </a:rPr>
              <a:t>sql/ and pentaho/</a:t>
            </a:r>
            <a:endParaRPr lang="en-US" sz="1400" dirty="0"/>
          </a:p>
        </p:txBody>
      </p:sp>
      <p:sp>
        <p:nvSpPr>
          <p:cNvPr id="28" name="Layer box"/>
          <p:cNvSpPr/>
          <p:nvPr/>
        </p:nvSpPr>
        <p:spPr>
          <a:xfrm>
            <a:off x="9619488" y="1645920"/>
            <a:ext cx="2011680" cy="1463040"/>
          </a:xfrm>
          <a:prstGeom prst="rect">
            <a:avLst/>
          </a:prstGeom>
          <a:solidFill>
            <a:srgbClr val="0F766E"/>
          </a:solidFill>
          <a:ln w="12700">
            <a:solidFill>
              <a:srgbClr val="0F766E"/>
            </a:solidFill>
            <a:prstDash val="solid"/>
          </a:ln>
        </p:spPr>
      </p:sp>
      <p:sp>
        <p:nvSpPr>
          <p:cNvPr id="29" name="Text 26"/>
          <p:cNvSpPr txBox="1"/>
          <p:nvPr/>
        </p:nvSpPr>
        <p:spPr>
          <a:xfrm>
            <a:off x="9756648" y="1783080"/>
            <a:ext cx="1737360" cy="365760"/>
          </a:xfrm>
          <a:prstGeom prst="rect">
            <a:avLst/>
          </a:prstGeom>
          <a:noFill/>
          <a:ln/>
        </p:spPr>
        <p:txBody>
          <a:bodyPr wrap="square" lIns="0" tIns="0" rIns="0" bIns="0" rtlCol="0" anchor="t"/>
          <a:lstStyle/>
          <a:p>
            <a:pPr marL="0" indent="0">
              <a:buNone/>
            </a:pPr>
            <a:r>
              <a:rPr lang="en-US" sz="2000" b="1" dirty="0">
                <a:solidFill>
                  <a:srgbClr val="FFFFFF"/>
                </a:solidFill>
              </a:rPr>
              <a:t>Consumers</a:t>
            </a:r>
            <a:endParaRPr lang="en-US" sz="2000" dirty="0"/>
          </a:p>
        </p:txBody>
      </p:sp>
      <p:sp>
        <p:nvSpPr>
          <p:cNvPr id="30" name="Text 27"/>
          <p:cNvSpPr txBox="1"/>
          <p:nvPr/>
        </p:nvSpPr>
        <p:spPr>
          <a:xfrm>
            <a:off x="9756648" y="2240280"/>
            <a:ext cx="1737360" cy="731520"/>
          </a:xfrm>
          <a:prstGeom prst="rect">
            <a:avLst/>
          </a:prstGeom>
          <a:noFill/>
          <a:ln/>
        </p:spPr>
        <p:txBody>
          <a:bodyPr wrap="square" lIns="0" tIns="0" rIns="0" bIns="0" rtlCol="0" anchor="t"/>
          <a:lstStyle/>
          <a:p>
            <a:pPr marL="0" indent="0">
              <a:buNone/>
            </a:pPr>
            <a:r>
              <a:rPr lang="en-US" sz="1400" dirty="0">
                <a:solidFill>
                  <a:srgbClr val="FFFFFF"/>
                </a:solidFill>
              </a:rPr>
              <a:t>SQL reports</a:t>
            </a:r>
            <a:endParaRPr lang="en-US" sz="1400" dirty="0"/>
          </a:p>
        </p:txBody>
      </p:sp>
      <p:sp>
        <p:nvSpPr>
          <p:cNvPr id="31" name="Text 28"/>
          <p:cNvSpPr txBox="1"/>
          <p:nvPr/>
        </p:nvSpPr>
        <p:spPr>
          <a:xfrm>
            <a:off x="9619488" y="3291840"/>
            <a:ext cx="2011680" cy="594360"/>
          </a:xfrm>
          <a:prstGeom prst="rect">
            <a:avLst/>
          </a:prstGeom>
          <a:noFill/>
          <a:ln/>
        </p:spPr>
        <p:txBody>
          <a:bodyPr wrap="square" lIns="0" tIns="0" rIns="0" bIns="0" rtlCol="0" anchor="t"/>
          <a:lstStyle/>
          <a:p>
            <a:pPr marL="0" indent="0">
              <a:buNone/>
            </a:pPr>
            <a:r>
              <a:rPr lang="en-US" sz="1400" dirty="0">
                <a:solidFill>
                  <a:schemeClr val="tx2"/>
                </a:solidFill>
              </a:rPr>
              <a:t>Tableau dashboards</a:t>
            </a:r>
            <a:endParaRPr lang="en-US" sz="1400" dirty="0"/>
          </a:p>
        </p:txBody>
      </p:sp>
      <p:sp>
        <p:nvSpPr>
          <p:cNvPr id="32" name="Text 29"/>
          <p:cNvSpPr txBox="1"/>
          <p:nvPr/>
        </p:nvSpPr>
        <p:spPr>
          <a:xfrm>
            <a:off x="9619488" y="3931920"/>
            <a:ext cx="2011680" cy="274320"/>
          </a:xfrm>
          <a:prstGeom prst="rect">
            <a:avLst/>
          </a:prstGeom>
          <a:noFill/>
          <a:ln/>
        </p:spPr>
        <p:txBody>
          <a:bodyPr wrap="square" lIns="0" tIns="0" rIns="0" bIns="0" rtlCol="0" anchor="t"/>
          <a:lstStyle/>
          <a:p>
            <a:pPr marL="0" indent="0">
              <a:buNone/>
            </a:pPr>
            <a:r>
              <a:rPr lang="en-US" sz="1400" b="1" dirty="0">
                <a:solidFill>
                  <a:schemeClr val="tx1"/>
                </a:solidFill>
                <a:latin typeface="Courier New" pitchFamily="34" charset="0"/>
                <a:ea typeface="Courier New" pitchFamily="34" charset="-122"/>
                <a:cs typeface="Courier New" pitchFamily="34" charset="-120"/>
              </a:rPr>
              <a:t>dashboards/</a:t>
            </a:r>
            <a:endParaRPr lang="en-US" sz="1400" dirty="0"/>
          </a:p>
        </p:txBody>
      </p:sp>
      <p:sp>
        <p:nvSpPr>
          <p:cNvPr id="33" name="Principle card"/>
          <p:cNvSpPr/>
          <p:nvPr/>
        </p:nvSpPr>
        <p:spPr>
          <a:xfrm>
            <a:off x="548640" y="4663440"/>
            <a:ext cx="3520440" cy="1371600"/>
          </a:xfrm>
          <a:prstGeom prst="rect">
            <a:avLst/>
          </a:prstGeom>
          <a:solidFill>
            <a:schemeClr val="bg2"/>
          </a:solidFill>
          <a:ln w="12700">
            <a:solidFill>
              <a:schemeClr val="bg2"/>
            </a:solidFill>
            <a:prstDash val="solid"/>
          </a:ln>
        </p:spPr>
      </p:sp>
      <p:sp>
        <p:nvSpPr>
          <p:cNvPr id="34" name="Text 31"/>
          <p:cNvSpPr txBox="1"/>
          <p:nvPr/>
        </p:nvSpPr>
        <p:spPr>
          <a:xfrm>
            <a:off x="777240" y="4846320"/>
            <a:ext cx="3108960" cy="365760"/>
          </a:xfrm>
          <a:prstGeom prst="rect">
            <a:avLst/>
          </a:prstGeom>
          <a:noFill/>
          <a:ln/>
        </p:spPr>
        <p:txBody>
          <a:bodyPr wrap="square" lIns="0" tIns="0" rIns="0" bIns="0" rtlCol="0" anchor="t"/>
          <a:lstStyle/>
          <a:p>
            <a:pPr marL="0" indent="0">
              <a:buNone/>
            </a:pPr>
            <a:r>
              <a:rPr lang="en-US" sz="1800" b="1" dirty="0">
                <a:solidFill>
                  <a:schemeClr val="accent1"/>
                </a:solidFill>
              </a:rPr>
              <a:t>Raw data is never altered</a:t>
            </a:r>
            <a:endParaRPr lang="en-US" sz="1800" dirty="0"/>
          </a:p>
        </p:txBody>
      </p:sp>
      <p:sp>
        <p:nvSpPr>
          <p:cNvPr id="35" name="Text 32"/>
          <p:cNvSpPr txBox="1"/>
          <p:nvPr/>
        </p:nvSpPr>
        <p:spPr>
          <a:xfrm>
            <a:off x="777240" y="5303520"/>
            <a:ext cx="3108960" cy="548640"/>
          </a:xfrm>
          <a:prstGeom prst="rect">
            <a:avLst/>
          </a:prstGeom>
          <a:noFill/>
          <a:ln/>
        </p:spPr>
        <p:txBody>
          <a:bodyPr wrap="square" lIns="0" tIns="0" rIns="0" bIns="0" rtlCol="0" anchor="t"/>
          <a:lstStyle/>
          <a:p>
            <a:pPr marL="0" indent="0">
              <a:buNone/>
            </a:pPr>
            <a:r>
              <a:rPr lang="en-US" sz="1400" dirty="0">
                <a:solidFill>
                  <a:schemeClr val="tx1"/>
                </a:solidFill>
              </a:rPr>
              <a:t>Bronze keeps the original</a:t>
            </a:r>
            <a:endParaRPr lang="en-US" sz="1400" dirty="0"/>
          </a:p>
        </p:txBody>
      </p:sp>
      <p:sp>
        <p:nvSpPr>
          <p:cNvPr id="36" name="Principle card"/>
          <p:cNvSpPr/>
          <p:nvPr/>
        </p:nvSpPr>
        <p:spPr>
          <a:xfrm>
            <a:off x="4334256" y="4663440"/>
            <a:ext cx="3520440" cy="1371600"/>
          </a:xfrm>
          <a:prstGeom prst="rect">
            <a:avLst/>
          </a:prstGeom>
          <a:solidFill>
            <a:schemeClr val="bg2"/>
          </a:solidFill>
          <a:ln w="12700">
            <a:solidFill>
              <a:schemeClr val="bg2"/>
            </a:solidFill>
            <a:prstDash val="solid"/>
          </a:ln>
        </p:spPr>
      </p:sp>
      <p:sp>
        <p:nvSpPr>
          <p:cNvPr id="37" name="Text 34"/>
          <p:cNvSpPr txBox="1"/>
          <p:nvPr/>
        </p:nvSpPr>
        <p:spPr>
          <a:xfrm>
            <a:off x="4562856" y="4846320"/>
            <a:ext cx="3108960" cy="365760"/>
          </a:xfrm>
          <a:prstGeom prst="rect">
            <a:avLst/>
          </a:prstGeom>
          <a:noFill/>
          <a:ln/>
        </p:spPr>
        <p:txBody>
          <a:bodyPr wrap="square" lIns="0" tIns="0" rIns="0" bIns="0" rtlCol="0" anchor="t"/>
          <a:lstStyle/>
          <a:p>
            <a:pPr marL="0" indent="0">
              <a:buNone/>
            </a:pPr>
            <a:r>
              <a:rPr lang="en-US" sz="1800" b="1" dirty="0">
                <a:solidFill>
                  <a:schemeClr val="accent1"/>
                </a:solidFill>
              </a:rPr>
              <a:t>Every step is a script</a:t>
            </a:r>
            <a:endParaRPr lang="en-US" sz="1800" dirty="0"/>
          </a:p>
        </p:txBody>
      </p:sp>
      <p:sp>
        <p:nvSpPr>
          <p:cNvPr id="38" name="Text 35"/>
          <p:cNvSpPr txBox="1"/>
          <p:nvPr/>
        </p:nvSpPr>
        <p:spPr>
          <a:xfrm>
            <a:off x="4562856" y="5303520"/>
            <a:ext cx="3108960" cy="548640"/>
          </a:xfrm>
          <a:prstGeom prst="rect">
            <a:avLst/>
          </a:prstGeom>
          <a:noFill/>
          <a:ln/>
        </p:spPr>
        <p:txBody>
          <a:bodyPr wrap="square" lIns="0" tIns="0" rIns="0" bIns="0" rtlCol="0" anchor="t"/>
          <a:lstStyle/>
          <a:p>
            <a:pPr marL="0" indent="0">
              <a:buNone/>
            </a:pPr>
            <a:r>
              <a:rPr lang="en-US" sz="1400" dirty="0">
                <a:solidFill>
                  <a:schemeClr val="tx1"/>
                </a:solidFill>
              </a:rPr>
              <a:t>Python or Pentaho, no manual edits</a:t>
            </a:r>
            <a:endParaRPr lang="en-US" sz="1400" dirty="0"/>
          </a:p>
        </p:txBody>
      </p:sp>
      <p:sp>
        <p:nvSpPr>
          <p:cNvPr id="39" name="Principle card"/>
          <p:cNvSpPr/>
          <p:nvPr/>
        </p:nvSpPr>
        <p:spPr>
          <a:xfrm>
            <a:off x="8119872" y="4663440"/>
            <a:ext cx="3520440" cy="1371600"/>
          </a:xfrm>
          <a:prstGeom prst="rect">
            <a:avLst/>
          </a:prstGeom>
          <a:solidFill>
            <a:schemeClr val="bg2"/>
          </a:solidFill>
          <a:ln w="12700">
            <a:solidFill>
              <a:schemeClr val="bg2"/>
            </a:solidFill>
            <a:prstDash val="solid"/>
          </a:ln>
        </p:spPr>
      </p:sp>
      <p:sp>
        <p:nvSpPr>
          <p:cNvPr id="40" name="Text 37"/>
          <p:cNvSpPr txBox="1"/>
          <p:nvPr/>
        </p:nvSpPr>
        <p:spPr>
          <a:xfrm>
            <a:off x="8348472" y="4846320"/>
            <a:ext cx="3108960" cy="365760"/>
          </a:xfrm>
          <a:prstGeom prst="rect">
            <a:avLst/>
          </a:prstGeom>
          <a:noFill/>
          <a:ln/>
        </p:spPr>
        <p:txBody>
          <a:bodyPr wrap="square" lIns="0" tIns="0" rIns="0" bIns="0" rtlCol="0" anchor="t"/>
          <a:lstStyle/>
          <a:p>
            <a:pPr marL="0" indent="0">
              <a:buNone/>
            </a:pPr>
            <a:r>
              <a:rPr lang="en-US" sz="1800" b="1" dirty="0">
                <a:solidFill>
                  <a:schemeClr val="accent1"/>
                </a:solidFill>
              </a:rPr>
              <a:t>Each layer can be re-run</a:t>
            </a:r>
            <a:endParaRPr lang="en-US" sz="1800" dirty="0"/>
          </a:p>
        </p:txBody>
      </p:sp>
      <p:sp>
        <p:nvSpPr>
          <p:cNvPr id="41" name="Text 38"/>
          <p:cNvSpPr txBox="1"/>
          <p:nvPr/>
        </p:nvSpPr>
        <p:spPr>
          <a:xfrm>
            <a:off x="8348472" y="5303520"/>
            <a:ext cx="3108960" cy="548640"/>
          </a:xfrm>
          <a:prstGeom prst="rect">
            <a:avLst/>
          </a:prstGeom>
          <a:noFill/>
          <a:ln/>
        </p:spPr>
        <p:txBody>
          <a:bodyPr wrap="square" lIns="0" tIns="0" rIns="0" bIns="0" rtlCol="0" anchor="t"/>
          <a:lstStyle/>
          <a:p>
            <a:pPr marL="0" indent="0">
              <a:buNone/>
            </a:pPr>
            <a:r>
              <a:rPr lang="en-US" sz="1400" dirty="0">
                <a:solidFill>
                  <a:schemeClr val="tx1"/>
                </a:solidFill>
              </a:rPr>
              <a:t>Reset script and reload in minutes</a:t>
            </a:r>
            <a:endParaRPr lang="en-US" sz="1400" dirty="0"/>
          </a:p>
        </p:txBody>
      </p:sp>
      <p:sp>
        <p:nvSpPr>
          <p:cNvPr id="2"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365760"/>
            <a:ext cx="10149840" cy="777240"/>
          </a:xfrm>
          <a:prstGeom prst="rect">
            <a:avLst/>
          </a:prstGeom>
          <a:noFill/>
          <a:ln/>
        </p:spPr>
        <p:txBody>
          <a:bodyPr wrap="square" lIns="0" tIns="0" rIns="0" bIns="0" rtlCol="0" anchor="ctr"/>
          <a:lstStyle/>
          <a:p>
            <a:pPr marL="0" indent="0" algn="l">
              <a:buNone/>
            </a:pPr>
            <a:r>
              <a:rPr lang="en-US" sz="3600" b="1" dirty="0">
                <a:solidFill>
                  <a:schemeClr val="tx1"/>
                </a:solidFill>
              </a:rPr>
              <a:t>Repository structure</a:t>
            </a:r>
            <a:endParaRPr lang="en-US" sz="3600" dirty="0"/>
          </a:p>
        </p:txBody>
      </p:sp>
      <p:sp>
        <p:nvSpPr>
          <p:cNvPr id="4" name="Tree card"/>
          <p:cNvSpPr/>
          <p:nvPr/>
        </p:nvSpPr>
        <p:spPr>
          <a:xfrm>
            <a:off x="548640" y="1463040"/>
            <a:ext cx="6400800" cy="4572000"/>
          </a:xfrm>
          <a:prstGeom prst="rect">
            <a:avLst/>
          </a:prstGeom>
          <a:solidFill>
            <a:schemeClr val="bg2"/>
          </a:solidFill>
          <a:ln w="12700">
            <a:solidFill>
              <a:schemeClr val="bg2"/>
            </a:solidFill>
            <a:prstDash val="solid"/>
          </a:ln>
        </p:spPr>
      </p:sp>
      <p:sp>
        <p:nvSpPr>
          <p:cNvPr id="5" name="Text 2"/>
          <p:cNvSpPr txBox="1"/>
          <p:nvPr/>
        </p:nvSpPr>
        <p:spPr>
          <a:xfrm>
            <a:off x="777240" y="1691640"/>
            <a:ext cx="6035040" cy="4206240"/>
          </a:xfrm>
          <a:prstGeom prst="rect">
            <a:avLst/>
          </a:prstGeom>
          <a:noFill/>
          <a:ln/>
        </p:spPr>
        <p:txBody>
          <a:bodyPr wrap="square" lIns="0" tIns="0" rIns="0" bIns="0" rtlCol="0" anchor="t"/>
          <a:lstStyle/>
          <a:p>
            <a:pPr marL="0" indent="0">
              <a:spcAft>
                <a:spcPts val="200"/>
              </a:spcAft>
              <a:buNone/>
            </a:pPr>
            <a:r>
              <a:rPr lang="en-US" sz="1400" dirty="0">
                <a:solidFill>
                  <a:schemeClr val="tx1"/>
                </a:solidFill>
                <a:latin typeface="Courier New" pitchFamily="34" charset="0"/>
                <a:ea typeface="Courier New" pitchFamily="34" charset="-122"/>
                <a:cs typeface="Courier New" pitchFamily="34" charset="-120"/>
              </a:rPr>
              <a:t>Data-Engineering-UC15/</a:t>
            </a:r>
            <a:endParaRPr lang="en-US" sz="1400" dirty="0"/>
          </a:p>
          <a:p>
            <a:pPr marL="0" indent="0">
              <a:spcAft>
                <a:spcPts val="200"/>
              </a:spcAft>
              <a:buNone/>
            </a:pPr>
            <a:r>
              <a:rPr lang="en-US" sz="1400" dirty="0">
                <a:solidFill>
                  <a:schemeClr val="tx1"/>
                </a:solidFill>
                <a:latin typeface="Courier New" pitchFamily="34" charset="0"/>
                <a:ea typeface="Courier New" pitchFamily="34" charset="-122"/>
                <a:cs typeface="Courier New" pitchFamily="34" charset="-120"/>
              </a:rPr>
              <a:t>├── docs/         reports, BRD, ERD</a:t>
            </a:r>
            <a:endParaRPr lang="en-US" sz="1400" dirty="0"/>
          </a:p>
          <a:p>
            <a:pPr marL="0" indent="0">
              <a:spcAft>
                <a:spcPts val="200"/>
              </a:spcAft>
              <a:buNone/>
            </a:pPr>
            <a:r>
              <a:rPr lang="en-US" sz="1400" dirty="0">
                <a:solidFill>
                  <a:schemeClr val="tx1"/>
                </a:solidFill>
                <a:latin typeface="Courier New" pitchFamily="34" charset="0"/>
                <a:ea typeface="Courier New" pitchFamily="34" charset="-122"/>
                <a:cs typeface="Courier New" pitchFamily="34" charset="-120"/>
              </a:rPr>
              <a:t>├── datasets/     raw source files</a:t>
            </a:r>
            <a:endParaRPr lang="en-US" sz="1400" dirty="0"/>
          </a:p>
          <a:p>
            <a:pPr marL="0" indent="0">
              <a:spcAft>
                <a:spcPts val="200"/>
              </a:spcAft>
              <a:buNone/>
            </a:pPr>
            <a:r>
              <a:rPr lang="en-US" sz="1400" dirty="0">
                <a:solidFill>
                  <a:schemeClr val="tx1"/>
                </a:solidFill>
                <a:latin typeface="Courier New" pitchFamily="34" charset="0"/>
                <a:ea typeface="Courier New" pitchFamily="34" charset="-122"/>
                <a:cs typeface="Courier New" pitchFamily="34" charset="-120"/>
              </a:rPr>
              <a:t>├── bronze/       ingestion, staging</a:t>
            </a:r>
            <a:endParaRPr lang="en-US" sz="1400" dirty="0"/>
          </a:p>
          <a:p>
            <a:pPr marL="0" indent="0">
              <a:spcAft>
                <a:spcPts val="200"/>
              </a:spcAft>
              <a:buNone/>
            </a:pPr>
            <a:r>
              <a:rPr lang="en-US" sz="1400" dirty="0">
                <a:solidFill>
                  <a:schemeClr val="tx1"/>
                </a:solidFill>
                <a:latin typeface="Courier New" pitchFamily="34" charset="0"/>
                <a:ea typeface="Courier New" pitchFamily="34" charset="-122"/>
                <a:cs typeface="Courier New" pitchFamily="34" charset="-120"/>
              </a:rPr>
              <a:t>├── silver/</a:t>
            </a:r>
            <a:endParaRPr lang="en-US" sz="1400" dirty="0"/>
          </a:p>
          <a:p>
            <a:pPr marL="0" indent="0">
              <a:spcAft>
                <a:spcPts val="200"/>
              </a:spcAft>
              <a:buNone/>
            </a:pPr>
            <a:r>
              <a:rPr lang="en-US" sz="1400" dirty="0">
                <a:solidFill>
                  <a:schemeClr val="tx1"/>
                </a:solidFill>
                <a:latin typeface="Courier New" pitchFamily="34" charset="0"/>
                <a:ea typeface="Courier New" pitchFamily="34" charset="-122"/>
                <a:cs typeface="Courier New" pitchFamily="34" charset="-120"/>
              </a:rPr>
              <a:t>│   ├── cleansing/    cleaned data</a:t>
            </a:r>
            <a:endParaRPr lang="en-US" sz="1400" dirty="0"/>
          </a:p>
          <a:p>
            <a:pPr marL="0" indent="0">
              <a:spcAft>
                <a:spcPts val="200"/>
              </a:spcAft>
              <a:buNone/>
            </a:pPr>
            <a:r>
              <a:rPr lang="en-US" sz="1400" dirty="0">
                <a:solidFill>
                  <a:schemeClr val="tx1"/>
                </a:solidFill>
                <a:latin typeface="Courier New" pitchFamily="34" charset="0"/>
                <a:ea typeface="Courier New" pitchFamily="34" charset="-122"/>
                <a:cs typeface="Courier New" pitchFamily="34" charset="-120"/>
              </a:rPr>
              <a:t>│   └── validation/   check results</a:t>
            </a:r>
            <a:endParaRPr lang="en-US" sz="1400" dirty="0"/>
          </a:p>
          <a:p>
            <a:pPr marL="0" indent="0">
              <a:spcAft>
                <a:spcPts val="200"/>
              </a:spcAft>
              <a:buNone/>
            </a:pPr>
            <a:r>
              <a:rPr lang="en-US" sz="1400" dirty="0">
                <a:solidFill>
                  <a:schemeClr val="tx1"/>
                </a:solidFill>
                <a:latin typeface="Courier New" pitchFamily="34" charset="0"/>
                <a:ea typeface="Courier New" pitchFamily="34" charset="-122"/>
                <a:cs typeface="Courier New" pitchFamily="34" charset="-120"/>
              </a:rPr>
              <a:t>├── gold/         (warehouse is in PostgreSQL)</a:t>
            </a:r>
            <a:endParaRPr lang="en-US" sz="1400" dirty="0"/>
          </a:p>
          <a:p>
            <a:pPr marL="0" indent="0">
              <a:spcAft>
                <a:spcPts val="200"/>
              </a:spcAft>
              <a:buNone/>
            </a:pPr>
            <a:r>
              <a:rPr lang="en-US" sz="1400" dirty="0">
                <a:solidFill>
                  <a:schemeClr val="tx1"/>
                </a:solidFill>
                <a:latin typeface="Courier New" pitchFamily="34" charset="0"/>
                <a:ea typeface="Courier New" pitchFamily="34" charset="-122"/>
                <a:cs typeface="Courier New" pitchFamily="34" charset="-120"/>
              </a:rPr>
              <a:t>├── pentaho/</a:t>
            </a:r>
            <a:endParaRPr lang="en-US" sz="1400" dirty="0"/>
          </a:p>
          <a:p>
            <a:pPr marL="0" indent="0">
              <a:spcAft>
                <a:spcPts val="200"/>
              </a:spcAft>
              <a:buNone/>
            </a:pPr>
            <a:r>
              <a:rPr lang="en-US" sz="1400" dirty="0">
                <a:solidFill>
                  <a:schemeClr val="tx1"/>
                </a:solidFill>
                <a:latin typeface="Courier New" pitchFamily="34" charset="0"/>
                <a:ea typeface="Courier New" pitchFamily="34" charset="-122"/>
                <a:cs typeface="Courier New" pitchFamily="34" charset="-120"/>
              </a:rPr>
              <a:t>│   ├── transformations/   .ktr files</a:t>
            </a:r>
            <a:endParaRPr lang="en-US" sz="1400" dirty="0"/>
          </a:p>
          <a:p>
            <a:pPr marL="0" indent="0">
              <a:spcAft>
                <a:spcPts val="200"/>
              </a:spcAft>
              <a:buNone/>
            </a:pPr>
            <a:r>
              <a:rPr lang="en-US" sz="1400" dirty="0">
                <a:solidFill>
                  <a:schemeClr val="tx1"/>
                </a:solidFill>
                <a:latin typeface="Courier New" pitchFamily="34" charset="0"/>
                <a:ea typeface="Courier New" pitchFamily="34" charset="-122"/>
                <a:cs typeface="Courier New" pitchFamily="34" charset="-120"/>
              </a:rPr>
              <a:t>│   └── jobs/              load, end-to-end</a:t>
            </a:r>
            <a:endParaRPr lang="en-US" sz="1400" dirty="0"/>
          </a:p>
          <a:p>
            <a:pPr marL="0" indent="0">
              <a:spcAft>
                <a:spcPts val="200"/>
              </a:spcAft>
              <a:buNone/>
            </a:pPr>
            <a:r>
              <a:rPr lang="en-US" sz="1400" dirty="0">
                <a:solidFill>
                  <a:schemeClr val="tx1"/>
                </a:solidFill>
                <a:latin typeface="Courier New" pitchFamily="34" charset="0"/>
                <a:ea typeface="Courier New" pitchFamily="34" charset="-122"/>
                <a:cs typeface="Courier New" pitchFamily="34" charset="-120"/>
              </a:rPr>
              <a:t>├── python/       profiling, cleaning, checks</a:t>
            </a:r>
            <a:endParaRPr lang="en-US" sz="1400" dirty="0"/>
          </a:p>
          <a:p>
            <a:pPr marL="0" indent="0">
              <a:spcAft>
                <a:spcPts val="200"/>
              </a:spcAft>
              <a:buNone/>
            </a:pPr>
            <a:r>
              <a:rPr lang="en-US" sz="1400" dirty="0">
                <a:solidFill>
                  <a:schemeClr val="tx1"/>
                </a:solidFill>
                <a:latin typeface="Courier New" pitchFamily="34" charset="0"/>
                <a:ea typeface="Courier New" pitchFamily="34" charset="-122"/>
                <a:cs typeface="Courier New" pitchFamily="34" charset="-120"/>
              </a:rPr>
              <a:t>├── sql/          DDL, queries, checks</a:t>
            </a:r>
            <a:endParaRPr lang="en-US" sz="1400" dirty="0"/>
          </a:p>
          <a:p>
            <a:pPr marL="0" indent="0">
              <a:spcAft>
                <a:spcPts val="200"/>
              </a:spcAft>
              <a:buNone/>
            </a:pPr>
            <a:r>
              <a:rPr lang="en-US" sz="1400" dirty="0">
                <a:solidFill>
                  <a:schemeClr val="tx1"/>
                </a:solidFill>
                <a:latin typeface="Courier New" pitchFamily="34" charset="0"/>
                <a:ea typeface="Courier New" pitchFamily="34" charset="-122"/>
                <a:cs typeface="Courier New" pitchFamily="34" charset="-120"/>
              </a:rPr>
              <a:t>└── metadata/ lineage/ dashboards/</a:t>
            </a:r>
            <a:endParaRPr lang="en-US" sz="1400" dirty="0"/>
          </a:p>
        </p:txBody>
      </p:sp>
      <p:sp>
        <p:nvSpPr>
          <p:cNvPr id="6" name="Callout card"/>
          <p:cNvSpPr/>
          <p:nvPr/>
        </p:nvSpPr>
        <p:spPr>
          <a:xfrm>
            <a:off x="7269480" y="1463040"/>
            <a:ext cx="4370832" cy="1426464"/>
          </a:xfrm>
          <a:prstGeom prst="rect">
            <a:avLst/>
          </a:prstGeom>
          <a:solidFill>
            <a:schemeClr val="bg2"/>
          </a:solidFill>
          <a:ln w="12700">
            <a:solidFill>
              <a:schemeClr val="bg2"/>
            </a:solidFill>
            <a:prstDash val="solid"/>
          </a:ln>
        </p:spPr>
      </p:sp>
      <p:sp>
        <p:nvSpPr>
          <p:cNvPr id="7" name="Text 4"/>
          <p:cNvSpPr txBox="1"/>
          <p:nvPr/>
        </p:nvSpPr>
        <p:spPr>
          <a:xfrm>
            <a:off x="7498080" y="1645920"/>
            <a:ext cx="3931920" cy="365760"/>
          </a:xfrm>
          <a:prstGeom prst="rect">
            <a:avLst/>
          </a:prstGeom>
          <a:noFill/>
          <a:ln/>
        </p:spPr>
        <p:txBody>
          <a:bodyPr wrap="square" lIns="0" tIns="0" rIns="0" bIns="0" rtlCol="0" anchor="t"/>
          <a:lstStyle/>
          <a:p>
            <a:pPr marL="0" indent="0">
              <a:buNone/>
            </a:pPr>
            <a:r>
              <a:rPr lang="en-US" sz="1800" b="1" dirty="0">
                <a:solidFill>
                  <a:schemeClr val="accent1"/>
                </a:solidFill>
              </a:rPr>
              <a:t>Follows the use case</a:t>
            </a:r>
            <a:endParaRPr lang="en-US" sz="1800" dirty="0"/>
          </a:p>
        </p:txBody>
      </p:sp>
      <p:sp>
        <p:nvSpPr>
          <p:cNvPr id="8" name="Text 5"/>
          <p:cNvSpPr txBox="1"/>
          <p:nvPr/>
        </p:nvSpPr>
        <p:spPr>
          <a:xfrm>
            <a:off x="7498080" y="2103120"/>
            <a:ext cx="3931920" cy="640080"/>
          </a:xfrm>
          <a:prstGeom prst="rect">
            <a:avLst/>
          </a:prstGeom>
          <a:noFill/>
          <a:ln/>
        </p:spPr>
        <p:txBody>
          <a:bodyPr wrap="square" lIns="0" tIns="0" rIns="0" bIns="0" rtlCol="0" anchor="t"/>
          <a:lstStyle/>
          <a:p>
            <a:pPr marL="0" indent="0">
              <a:buNone/>
            </a:pPr>
            <a:r>
              <a:rPr lang="en-US" sz="1400" dirty="0">
                <a:solidFill>
                  <a:schemeClr val="tx1"/>
                </a:solidFill>
              </a:rPr>
              <a:t>Same folders as the structure in the project document</a:t>
            </a:r>
            <a:endParaRPr lang="en-US" sz="1400" dirty="0"/>
          </a:p>
        </p:txBody>
      </p:sp>
      <p:sp>
        <p:nvSpPr>
          <p:cNvPr id="9" name="Callout card"/>
          <p:cNvSpPr/>
          <p:nvPr/>
        </p:nvSpPr>
        <p:spPr>
          <a:xfrm>
            <a:off x="7269480" y="3035808"/>
            <a:ext cx="4370832" cy="1426464"/>
          </a:xfrm>
          <a:prstGeom prst="rect">
            <a:avLst/>
          </a:prstGeom>
          <a:solidFill>
            <a:schemeClr val="bg2"/>
          </a:solidFill>
          <a:ln w="12700">
            <a:solidFill>
              <a:schemeClr val="bg2"/>
            </a:solidFill>
            <a:prstDash val="solid"/>
          </a:ln>
        </p:spPr>
      </p:sp>
      <p:sp>
        <p:nvSpPr>
          <p:cNvPr id="10" name="Text 7"/>
          <p:cNvSpPr txBox="1"/>
          <p:nvPr/>
        </p:nvSpPr>
        <p:spPr>
          <a:xfrm>
            <a:off x="7498080" y="3218688"/>
            <a:ext cx="3931920" cy="365760"/>
          </a:xfrm>
          <a:prstGeom prst="rect">
            <a:avLst/>
          </a:prstGeom>
          <a:noFill/>
          <a:ln/>
        </p:spPr>
        <p:txBody>
          <a:bodyPr wrap="square" lIns="0" tIns="0" rIns="0" bIns="0" rtlCol="0" anchor="t"/>
          <a:lstStyle/>
          <a:p>
            <a:pPr marL="0" indent="0">
              <a:buNone/>
            </a:pPr>
            <a:r>
              <a:rPr lang="en-US" sz="1800" b="1" dirty="0">
                <a:solidFill>
                  <a:schemeClr val="accent1"/>
                </a:solidFill>
              </a:rPr>
              <a:t>26 transformations, 2 jobs</a:t>
            </a:r>
            <a:endParaRPr lang="en-US" sz="1800" dirty="0"/>
          </a:p>
        </p:txBody>
      </p:sp>
      <p:sp>
        <p:nvSpPr>
          <p:cNvPr id="11" name="Text 8"/>
          <p:cNvSpPr txBox="1"/>
          <p:nvPr/>
        </p:nvSpPr>
        <p:spPr>
          <a:xfrm>
            <a:off x="7498080" y="3675888"/>
            <a:ext cx="3931920" cy="640080"/>
          </a:xfrm>
          <a:prstGeom prst="rect">
            <a:avLst/>
          </a:prstGeom>
          <a:noFill/>
          <a:ln/>
        </p:spPr>
        <p:txBody>
          <a:bodyPr wrap="square" lIns="0" tIns="0" rIns="0" bIns="0" rtlCol="0" anchor="t"/>
          <a:lstStyle/>
          <a:p>
            <a:pPr marL="0" indent="0">
              <a:buNone/>
            </a:pPr>
            <a:r>
              <a:rPr lang="en-US" sz="1400" dirty="0">
                <a:solidFill>
                  <a:schemeClr val="tx1"/>
                </a:solidFill>
              </a:rPr>
              <a:t>11 ingestion and 15 load files, plus the load and end-to-end jobs</a:t>
            </a:r>
            <a:endParaRPr lang="en-US" sz="1400" dirty="0"/>
          </a:p>
        </p:txBody>
      </p:sp>
      <p:sp>
        <p:nvSpPr>
          <p:cNvPr id="12" name="Callout card"/>
          <p:cNvSpPr/>
          <p:nvPr/>
        </p:nvSpPr>
        <p:spPr>
          <a:xfrm>
            <a:off x="7269480" y="4608576"/>
            <a:ext cx="4370832" cy="1426464"/>
          </a:xfrm>
          <a:prstGeom prst="rect">
            <a:avLst/>
          </a:prstGeom>
          <a:solidFill>
            <a:schemeClr val="bg2"/>
          </a:solidFill>
          <a:ln w="12700">
            <a:solidFill>
              <a:schemeClr val="bg2"/>
            </a:solidFill>
            <a:prstDash val="solid"/>
          </a:ln>
        </p:spPr>
      </p:sp>
      <p:sp>
        <p:nvSpPr>
          <p:cNvPr id="13" name="Text 10"/>
          <p:cNvSpPr txBox="1"/>
          <p:nvPr/>
        </p:nvSpPr>
        <p:spPr>
          <a:xfrm>
            <a:off x="7498080" y="4791456"/>
            <a:ext cx="3931920" cy="365760"/>
          </a:xfrm>
          <a:prstGeom prst="rect">
            <a:avLst/>
          </a:prstGeom>
          <a:noFill/>
          <a:ln/>
        </p:spPr>
        <p:txBody>
          <a:bodyPr wrap="square" lIns="0" tIns="0" rIns="0" bIns="0" rtlCol="0" anchor="t"/>
          <a:lstStyle/>
          <a:p>
            <a:pPr marL="0" indent="0">
              <a:buNone/>
            </a:pPr>
            <a:r>
              <a:rPr lang="en-US" sz="1800" b="1" dirty="0">
                <a:solidFill>
                  <a:schemeClr val="accent1"/>
                </a:solidFill>
              </a:rPr>
              <a:t>Everything on GitHub</a:t>
            </a:r>
            <a:endParaRPr lang="en-US" sz="1800" dirty="0"/>
          </a:p>
        </p:txBody>
      </p:sp>
      <p:sp>
        <p:nvSpPr>
          <p:cNvPr id="14" name="Text 11"/>
          <p:cNvSpPr txBox="1"/>
          <p:nvPr/>
        </p:nvSpPr>
        <p:spPr>
          <a:xfrm>
            <a:off x="7498080" y="5248656"/>
            <a:ext cx="3931920" cy="640080"/>
          </a:xfrm>
          <a:prstGeom prst="rect">
            <a:avLst/>
          </a:prstGeom>
          <a:noFill/>
          <a:ln/>
        </p:spPr>
        <p:txBody>
          <a:bodyPr wrap="square" lIns="0" tIns="0" rIns="0" bIns="0" rtlCol="0" anchor="t"/>
          <a:lstStyle/>
          <a:p>
            <a:pPr marL="0" indent="0">
              <a:buNone/>
            </a:pPr>
            <a:r>
              <a:rPr lang="en-US" sz="1400" dirty="0">
                <a:solidFill>
                  <a:schemeClr val="tx1"/>
                </a:solidFill>
              </a:rPr>
              <a:t>Code, SQL, reports and diagram with commit history</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365760"/>
            <a:ext cx="10149840" cy="777240"/>
          </a:xfrm>
          <a:prstGeom prst="rect">
            <a:avLst/>
          </a:prstGeom>
          <a:noFill/>
          <a:ln/>
        </p:spPr>
        <p:txBody>
          <a:bodyPr wrap="square" lIns="0" tIns="0" rIns="0" bIns="0" rtlCol="0" anchor="ctr"/>
          <a:lstStyle/>
          <a:p>
            <a:pPr marL="0" indent="0" algn="l">
              <a:buNone/>
            </a:pPr>
            <a:r>
              <a:rPr lang="en-US" sz="3600" b="1" dirty="0">
                <a:solidFill>
                  <a:schemeClr val="tx1"/>
                </a:solidFill>
              </a:rPr>
              <a:t>The 10 ERP data sources</a:t>
            </a:r>
            <a:endParaRPr lang="en-US" sz="3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440680" cy="3291840"/>
        </p:xfrm>
        <a:graphic>
          <a:graphicData uri="http://schemas.openxmlformats.org/drawingml/2006/table">
            <a:tbl>
              <a:tblPr/>
              <a:tblGrid>
                <a:gridCol w="16002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548640">
                <a:tc>
                  <a:txBody>
                    <a:bodyPr/>
                    <a:lstStyle/>
                    <a:p>
                      <a:pPr marL="0" indent="0">
                        <a:buNone/>
                      </a:pPr>
                      <a:r>
                        <a:rPr lang="en-US" sz="1400" b="1" dirty="0">
                          <a:solidFill>
                            <a:schemeClr val="bg1"/>
                          </a:solidFill>
                        </a:rPr>
                        <a:t>Dataset</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ERP module</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Format</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Rows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48640">
                <a:tc>
                  <a:txBody>
                    <a:bodyPr/>
                    <a:lstStyle/>
                    <a:p>
                      <a:pPr marL="0" indent="0">
                        <a:buNone/>
                      </a:pPr>
                      <a:r>
                        <a:rPr lang="en-US" sz="1400" dirty="0">
                          <a:solidFill>
                            <a:schemeClr val="tx1"/>
                          </a:solidFill>
                        </a:rPr>
                        <a:t>Sales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Sales module</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CSV</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1,000</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400" dirty="0">
                          <a:solidFill>
                            <a:schemeClr val="tx1"/>
                          </a:solidFill>
                        </a:rPr>
                        <a:t>Customer Master</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Customer master data</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JSON</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1,500</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buNone/>
                      </a:pPr>
                      <a:r>
                        <a:rPr lang="en-US" sz="1400" dirty="0">
                          <a:solidFill>
                            <a:schemeClr val="tx1"/>
                          </a:solidFill>
                        </a:rPr>
                        <a:t>Asset</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Asset management</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XML</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1,245</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buNone/>
                      </a:pPr>
                      <a:r>
                        <a:rPr lang="en-US" sz="1400" dirty="0">
                          <a:solidFill>
                            <a:schemeClr val="tx1"/>
                          </a:solidFill>
                        </a:rPr>
                        <a:t>Account</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Accounts receivable</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Excel</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45,839</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marL="0" indent="0">
                        <a:buNone/>
                      </a:pPr>
                      <a:r>
                        <a:rPr lang="en-US" sz="1400" dirty="0">
                          <a:solidFill>
                            <a:schemeClr val="tx1"/>
                          </a:solidFill>
                        </a:rPr>
                        <a:t>Procurement</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Procurement and vendors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CSV</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1,300</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6199632" y="1463040"/>
          <a:ext cx="5440680" cy="3291840"/>
        </p:xfrm>
        <a:graphic>
          <a:graphicData uri="http://schemas.openxmlformats.org/drawingml/2006/table">
            <a:tbl>
              <a:tblPr/>
              <a:tblGrid>
                <a:gridCol w="16002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548640">
                <a:tc>
                  <a:txBody>
                    <a:bodyPr/>
                    <a:lstStyle/>
                    <a:p>
                      <a:pPr marL="0" indent="0">
                        <a:buNone/>
                      </a:pPr>
                      <a:r>
                        <a:rPr lang="en-US" sz="1400" b="1" dirty="0">
                          <a:solidFill>
                            <a:schemeClr val="bg1"/>
                          </a:solidFill>
                        </a:rPr>
                        <a:t>Dataset</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ERP module</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Format</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Rows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48640">
                <a:tc>
                  <a:txBody>
                    <a:bodyPr/>
                    <a:lstStyle/>
                    <a:p>
                      <a:pPr marL="0" indent="0">
                        <a:buNone/>
                      </a:pPr>
                      <a:r>
                        <a:rPr lang="en-US" sz="1400" dirty="0">
                          <a:solidFill>
                            <a:schemeClr val="tx1"/>
                          </a:solidFill>
                        </a:rPr>
                        <a:t>Employee</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Human resources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Excel</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35</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400" dirty="0">
                          <a:solidFill>
                            <a:schemeClr val="tx1"/>
                          </a:solidFill>
                        </a:rPr>
                        <a:t>Finance</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Finance module</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CSV</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1,000</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buNone/>
                      </a:pPr>
                      <a:r>
                        <a:rPr lang="en-US" sz="1400" dirty="0">
                          <a:solidFill>
                            <a:schemeClr val="tx1"/>
                          </a:solidFill>
                        </a:rPr>
                        <a:t>Inventory</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Inventory management</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JSON</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1,000</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buNone/>
                      </a:pPr>
                      <a:r>
                        <a:rPr lang="en-US" sz="1400" dirty="0">
                          <a:solidFill>
                            <a:schemeClr val="tx1"/>
                          </a:solidFill>
                        </a:rPr>
                        <a:t>Manufacturing</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Manufacturing module</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XML</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1,000</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marL="0" indent="0">
                        <a:buNone/>
                      </a:pPr>
                      <a:r>
                        <a:rPr lang="en-US" sz="1400" dirty="0">
                          <a:solidFill>
                            <a:schemeClr val="tx1"/>
                          </a:solidFill>
                        </a:rPr>
                        <a:t>Warehouse</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Warehouse management</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CSV</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6,408</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1"/>
          <p:cNvSpPr txBox="1"/>
          <p:nvPr/>
        </p:nvSpPr>
        <p:spPr>
          <a:xfrm>
            <a:off x="548640" y="4846320"/>
            <a:ext cx="7315200" cy="274320"/>
          </a:xfrm>
          <a:prstGeom prst="rect">
            <a:avLst/>
          </a:prstGeom>
          <a:noFill/>
          <a:ln/>
        </p:spPr>
        <p:txBody>
          <a:bodyPr wrap="square" lIns="0" tIns="0" rIns="0" bIns="0" rtlCol="0" anchor="t"/>
          <a:lstStyle/>
          <a:p>
            <a:pPr marL="0" indent="0">
              <a:buNone/>
            </a:pPr>
            <a:r>
              <a:rPr lang="en-US" sz="1400" dirty="0">
                <a:solidFill>
                  <a:schemeClr val="tx2"/>
                </a:solidFill>
              </a:rPr>
              <a:t>Rows are the raw counts, before cleaning.</a:t>
            </a:r>
            <a:endParaRPr lang="en-US" sz="1400" dirty="0"/>
          </a:p>
        </p:txBody>
      </p:sp>
      <p:sp>
        <p:nvSpPr>
          <p:cNvPr id="7" name="Demo bar"/>
          <p:cNvSpPr/>
          <p:nvPr/>
        </p:nvSpPr>
        <p:spPr>
          <a:xfrm>
            <a:off x="548640" y="5212080"/>
            <a:ext cx="11091672" cy="1051560"/>
          </a:xfrm>
          <a:prstGeom prst="rect">
            <a:avLst/>
          </a:prstGeom>
          <a:solidFill>
            <a:schemeClr val="tx1"/>
          </a:solidFill>
          <a:ln w="12700">
            <a:solidFill>
              <a:schemeClr val="bg2"/>
            </a:solidFill>
            <a:prstDash val="solid"/>
          </a:ln>
        </p:spPr>
      </p:sp>
      <p:pic>
        <p:nvPicPr>
          <p:cNvPr id="8" name="Image 0" descr="preencoded.png"/>
          <p:cNvPicPr>
            <a:picLocks noChangeAspect="1"/>
          </p:cNvPicPr>
          <p:nvPr/>
        </p:nvPicPr>
        <p:blipFill>
          <a:blip r:embed="rId3"/>
          <a:stretch>
            <a:fillRect/>
          </a:stretch>
        </p:blipFill>
        <p:spPr>
          <a:xfrm>
            <a:off x="777240" y="5509260"/>
            <a:ext cx="457200" cy="457200"/>
          </a:xfrm>
          <a:prstGeom prst="rect">
            <a:avLst/>
          </a:prstGeom>
        </p:spPr>
      </p:pic>
      <p:sp>
        <p:nvSpPr>
          <p:cNvPr id="9" name="Text 3"/>
          <p:cNvSpPr txBox="1"/>
          <p:nvPr/>
        </p:nvSpPr>
        <p:spPr>
          <a:xfrm>
            <a:off x="1417320" y="5212080"/>
            <a:ext cx="2788920" cy="1051560"/>
          </a:xfrm>
          <a:prstGeom prst="rect">
            <a:avLst/>
          </a:prstGeom>
          <a:noFill/>
          <a:ln/>
        </p:spPr>
        <p:txBody>
          <a:bodyPr wrap="square" lIns="0" tIns="0" rIns="0" bIns="0" rtlCol="0" anchor="ctr"/>
          <a:lstStyle/>
          <a:p>
            <a:pPr marL="0" indent="0">
              <a:buNone/>
            </a:pPr>
            <a:r>
              <a:rPr lang="en-US" sz="1400" dirty="0">
                <a:solidFill>
                  <a:schemeClr val="bg1"/>
                </a:solidFill>
              </a:rPr>
              <a:t>Finder: the datasets/ folder</a:t>
            </a:r>
            <a:endParaRPr lang="en-US" sz="1400" dirty="0"/>
          </a:p>
        </p:txBody>
      </p:sp>
      <p:pic>
        <p:nvPicPr>
          <p:cNvPr id="10" name="Image 1" descr="preencoded.png"/>
          <p:cNvPicPr>
            <a:picLocks noChangeAspect="1"/>
          </p:cNvPicPr>
          <p:nvPr/>
        </p:nvPicPr>
        <p:blipFill>
          <a:blip r:embed="rId4"/>
          <a:stretch>
            <a:fillRect/>
          </a:stretch>
        </p:blipFill>
        <p:spPr>
          <a:xfrm>
            <a:off x="4434840" y="5509260"/>
            <a:ext cx="457200" cy="457200"/>
          </a:xfrm>
          <a:prstGeom prst="rect">
            <a:avLst/>
          </a:prstGeom>
        </p:spPr>
      </p:pic>
      <p:sp>
        <p:nvSpPr>
          <p:cNvPr id="11" name="Text 4"/>
          <p:cNvSpPr txBox="1"/>
          <p:nvPr/>
        </p:nvSpPr>
        <p:spPr>
          <a:xfrm>
            <a:off x="5074920" y="5212080"/>
            <a:ext cx="2788920" cy="1051560"/>
          </a:xfrm>
          <a:prstGeom prst="rect">
            <a:avLst/>
          </a:prstGeom>
          <a:noFill/>
          <a:ln/>
        </p:spPr>
        <p:txBody>
          <a:bodyPr wrap="square" lIns="0" tIns="0" rIns="0" bIns="0" rtlCol="0" anchor="ctr"/>
          <a:lstStyle/>
          <a:p>
            <a:pPr marL="0" indent="0">
              <a:buNone/>
            </a:pPr>
            <a:r>
              <a:rPr lang="en-US" sz="1400" dirty="0">
                <a:solidFill>
                  <a:schemeClr val="bg1"/>
                </a:solidFill>
              </a:rPr>
              <a:t>Show the source files and their formats</a:t>
            </a:r>
            <a:endParaRPr lang="en-US" sz="1400" dirty="0"/>
          </a:p>
        </p:txBody>
      </p:sp>
      <p:pic>
        <p:nvPicPr>
          <p:cNvPr id="12" name="Image 2" descr="preencoded.png"/>
          <p:cNvPicPr>
            <a:picLocks noChangeAspect="1"/>
          </p:cNvPicPr>
          <p:nvPr/>
        </p:nvPicPr>
        <p:blipFill>
          <a:blip r:embed="rId5"/>
          <a:stretch>
            <a:fillRect/>
          </a:stretch>
        </p:blipFill>
        <p:spPr>
          <a:xfrm>
            <a:off x="8092440" y="5509260"/>
            <a:ext cx="457200" cy="457200"/>
          </a:xfrm>
          <a:prstGeom prst="rect">
            <a:avLst/>
          </a:prstGeom>
        </p:spPr>
      </p:pic>
      <p:sp>
        <p:nvSpPr>
          <p:cNvPr id="2" name="Text 5"/>
          <p:cNvSpPr txBox="1"/>
          <p:nvPr/>
        </p:nvSpPr>
        <p:spPr>
          <a:xfrm>
            <a:off x="8732520" y="5212080"/>
            <a:ext cx="2788920" cy="1051560"/>
          </a:xfrm>
          <a:prstGeom prst="rect">
            <a:avLst/>
          </a:prstGeom>
          <a:noFill/>
          <a:ln/>
        </p:spPr>
        <p:txBody>
          <a:bodyPr wrap="square" lIns="0" tIns="0" rIns="0" bIns="0" rtlCol="0" anchor="ctr"/>
          <a:lstStyle/>
          <a:p>
            <a:pPr marL="0" indent="0">
              <a:buNone/>
            </a:pPr>
            <a:r>
              <a:rPr lang="en-US" sz="1400" dirty="0">
                <a:solidFill>
                  <a:schemeClr val="bg1"/>
                </a:solidFill>
              </a:rPr>
              <a:t>10 datasets in CSV, Excel, JSON and XML</a:t>
            </a:r>
            <a:endParaRPr lang="en-US" sz="1400" dirty="0"/>
          </a:p>
        </p:txBody>
      </p:sp>
      <p:sp>
        <p:nvSpPr>
          <p:cNvPr id="4"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365760"/>
            <a:ext cx="10149840" cy="777240"/>
          </a:xfrm>
          <a:prstGeom prst="rect">
            <a:avLst/>
          </a:prstGeom>
          <a:noFill/>
          <a:ln/>
        </p:spPr>
        <p:txBody>
          <a:bodyPr wrap="square" lIns="0" tIns="0" rIns="0" bIns="0" rtlCol="0" anchor="ctr"/>
          <a:lstStyle/>
          <a:p>
            <a:pPr marL="0" indent="0" algn="l">
              <a:buNone/>
            </a:pPr>
            <a:r>
              <a:rPr lang="en-US" sz="3600" b="1" dirty="0">
                <a:solidFill>
                  <a:schemeClr val="tx1"/>
                </a:solidFill>
              </a:rPr>
              <a:t>Data profiling</a:t>
            </a:r>
            <a:endParaRPr lang="en-US" sz="3600" dirty="0"/>
          </a:p>
        </p:txBody>
      </p:sp>
      <p:sp>
        <p:nvSpPr>
          <p:cNvPr id="4" name="Text 1"/>
          <p:cNvSpPr txBox="1"/>
          <p:nvPr/>
        </p:nvSpPr>
        <p:spPr>
          <a:xfrm>
            <a:off x="548640" y="1417320"/>
            <a:ext cx="5486400" cy="365760"/>
          </a:xfrm>
          <a:prstGeom prst="rect">
            <a:avLst/>
          </a:prstGeom>
          <a:noFill/>
          <a:ln/>
        </p:spPr>
        <p:txBody>
          <a:bodyPr wrap="square" lIns="0" tIns="0" rIns="0" bIns="0" rtlCol="0" anchor="t"/>
          <a:lstStyle/>
          <a:p>
            <a:pPr marL="0" indent="0">
              <a:buNone/>
            </a:pPr>
            <a:r>
              <a:rPr lang="en-US" sz="2000" b="1" dirty="0">
                <a:solidFill>
                  <a:schemeClr val="accent1"/>
                </a:solidFill>
              </a:rPr>
              <a:t>What we check on every dataset</a:t>
            </a:r>
            <a:endParaRPr lang="en-US" sz="2000" dirty="0"/>
          </a:p>
        </p:txBody>
      </p:sp>
      <p:sp>
        <p:nvSpPr>
          <p:cNvPr id="5" name="Text 2"/>
          <p:cNvSpPr txBox="1"/>
          <p:nvPr/>
        </p:nvSpPr>
        <p:spPr>
          <a:xfrm>
            <a:off x="548640" y="1874520"/>
            <a:ext cx="5486400" cy="3108960"/>
          </a:xfrm>
          <a:prstGeom prst="rect">
            <a:avLst/>
          </a:prstGeom>
          <a:noFill/>
          <a:ln/>
        </p:spPr>
        <p:txBody>
          <a:bodyPr wrap="square" lIns="0" tIns="0" rIns="0" bIns="0" rtlCol="0" anchor="t"/>
          <a:lstStyle/>
          <a:p>
            <a:pPr marL="203200" indent="-203200">
              <a:spcAft>
                <a:spcPts val="800"/>
              </a:spcAft>
              <a:buSzPct val="100000"/>
              <a:buChar char="•"/>
            </a:pPr>
            <a:r>
              <a:rPr lang="en-US" sz="1800" dirty="0">
                <a:solidFill>
                  <a:schemeClr val="tx1"/>
                </a:solidFill>
              </a:rPr>
              <a:t>Shape, column names and data types</a:t>
            </a:r>
            <a:endParaRPr lang="en-US" sz="1800" dirty="0"/>
          </a:p>
          <a:p>
            <a:pPr marL="203200" indent="-203200">
              <a:spcAft>
                <a:spcPts val="800"/>
              </a:spcAft>
              <a:buSzPct val="100000"/>
              <a:buChar char="•"/>
            </a:pPr>
            <a:r>
              <a:rPr lang="en-US" sz="1800" dirty="0">
                <a:solidFill>
                  <a:schemeClr val="tx1"/>
                </a:solidFill>
              </a:rPr>
              <a:t>Missing values and duplicate rows</a:t>
            </a:r>
            <a:endParaRPr lang="en-US" sz="1800" dirty="0"/>
          </a:p>
          <a:p>
            <a:pPr marL="203200" indent="-203200">
              <a:spcAft>
                <a:spcPts val="800"/>
              </a:spcAft>
              <a:buSzPct val="100000"/>
              <a:buChar char="•"/>
            </a:pPr>
            <a:r>
              <a:rPr lang="en-US" sz="1800" dirty="0">
                <a:solidFill>
                  <a:schemeClr val="tx1"/>
                </a:solidFill>
              </a:rPr>
              <a:t>Ranges and value counts</a:t>
            </a:r>
            <a:endParaRPr lang="en-US" sz="1800" dirty="0"/>
          </a:p>
          <a:p>
            <a:pPr marL="203200" indent="-203200">
              <a:spcAft>
                <a:spcPts val="800"/>
              </a:spcAft>
              <a:buSzPct val="100000"/>
              <a:buChar char="•"/>
            </a:pPr>
            <a:r>
              <a:rPr lang="en-US" sz="1800" dirty="0">
                <a:solidFill>
                  <a:schemeClr val="tx1"/>
                </a:solidFill>
              </a:rPr>
              <a:t>Whether the key column is unique</a:t>
            </a:r>
            <a:endParaRPr lang="en-US" sz="1800" dirty="0"/>
          </a:p>
          <a:p>
            <a:pPr marL="203200" indent="-203200">
              <a:spcAft>
                <a:spcPts val="800"/>
              </a:spcAft>
              <a:buSzPct val="100000"/>
              <a:buChar char="•"/>
            </a:pPr>
            <a:r>
              <a:rPr lang="en-US" sz="1800" dirty="0">
                <a:solidFill>
                  <a:schemeClr val="tx1"/>
                </a:solidFill>
              </a:rPr>
              <a:t>Date ranges across modules</a:t>
            </a:r>
            <a:endParaRPr lang="en-US" sz="1800" dirty="0"/>
          </a:p>
          <a:p>
            <a:pPr marL="203200" indent="-203200">
              <a:spcAft>
                <a:spcPts val="800"/>
              </a:spcAft>
              <a:buSzPct val="100000"/>
              <a:buChar char="•"/>
            </a:pPr>
            <a:r>
              <a:rPr lang="en-US" sz="1800" dirty="0">
                <a:solidFill>
                  <a:schemeClr val="tx1"/>
                </a:solidFill>
              </a:rPr>
              <a:t>Raw rows against cleaned rows</a:t>
            </a:r>
            <a:endParaRPr lang="en-US" sz="1800" dirty="0"/>
          </a:p>
        </p:txBody>
      </p:sp>
      <p:sp>
        <p:nvSpPr>
          <p:cNvPr id="6" name="Stat card"/>
          <p:cNvSpPr/>
          <p:nvPr/>
        </p:nvSpPr>
        <p:spPr>
          <a:xfrm>
            <a:off x="6355080" y="1417320"/>
            <a:ext cx="5285232" cy="1078992"/>
          </a:xfrm>
          <a:prstGeom prst="rect">
            <a:avLst/>
          </a:prstGeom>
          <a:solidFill>
            <a:schemeClr val="bg2"/>
          </a:solidFill>
          <a:ln w="12700">
            <a:solidFill>
              <a:schemeClr val="bg2"/>
            </a:solidFill>
            <a:prstDash val="solid"/>
          </a:ln>
        </p:spPr>
      </p:sp>
      <p:sp>
        <p:nvSpPr>
          <p:cNvPr id="7" name="Text 4"/>
          <p:cNvSpPr txBox="1"/>
          <p:nvPr/>
        </p:nvSpPr>
        <p:spPr>
          <a:xfrm>
            <a:off x="6537960" y="1417320"/>
            <a:ext cx="1737360" cy="1078992"/>
          </a:xfrm>
          <a:prstGeom prst="rect">
            <a:avLst/>
          </a:prstGeom>
          <a:noFill/>
          <a:ln/>
        </p:spPr>
        <p:txBody>
          <a:bodyPr wrap="square" lIns="0" tIns="0" rIns="0" bIns="0" rtlCol="0" anchor="ctr"/>
          <a:lstStyle/>
          <a:p>
            <a:pPr marL="0" indent="0">
              <a:buNone/>
            </a:pPr>
            <a:r>
              <a:rPr lang="en-US" sz="3600" b="1" dirty="0">
                <a:solidFill>
                  <a:schemeClr val="accent1"/>
                </a:solidFill>
              </a:rPr>
              <a:t>1</a:t>
            </a:r>
            <a:endParaRPr lang="en-US" sz="3600" dirty="0"/>
          </a:p>
        </p:txBody>
      </p:sp>
      <p:sp>
        <p:nvSpPr>
          <p:cNvPr id="8" name="Text 5"/>
          <p:cNvSpPr txBox="1"/>
          <p:nvPr/>
        </p:nvSpPr>
        <p:spPr>
          <a:xfrm>
            <a:off x="8321040" y="1545336"/>
            <a:ext cx="3200400" cy="365760"/>
          </a:xfrm>
          <a:prstGeom prst="rect">
            <a:avLst/>
          </a:prstGeom>
          <a:noFill/>
          <a:ln/>
        </p:spPr>
        <p:txBody>
          <a:bodyPr wrap="square" lIns="0" tIns="0" rIns="0" bIns="0" rtlCol="0" anchor="t"/>
          <a:lstStyle/>
          <a:p>
            <a:pPr marL="0" indent="0">
              <a:buNone/>
            </a:pPr>
            <a:r>
              <a:rPr lang="en-US" sz="1600" b="1" dirty="0">
                <a:solidFill>
                  <a:schemeClr val="tx1"/>
                </a:solidFill>
              </a:rPr>
              <a:t>missing value in Sales</a:t>
            </a:r>
            <a:endParaRPr lang="en-US" sz="1600" dirty="0"/>
          </a:p>
        </p:txBody>
      </p:sp>
      <p:sp>
        <p:nvSpPr>
          <p:cNvPr id="9" name="Text 6"/>
          <p:cNvSpPr txBox="1"/>
          <p:nvPr/>
        </p:nvSpPr>
        <p:spPr>
          <a:xfrm>
            <a:off x="8321040" y="1947672"/>
            <a:ext cx="3200400" cy="502920"/>
          </a:xfrm>
          <a:prstGeom prst="rect">
            <a:avLst/>
          </a:prstGeom>
          <a:noFill/>
          <a:ln/>
        </p:spPr>
        <p:txBody>
          <a:bodyPr wrap="square" lIns="0" tIns="0" rIns="0" bIns="0" rtlCol="0" anchor="t"/>
          <a:lstStyle/>
          <a:p>
            <a:pPr marL="0" indent="0">
              <a:buNone/>
            </a:pPr>
            <a:r>
              <a:rPr lang="en-US" sz="1400" dirty="0">
                <a:solidFill>
                  <a:schemeClr val="tx2"/>
                </a:solidFill>
              </a:rPr>
              <a:t>The first record has no previous day to compare</a:t>
            </a:r>
            <a:endParaRPr lang="en-US" sz="1400" dirty="0"/>
          </a:p>
        </p:txBody>
      </p:sp>
      <p:sp>
        <p:nvSpPr>
          <p:cNvPr id="10" name="Stat card"/>
          <p:cNvSpPr/>
          <p:nvPr/>
        </p:nvSpPr>
        <p:spPr>
          <a:xfrm>
            <a:off x="6355080" y="2606040"/>
            <a:ext cx="5285232" cy="1078992"/>
          </a:xfrm>
          <a:prstGeom prst="rect">
            <a:avLst/>
          </a:prstGeom>
          <a:solidFill>
            <a:schemeClr val="bg2"/>
          </a:solidFill>
          <a:ln w="12700">
            <a:solidFill>
              <a:schemeClr val="bg2"/>
            </a:solidFill>
            <a:prstDash val="solid"/>
          </a:ln>
        </p:spPr>
      </p:sp>
      <p:sp>
        <p:nvSpPr>
          <p:cNvPr id="11" name="Text 8"/>
          <p:cNvSpPr txBox="1"/>
          <p:nvPr/>
        </p:nvSpPr>
        <p:spPr>
          <a:xfrm>
            <a:off x="6537960" y="2606040"/>
            <a:ext cx="1737360" cy="1078992"/>
          </a:xfrm>
          <a:prstGeom prst="rect">
            <a:avLst/>
          </a:prstGeom>
          <a:noFill/>
          <a:ln/>
        </p:spPr>
        <p:txBody>
          <a:bodyPr wrap="square" lIns="0" tIns="0" rIns="0" bIns="0" rtlCol="0" anchor="ctr"/>
          <a:lstStyle/>
          <a:p>
            <a:pPr marL="0" indent="0">
              <a:buNone/>
            </a:pPr>
            <a:r>
              <a:rPr lang="en-US" sz="3600" b="1" dirty="0">
                <a:solidFill>
                  <a:schemeClr val="accent1"/>
                </a:solidFill>
              </a:rPr>
              <a:t>258</a:t>
            </a:r>
            <a:endParaRPr lang="en-US" sz="3600" dirty="0"/>
          </a:p>
        </p:txBody>
      </p:sp>
      <p:sp>
        <p:nvSpPr>
          <p:cNvPr id="12" name="Text 9"/>
          <p:cNvSpPr txBox="1"/>
          <p:nvPr/>
        </p:nvSpPr>
        <p:spPr>
          <a:xfrm>
            <a:off x="8321040" y="2734056"/>
            <a:ext cx="3200400" cy="365760"/>
          </a:xfrm>
          <a:prstGeom prst="rect">
            <a:avLst/>
          </a:prstGeom>
          <a:noFill/>
          <a:ln/>
        </p:spPr>
        <p:txBody>
          <a:bodyPr wrap="square" lIns="0" tIns="0" rIns="0" bIns="0" rtlCol="0" anchor="t"/>
          <a:lstStyle/>
          <a:p>
            <a:pPr marL="0" indent="0">
              <a:buNone/>
            </a:pPr>
            <a:r>
              <a:rPr lang="en-US" sz="1600" b="1" dirty="0">
                <a:solidFill>
                  <a:schemeClr val="tx1"/>
                </a:solidFill>
              </a:rPr>
              <a:t>empty cells in Manufacturing</a:t>
            </a:r>
            <a:endParaRPr lang="en-US" sz="1600" dirty="0"/>
          </a:p>
        </p:txBody>
      </p:sp>
      <p:sp>
        <p:nvSpPr>
          <p:cNvPr id="13" name="Text 10"/>
          <p:cNvSpPr txBox="1"/>
          <p:nvPr/>
        </p:nvSpPr>
        <p:spPr>
          <a:xfrm>
            <a:off x="8321040" y="3136392"/>
            <a:ext cx="3200400" cy="502920"/>
          </a:xfrm>
          <a:prstGeom prst="rect">
            <a:avLst/>
          </a:prstGeom>
          <a:noFill/>
          <a:ln/>
        </p:spPr>
        <p:txBody>
          <a:bodyPr wrap="square" lIns="0" tIns="0" rIns="0" bIns="0" rtlCol="0" anchor="t"/>
          <a:lstStyle/>
          <a:p>
            <a:pPr marL="0" indent="0">
              <a:buNone/>
            </a:pPr>
            <a:r>
              <a:rPr lang="en-US" sz="1400" dirty="0">
                <a:solidFill>
                  <a:schemeClr val="tx2"/>
                </a:solidFill>
              </a:rPr>
              <a:t>129 Failed jobs have no actual start or end</a:t>
            </a:r>
            <a:endParaRPr lang="en-US" sz="1400" dirty="0"/>
          </a:p>
        </p:txBody>
      </p:sp>
      <p:sp>
        <p:nvSpPr>
          <p:cNvPr id="14" name="Stat card"/>
          <p:cNvSpPr/>
          <p:nvPr/>
        </p:nvSpPr>
        <p:spPr>
          <a:xfrm>
            <a:off x="6355080" y="3794760"/>
            <a:ext cx="5285232" cy="1078992"/>
          </a:xfrm>
          <a:prstGeom prst="rect">
            <a:avLst/>
          </a:prstGeom>
          <a:solidFill>
            <a:schemeClr val="bg2"/>
          </a:solidFill>
          <a:ln w="12700">
            <a:solidFill>
              <a:schemeClr val="bg2"/>
            </a:solidFill>
            <a:prstDash val="solid"/>
          </a:ln>
        </p:spPr>
      </p:sp>
      <p:sp>
        <p:nvSpPr>
          <p:cNvPr id="15" name="Text 12"/>
          <p:cNvSpPr txBox="1"/>
          <p:nvPr/>
        </p:nvSpPr>
        <p:spPr>
          <a:xfrm>
            <a:off x="6537960" y="3794760"/>
            <a:ext cx="1737360" cy="1078992"/>
          </a:xfrm>
          <a:prstGeom prst="rect">
            <a:avLst/>
          </a:prstGeom>
          <a:noFill/>
          <a:ln/>
        </p:spPr>
        <p:txBody>
          <a:bodyPr wrap="square" lIns="0" tIns="0" rIns="0" bIns="0" rtlCol="0" anchor="ctr"/>
          <a:lstStyle/>
          <a:p>
            <a:pPr marL="0" indent="0">
              <a:buNone/>
            </a:pPr>
            <a:r>
              <a:rPr lang="en-US" sz="3600" b="1" dirty="0">
                <a:solidFill>
                  <a:schemeClr val="accent1"/>
                </a:solidFill>
              </a:rPr>
              <a:t>3,204</a:t>
            </a:r>
            <a:endParaRPr lang="en-US" sz="3600" dirty="0"/>
          </a:p>
        </p:txBody>
      </p:sp>
      <p:sp>
        <p:nvSpPr>
          <p:cNvPr id="16" name="Text 13"/>
          <p:cNvSpPr txBox="1"/>
          <p:nvPr/>
        </p:nvSpPr>
        <p:spPr>
          <a:xfrm>
            <a:off x="8321040" y="3922776"/>
            <a:ext cx="3200400" cy="365760"/>
          </a:xfrm>
          <a:prstGeom prst="rect">
            <a:avLst/>
          </a:prstGeom>
          <a:noFill/>
          <a:ln/>
        </p:spPr>
        <p:txBody>
          <a:bodyPr wrap="square" lIns="0" tIns="0" rIns="0" bIns="0" rtlCol="0" anchor="t"/>
          <a:lstStyle/>
          <a:p>
            <a:pPr marL="0" indent="0">
              <a:buNone/>
            </a:pPr>
            <a:r>
              <a:rPr lang="en-US" sz="1600" b="1" dirty="0">
                <a:solidFill>
                  <a:schemeClr val="tx1"/>
                </a:solidFill>
              </a:rPr>
              <a:t>duplicate rows in Warehouse</a:t>
            </a:r>
            <a:endParaRPr lang="en-US" sz="1600" dirty="0"/>
          </a:p>
        </p:txBody>
      </p:sp>
      <p:sp>
        <p:nvSpPr>
          <p:cNvPr id="17" name="Text 14"/>
          <p:cNvSpPr txBox="1"/>
          <p:nvPr/>
        </p:nvSpPr>
        <p:spPr>
          <a:xfrm>
            <a:off x="8321040" y="4325112"/>
            <a:ext cx="3200400" cy="502920"/>
          </a:xfrm>
          <a:prstGeom prst="rect">
            <a:avLst/>
          </a:prstGeom>
          <a:noFill/>
          <a:ln/>
        </p:spPr>
        <p:txBody>
          <a:bodyPr wrap="square" lIns="0" tIns="0" rIns="0" bIns="0" rtlCol="0" anchor="t"/>
          <a:lstStyle/>
          <a:p>
            <a:pPr marL="0" indent="0">
              <a:buNone/>
            </a:pPr>
            <a:r>
              <a:rPr lang="en-US" sz="1400" dirty="0">
                <a:solidFill>
                  <a:schemeClr val="tx2"/>
                </a:solidFill>
              </a:rPr>
              <a:t>Every record appeared exactly twice</a:t>
            </a:r>
            <a:endParaRPr lang="en-US" sz="1400" dirty="0"/>
          </a:p>
        </p:txBody>
      </p:sp>
      <p:sp>
        <p:nvSpPr>
          <p:cNvPr id="18" name="Demo bar"/>
          <p:cNvSpPr/>
          <p:nvPr/>
        </p:nvSpPr>
        <p:spPr>
          <a:xfrm>
            <a:off x="548640" y="5212080"/>
            <a:ext cx="11091672" cy="1051560"/>
          </a:xfrm>
          <a:prstGeom prst="rect">
            <a:avLst/>
          </a:prstGeom>
          <a:solidFill>
            <a:schemeClr val="tx1"/>
          </a:solidFill>
          <a:ln w="12700">
            <a:solidFill>
              <a:schemeClr val="bg2"/>
            </a:solidFill>
            <a:prstDash val="solid"/>
          </a:ln>
        </p:spPr>
      </p:sp>
      <p:pic>
        <p:nvPicPr>
          <p:cNvPr id="19" name="Image 0" descr="preencoded.png"/>
          <p:cNvPicPr>
            <a:picLocks noChangeAspect="1"/>
          </p:cNvPicPr>
          <p:nvPr/>
        </p:nvPicPr>
        <p:blipFill>
          <a:blip r:embed="rId3"/>
          <a:stretch>
            <a:fillRect/>
          </a:stretch>
        </p:blipFill>
        <p:spPr>
          <a:xfrm>
            <a:off x="777240" y="5509260"/>
            <a:ext cx="457200" cy="457200"/>
          </a:xfrm>
          <a:prstGeom prst="rect">
            <a:avLst/>
          </a:prstGeom>
        </p:spPr>
      </p:pic>
      <p:sp>
        <p:nvSpPr>
          <p:cNvPr id="20" name="Text 16"/>
          <p:cNvSpPr txBox="1"/>
          <p:nvPr/>
        </p:nvSpPr>
        <p:spPr>
          <a:xfrm>
            <a:off x="1417320" y="5212080"/>
            <a:ext cx="2788920" cy="1051560"/>
          </a:xfrm>
          <a:prstGeom prst="rect">
            <a:avLst/>
          </a:prstGeom>
          <a:noFill/>
          <a:ln/>
        </p:spPr>
        <p:txBody>
          <a:bodyPr wrap="square" lIns="0" tIns="0" rIns="0" bIns="0" rtlCol="0" anchor="ctr"/>
          <a:lstStyle/>
          <a:p>
            <a:pPr marL="0" indent="0">
              <a:buNone/>
            </a:pPr>
            <a:r>
              <a:rPr lang="en-US" sz="1400" dirty="0">
                <a:solidFill>
                  <a:schemeClr val="bg1"/>
                </a:solidFill>
              </a:rPr>
              <a:t>Notebook: Data_profiling_each_dataset1</a:t>
            </a:r>
            <a:endParaRPr lang="en-US" sz="1400" dirty="0"/>
          </a:p>
        </p:txBody>
      </p:sp>
      <p:pic>
        <p:nvPicPr>
          <p:cNvPr id="21" name="Image 1" descr="preencoded.png"/>
          <p:cNvPicPr>
            <a:picLocks noChangeAspect="1"/>
          </p:cNvPicPr>
          <p:nvPr/>
        </p:nvPicPr>
        <p:blipFill>
          <a:blip r:embed="rId4"/>
          <a:stretch>
            <a:fillRect/>
          </a:stretch>
        </p:blipFill>
        <p:spPr>
          <a:xfrm>
            <a:off x="4434840" y="5509260"/>
            <a:ext cx="457200" cy="457200"/>
          </a:xfrm>
          <a:prstGeom prst="rect">
            <a:avLst/>
          </a:prstGeom>
        </p:spPr>
      </p:pic>
      <p:sp>
        <p:nvSpPr>
          <p:cNvPr id="22" name="Text 17"/>
          <p:cNvSpPr txBox="1"/>
          <p:nvPr/>
        </p:nvSpPr>
        <p:spPr>
          <a:xfrm>
            <a:off x="5074920" y="5212080"/>
            <a:ext cx="2788920" cy="1051560"/>
          </a:xfrm>
          <a:prstGeom prst="rect">
            <a:avLst/>
          </a:prstGeom>
          <a:noFill/>
          <a:ln/>
        </p:spPr>
        <p:txBody>
          <a:bodyPr wrap="square" lIns="0" tIns="0" rIns="0" bIns="0" rtlCol="0" anchor="ctr"/>
          <a:lstStyle/>
          <a:p>
            <a:pPr marL="0" indent="0">
              <a:buNone/>
            </a:pPr>
            <a:r>
              <a:rPr lang="en-US" sz="1400" dirty="0">
                <a:solidFill>
                  <a:schemeClr val="bg1"/>
                </a:solidFill>
              </a:rPr>
              <a:t>Scroll the saved outputs (do not re-run)</a:t>
            </a:r>
            <a:endParaRPr lang="en-US" sz="1400" dirty="0"/>
          </a:p>
        </p:txBody>
      </p:sp>
      <p:pic>
        <p:nvPicPr>
          <p:cNvPr id="23" name="Image 2" descr="preencoded.png"/>
          <p:cNvPicPr>
            <a:picLocks noChangeAspect="1"/>
          </p:cNvPicPr>
          <p:nvPr/>
        </p:nvPicPr>
        <p:blipFill>
          <a:blip r:embed="rId5"/>
          <a:stretch>
            <a:fillRect/>
          </a:stretch>
        </p:blipFill>
        <p:spPr>
          <a:xfrm>
            <a:off x="8092440" y="5509260"/>
            <a:ext cx="457200" cy="457200"/>
          </a:xfrm>
          <a:prstGeom prst="rect">
            <a:avLst/>
          </a:prstGeom>
        </p:spPr>
      </p:pic>
      <p:sp>
        <p:nvSpPr>
          <p:cNvPr id="24" name="Text 18"/>
          <p:cNvSpPr txBox="1"/>
          <p:nvPr/>
        </p:nvSpPr>
        <p:spPr>
          <a:xfrm>
            <a:off x="8732520" y="5212080"/>
            <a:ext cx="2788920" cy="1051560"/>
          </a:xfrm>
          <a:prstGeom prst="rect">
            <a:avLst/>
          </a:prstGeom>
          <a:noFill/>
          <a:ln/>
        </p:spPr>
        <p:txBody>
          <a:bodyPr wrap="square" lIns="0" tIns="0" rIns="0" bIns="0" rtlCol="0" anchor="ctr"/>
          <a:lstStyle/>
          <a:p>
            <a:pPr marL="0" indent="0">
              <a:buNone/>
            </a:pPr>
            <a:r>
              <a:rPr lang="en-US" sz="1400" dirty="0">
                <a:solidFill>
                  <a:schemeClr val="bg1"/>
                </a:solidFill>
              </a:rPr>
              <a:t>Missing values and duplicates per dataset</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365760"/>
            <a:ext cx="10149840" cy="777240"/>
          </a:xfrm>
          <a:prstGeom prst="rect">
            <a:avLst/>
          </a:prstGeom>
          <a:noFill/>
          <a:ln/>
        </p:spPr>
        <p:txBody>
          <a:bodyPr wrap="square" lIns="0" tIns="0" rIns="0" bIns="0" rtlCol="0" anchor="ctr"/>
          <a:lstStyle/>
          <a:p>
            <a:pPr marL="0" indent="0" algn="l">
              <a:buNone/>
            </a:pPr>
            <a:r>
              <a:rPr lang="en-US" sz="3600" b="1" dirty="0">
                <a:solidFill>
                  <a:schemeClr val="tx1"/>
                </a:solidFill>
              </a:rPr>
              <a:t>Data cleaning</a:t>
            </a:r>
            <a:endParaRPr lang="en-US" sz="3600" dirty="0"/>
          </a:p>
        </p:txBody>
      </p:sp>
      <p:sp>
        <p:nvSpPr>
          <p:cNvPr id="4" name="Text 1"/>
          <p:cNvSpPr txBox="1"/>
          <p:nvPr/>
        </p:nvSpPr>
        <p:spPr>
          <a:xfrm>
            <a:off x="548640" y="1417320"/>
            <a:ext cx="5486400" cy="365760"/>
          </a:xfrm>
          <a:prstGeom prst="rect">
            <a:avLst/>
          </a:prstGeom>
          <a:noFill/>
          <a:ln/>
        </p:spPr>
        <p:txBody>
          <a:bodyPr wrap="square" lIns="0" tIns="0" rIns="0" bIns="0" rtlCol="0" anchor="t"/>
          <a:lstStyle/>
          <a:p>
            <a:pPr marL="0" indent="0">
              <a:buNone/>
            </a:pPr>
            <a:r>
              <a:rPr lang="en-US" sz="2000" b="1" dirty="0">
                <a:solidFill>
                  <a:schemeClr val="accent1"/>
                </a:solidFill>
              </a:rPr>
              <a:t>What the cleaning scripts do</a:t>
            </a:r>
            <a:endParaRPr lang="en-US" sz="2000" dirty="0"/>
          </a:p>
        </p:txBody>
      </p:sp>
      <p:sp>
        <p:nvSpPr>
          <p:cNvPr id="5" name="Text 2"/>
          <p:cNvSpPr txBox="1"/>
          <p:nvPr/>
        </p:nvSpPr>
        <p:spPr>
          <a:xfrm>
            <a:off x="548640" y="1874520"/>
            <a:ext cx="5943600" cy="2286000"/>
          </a:xfrm>
          <a:prstGeom prst="rect">
            <a:avLst/>
          </a:prstGeom>
          <a:noFill/>
          <a:ln/>
        </p:spPr>
        <p:txBody>
          <a:bodyPr wrap="square" lIns="0" tIns="0" rIns="0" bIns="0" rtlCol="0" anchor="t"/>
          <a:lstStyle/>
          <a:p>
            <a:pPr marL="203200" indent="-203200">
              <a:spcAft>
                <a:spcPts val="800"/>
              </a:spcAft>
              <a:buSzPct val="100000"/>
              <a:buChar char="•"/>
            </a:pPr>
            <a:r>
              <a:rPr lang="en-US" sz="1800" dirty="0">
                <a:solidFill>
                  <a:schemeClr val="tx1"/>
                </a:solidFill>
              </a:rPr>
              <a:t>Standardise column names (lower case, underscores)</a:t>
            </a:r>
            <a:endParaRPr lang="en-US" sz="1800" dirty="0"/>
          </a:p>
          <a:p>
            <a:pPr marL="203200" indent="-203200">
              <a:spcAft>
                <a:spcPts val="800"/>
              </a:spcAft>
              <a:buSzPct val="100000"/>
              <a:buChar char="•"/>
            </a:pPr>
            <a:r>
              <a:rPr lang="en-US" sz="1800" dirty="0">
                <a:solidFill>
                  <a:schemeClr val="tx1"/>
                </a:solidFill>
              </a:rPr>
              <a:t>Trim text and turn NULL-like values into real nulls</a:t>
            </a:r>
            <a:endParaRPr lang="en-US" sz="1800" dirty="0"/>
          </a:p>
          <a:p>
            <a:pPr marL="203200" indent="-203200">
              <a:spcAft>
                <a:spcPts val="800"/>
              </a:spcAft>
              <a:buSzPct val="100000"/>
              <a:buChar char="•"/>
            </a:pPr>
            <a:r>
              <a:rPr lang="en-US" sz="1800" dirty="0">
                <a:solidFill>
                  <a:schemeClr val="tx1"/>
                </a:solidFill>
              </a:rPr>
              <a:t>Convert dates to YYYY-MM-DD and numbers to numeric types</a:t>
            </a:r>
            <a:endParaRPr lang="en-US" sz="1800" dirty="0"/>
          </a:p>
          <a:p>
            <a:pPr marL="203200" indent="-203200">
              <a:spcAft>
                <a:spcPts val="800"/>
              </a:spcAft>
              <a:buSzPct val="100000"/>
              <a:buChar char="•"/>
            </a:pPr>
            <a:r>
              <a:rPr lang="en-US" sz="1800" dirty="0">
                <a:solidFill>
                  <a:schemeClr val="tx1"/>
                </a:solidFill>
              </a:rPr>
              <a:t>Keep nested JSON as JSON text (Pentaho splits it later)</a:t>
            </a:r>
            <a:endParaRPr lang="en-US" sz="1800" dirty="0"/>
          </a:p>
          <a:p>
            <a:pPr marL="203200" indent="-203200">
              <a:spcAft>
                <a:spcPts val="800"/>
              </a:spcAft>
              <a:buSzPct val="100000"/>
              <a:buChar char="•"/>
            </a:pPr>
            <a:r>
              <a:rPr lang="en-US" sz="1800" dirty="0">
                <a:solidFill>
                  <a:schemeClr val="tx1"/>
                </a:solidFill>
              </a:rPr>
              <a:t>Remove blank rows and exact duplicate rows</a:t>
            </a:r>
            <a:endParaRPr lang="en-US" sz="1800" dirty="0"/>
          </a:p>
        </p:txBody>
      </p:sp>
      <p:sp>
        <p:nvSpPr>
          <p:cNvPr id="6" name="Script card"/>
          <p:cNvSpPr/>
          <p:nvPr/>
        </p:nvSpPr>
        <p:spPr>
          <a:xfrm>
            <a:off x="548640" y="4160520"/>
            <a:ext cx="5943600" cy="868680"/>
          </a:xfrm>
          <a:prstGeom prst="rect">
            <a:avLst/>
          </a:prstGeom>
          <a:solidFill>
            <a:schemeClr val="bg2"/>
          </a:solidFill>
          <a:ln w="12700">
            <a:solidFill>
              <a:schemeClr val="bg2"/>
            </a:solidFill>
            <a:prstDash val="solid"/>
          </a:ln>
        </p:spPr>
      </p:sp>
      <p:sp>
        <p:nvSpPr>
          <p:cNvPr id="7" name="Text 4"/>
          <p:cNvSpPr txBox="1"/>
          <p:nvPr/>
        </p:nvSpPr>
        <p:spPr>
          <a:xfrm>
            <a:off x="777240" y="4160520"/>
            <a:ext cx="5486400" cy="868680"/>
          </a:xfrm>
          <a:prstGeom prst="rect">
            <a:avLst/>
          </a:prstGeom>
          <a:noFill/>
          <a:ln/>
        </p:spPr>
        <p:txBody>
          <a:bodyPr wrap="square" lIns="0" tIns="0" rIns="0" bIns="0" rtlCol="0" anchor="ctr"/>
          <a:lstStyle/>
          <a:p>
            <a:pPr marL="0" indent="0">
              <a:buNone/>
            </a:pPr>
            <a:r>
              <a:rPr lang="en-US" sz="1400" dirty="0">
                <a:solidFill>
                  <a:schemeClr val="tx1"/>
                </a:solidFill>
              </a:rPr>
              <a:t>ERP_Data_Cleaning_separate1.py and separate2.py write to silver/cleansing/cleaned_datasets/</a:t>
            </a:r>
            <a:endParaRPr lang="en-US" sz="1400" dirty="0"/>
          </a:p>
        </p:txBody>
      </p:sp>
      <p:sp>
        <p:nvSpPr>
          <p:cNvPr id="8" name="Result card"/>
          <p:cNvSpPr/>
          <p:nvPr/>
        </p:nvSpPr>
        <p:spPr>
          <a:xfrm>
            <a:off x="6858000" y="1417320"/>
            <a:ext cx="4782312" cy="3611880"/>
          </a:xfrm>
          <a:prstGeom prst="rect">
            <a:avLst/>
          </a:prstGeom>
          <a:solidFill>
            <a:schemeClr val="tx1"/>
          </a:solidFill>
          <a:ln w="12700">
            <a:solidFill>
              <a:schemeClr val="bg2"/>
            </a:solidFill>
            <a:prstDash val="solid"/>
          </a:ln>
        </p:spPr>
      </p:sp>
      <p:sp>
        <p:nvSpPr>
          <p:cNvPr id="9" name="Text 6"/>
          <p:cNvSpPr txBox="1"/>
          <p:nvPr/>
        </p:nvSpPr>
        <p:spPr>
          <a:xfrm>
            <a:off x="7132320" y="1600200"/>
            <a:ext cx="4206240" cy="320040"/>
          </a:xfrm>
          <a:prstGeom prst="rect">
            <a:avLst/>
          </a:prstGeom>
          <a:noFill/>
          <a:ln/>
        </p:spPr>
        <p:txBody>
          <a:bodyPr wrap="square" lIns="0" tIns="0" rIns="0" bIns="0" rtlCol="0" anchor="t"/>
          <a:lstStyle/>
          <a:p>
            <a:pPr marL="0" indent="0">
              <a:buNone/>
            </a:pPr>
            <a:r>
              <a:rPr lang="en-US" sz="1600" b="1" dirty="0">
                <a:solidFill>
                  <a:schemeClr val="accent4"/>
                </a:solidFill>
              </a:rPr>
              <a:t>Warehouse dataset</a:t>
            </a:r>
            <a:endParaRPr lang="en-US" sz="1600" dirty="0"/>
          </a:p>
        </p:txBody>
      </p:sp>
      <p:sp>
        <p:nvSpPr>
          <p:cNvPr id="10" name="Text 7"/>
          <p:cNvSpPr txBox="1"/>
          <p:nvPr/>
        </p:nvSpPr>
        <p:spPr>
          <a:xfrm>
            <a:off x="7132320" y="2011680"/>
            <a:ext cx="4206240" cy="777240"/>
          </a:xfrm>
          <a:prstGeom prst="rect">
            <a:avLst/>
          </a:prstGeom>
          <a:noFill/>
          <a:ln/>
        </p:spPr>
        <p:txBody>
          <a:bodyPr wrap="square" lIns="0" tIns="0" rIns="0" bIns="0" rtlCol="0" anchor="t"/>
          <a:lstStyle/>
          <a:p>
            <a:pPr marL="0" indent="0">
              <a:buNone/>
            </a:pPr>
            <a:r>
              <a:rPr lang="en-US" sz="4800" b="1" dirty="0">
                <a:solidFill>
                  <a:schemeClr val="bg1"/>
                </a:solidFill>
              </a:rPr>
              <a:t>6,408</a:t>
            </a:r>
            <a:endParaRPr lang="en-US" sz="4800" dirty="0"/>
          </a:p>
        </p:txBody>
      </p:sp>
      <p:sp>
        <p:nvSpPr>
          <p:cNvPr id="11" name="Text 8"/>
          <p:cNvSpPr txBox="1"/>
          <p:nvPr/>
        </p:nvSpPr>
        <p:spPr>
          <a:xfrm>
            <a:off x="7132320" y="2788920"/>
            <a:ext cx="4206240" cy="274320"/>
          </a:xfrm>
          <a:prstGeom prst="rect">
            <a:avLst/>
          </a:prstGeom>
          <a:noFill/>
          <a:ln/>
        </p:spPr>
        <p:txBody>
          <a:bodyPr wrap="square" lIns="0" tIns="0" rIns="0" bIns="0" rtlCol="0" anchor="t"/>
          <a:lstStyle/>
          <a:p>
            <a:pPr marL="0" indent="0">
              <a:buNone/>
            </a:pPr>
            <a:r>
              <a:rPr lang="en-US" sz="1400" dirty="0">
                <a:solidFill>
                  <a:schemeClr val="accent3"/>
                </a:solidFill>
              </a:rPr>
              <a:t>raw rows</a:t>
            </a:r>
            <a:endParaRPr lang="en-US" sz="1400" dirty="0"/>
          </a:p>
        </p:txBody>
      </p:sp>
      <p:sp>
        <p:nvSpPr>
          <p:cNvPr id="12" name="Text 9"/>
          <p:cNvSpPr txBox="1"/>
          <p:nvPr/>
        </p:nvSpPr>
        <p:spPr>
          <a:xfrm>
            <a:off x="7132320" y="3200400"/>
            <a:ext cx="4206240" cy="777240"/>
          </a:xfrm>
          <a:prstGeom prst="rect">
            <a:avLst/>
          </a:prstGeom>
          <a:noFill/>
          <a:ln/>
        </p:spPr>
        <p:txBody>
          <a:bodyPr wrap="square" lIns="0" tIns="0" rIns="0" bIns="0" rtlCol="0" anchor="t"/>
          <a:lstStyle/>
          <a:p>
            <a:pPr marL="0" indent="0">
              <a:buNone/>
            </a:pPr>
            <a:r>
              <a:rPr lang="en-US" sz="4800" b="1" dirty="0">
                <a:solidFill>
                  <a:schemeClr val="accent4"/>
                </a:solidFill>
              </a:rPr>
              <a:t>3,204</a:t>
            </a:r>
            <a:endParaRPr lang="en-US" sz="4800" dirty="0"/>
          </a:p>
        </p:txBody>
      </p:sp>
      <p:sp>
        <p:nvSpPr>
          <p:cNvPr id="13" name="Text 10"/>
          <p:cNvSpPr txBox="1"/>
          <p:nvPr/>
        </p:nvSpPr>
        <p:spPr>
          <a:xfrm>
            <a:off x="7132320" y="3977640"/>
            <a:ext cx="4206240" cy="274320"/>
          </a:xfrm>
          <a:prstGeom prst="rect">
            <a:avLst/>
          </a:prstGeom>
          <a:noFill/>
          <a:ln/>
        </p:spPr>
        <p:txBody>
          <a:bodyPr wrap="square" lIns="0" tIns="0" rIns="0" bIns="0" rtlCol="0" anchor="t"/>
          <a:lstStyle/>
          <a:p>
            <a:pPr marL="0" indent="0">
              <a:buNone/>
            </a:pPr>
            <a:r>
              <a:rPr lang="en-US" sz="1400" dirty="0">
                <a:solidFill>
                  <a:schemeClr val="accent3"/>
                </a:solidFill>
              </a:rPr>
              <a:t>rows after cleaning</a:t>
            </a:r>
            <a:endParaRPr lang="en-US" sz="1400" dirty="0"/>
          </a:p>
        </p:txBody>
      </p:sp>
      <p:sp>
        <p:nvSpPr>
          <p:cNvPr id="14" name="Text 11"/>
          <p:cNvSpPr txBox="1"/>
          <p:nvPr/>
        </p:nvSpPr>
        <p:spPr>
          <a:xfrm>
            <a:off x="7132320" y="4434840"/>
            <a:ext cx="4206240" cy="457200"/>
          </a:xfrm>
          <a:prstGeom prst="rect">
            <a:avLst/>
          </a:prstGeom>
          <a:noFill/>
          <a:ln/>
        </p:spPr>
        <p:txBody>
          <a:bodyPr wrap="square" lIns="0" tIns="0" rIns="0" bIns="0" rtlCol="0" anchor="t"/>
          <a:lstStyle/>
          <a:p>
            <a:pPr marL="0" indent="0">
              <a:buNone/>
            </a:pPr>
            <a:r>
              <a:rPr lang="en-US" sz="1400" dirty="0">
                <a:solidFill>
                  <a:schemeClr val="bg1"/>
                </a:solidFill>
              </a:rPr>
              <a:t>The other 9 datasets kept all their rows.</a:t>
            </a:r>
            <a:endParaRPr lang="en-US" sz="1400" dirty="0"/>
          </a:p>
        </p:txBody>
      </p:sp>
      <p:sp>
        <p:nvSpPr>
          <p:cNvPr id="15" name="Demo bar"/>
          <p:cNvSpPr/>
          <p:nvPr/>
        </p:nvSpPr>
        <p:spPr>
          <a:xfrm>
            <a:off x="548640" y="5212080"/>
            <a:ext cx="11091672" cy="1051560"/>
          </a:xfrm>
          <a:prstGeom prst="rect">
            <a:avLst/>
          </a:prstGeom>
          <a:solidFill>
            <a:schemeClr val="tx1"/>
          </a:solidFill>
          <a:ln w="12700">
            <a:solidFill>
              <a:schemeClr val="bg2"/>
            </a:solidFill>
            <a:prstDash val="solid"/>
          </a:ln>
        </p:spPr>
      </p:sp>
      <p:pic>
        <p:nvPicPr>
          <p:cNvPr id="16" name="Image 0" descr="preencoded.png"/>
          <p:cNvPicPr>
            <a:picLocks noChangeAspect="1"/>
          </p:cNvPicPr>
          <p:nvPr/>
        </p:nvPicPr>
        <p:blipFill>
          <a:blip r:embed="rId3"/>
          <a:stretch>
            <a:fillRect/>
          </a:stretch>
        </p:blipFill>
        <p:spPr>
          <a:xfrm>
            <a:off x="777240" y="5509260"/>
            <a:ext cx="457200" cy="457200"/>
          </a:xfrm>
          <a:prstGeom prst="rect">
            <a:avLst/>
          </a:prstGeom>
        </p:spPr>
      </p:pic>
      <p:sp>
        <p:nvSpPr>
          <p:cNvPr id="17" name="Text 13"/>
          <p:cNvSpPr txBox="1"/>
          <p:nvPr/>
        </p:nvSpPr>
        <p:spPr>
          <a:xfrm>
            <a:off x="1417320" y="5212080"/>
            <a:ext cx="2788920" cy="1051560"/>
          </a:xfrm>
          <a:prstGeom prst="rect">
            <a:avLst/>
          </a:prstGeom>
          <a:noFill/>
          <a:ln/>
        </p:spPr>
        <p:txBody>
          <a:bodyPr wrap="square" lIns="0" tIns="0" rIns="0" bIns="0" rtlCol="0" anchor="ctr"/>
          <a:lstStyle/>
          <a:p>
            <a:pPr marL="0" indent="0">
              <a:buNone/>
            </a:pPr>
            <a:r>
              <a:rPr lang="en-US" sz="1400" dirty="0">
                <a:solidFill>
                  <a:schemeClr val="bg1"/>
                </a:solidFill>
              </a:rPr>
              <a:t>Terminal in the repo folder</a:t>
            </a:r>
            <a:endParaRPr lang="en-US" sz="1400" dirty="0"/>
          </a:p>
        </p:txBody>
      </p:sp>
      <p:pic>
        <p:nvPicPr>
          <p:cNvPr id="18" name="Image 1" descr="preencoded.png"/>
          <p:cNvPicPr>
            <a:picLocks noChangeAspect="1"/>
          </p:cNvPicPr>
          <p:nvPr/>
        </p:nvPicPr>
        <p:blipFill>
          <a:blip r:embed="rId4"/>
          <a:stretch>
            <a:fillRect/>
          </a:stretch>
        </p:blipFill>
        <p:spPr>
          <a:xfrm>
            <a:off x="4434840" y="5509260"/>
            <a:ext cx="457200" cy="457200"/>
          </a:xfrm>
          <a:prstGeom prst="rect">
            <a:avLst/>
          </a:prstGeom>
        </p:spPr>
      </p:pic>
      <p:sp>
        <p:nvSpPr>
          <p:cNvPr id="19" name="Text 14"/>
          <p:cNvSpPr txBox="1"/>
          <p:nvPr/>
        </p:nvSpPr>
        <p:spPr>
          <a:xfrm>
            <a:off x="5074920" y="5212080"/>
            <a:ext cx="2788920" cy="1051560"/>
          </a:xfrm>
          <a:prstGeom prst="rect">
            <a:avLst/>
          </a:prstGeom>
          <a:noFill/>
          <a:ln/>
        </p:spPr>
        <p:txBody>
          <a:bodyPr wrap="square" lIns="0" tIns="0" rIns="0" bIns="0" rtlCol="0" anchor="ctr"/>
          <a:lstStyle/>
          <a:p>
            <a:pPr marL="0" indent="0">
              <a:buNone/>
            </a:pPr>
            <a:r>
              <a:rPr lang="en-US" sz="1400" dirty="0">
                <a:solidFill>
                  <a:schemeClr val="bg1"/>
                </a:solidFill>
              </a:rPr>
              <a:t>wc -l on the raw and cleaned Warehouse files</a:t>
            </a:r>
            <a:endParaRPr lang="en-US" sz="1400" dirty="0"/>
          </a:p>
        </p:txBody>
      </p:sp>
      <p:pic>
        <p:nvPicPr>
          <p:cNvPr id="20" name="Image 2" descr="preencoded.png"/>
          <p:cNvPicPr>
            <a:picLocks noChangeAspect="1"/>
          </p:cNvPicPr>
          <p:nvPr/>
        </p:nvPicPr>
        <p:blipFill>
          <a:blip r:embed="rId5"/>
          <a:stretch>
            <a:fillRect/>
          </a:stretch>
        </p:blipFill>
        <p:spPr>
          <a:xfrm>
            <a:off x="8092440" y="5509260"/>
            <a:ext cx="457200" cy="457200"/>
          </a:xfrm>
          <a:prstGeom prst="rect">
            <a:avLst/>
          </a:prstGeom>
        </p:spPr>
      </p:pic>
      <p:sp>
        <p:nvSpPr>
          <p:cNvPr id="21" name="Text 15"/>
          <p:cNvSpPr txBox="1"/>
          <p:nvPr/>
        </p:nvSpPr>
        <p:spPr>
          <a:xfrm>
            <a:off x="8732520" y="5212080"/>
            <a:ext cx="2788920" cy="1051560"/>
          </a:xfrm>
          <a:prstGeom prst="rect">
            <a:avLst/>
          </a:prstGeom>
          <a:noFill/>
          <a:ln/>
        </p:spPr>
        <p:txBody>
          <a:bodyPr wrap="square" lIns="0" tIns="0" rIns="0" bIns="0" rtlCol="0" anchor="ctr"/>
          <a:lstStyle/>
          <a:p>
            <a:pPr marL="0" indent="0">
              <a:buNone/>
            </a:pPr>
            <a:r>
              <a:rPr lang="en-US" sz="1400" dirty="0">
                <a:solidFill>
                  <a:schemeClr val="bg1"/>
                </a:solidFill>
              </a:rPr>
              <a:t>6409 and 3205 lines (header included)</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365760"/>
            <a:ext cx="10149840" cy="777240"/>
          </a:xfrm>
          <a:prstGeom prst="rect">
            <a:avLst/>
          </a:prstGeom>
          <a:noFill/>
          <a:ln/>
        </p:spPr>
        <p:txBody>
          <a:bodyPr wrap="square" lIns="0" tIns="0" rIns="0" bIns="0" rtlCol="0" anchor="ctr"/>
          <a:lstStyle/>
          <a:p>
            <a:pPr marL="0" indent="0" algn="l">
              <a:buNone/>
            </a:pPr>
            <a:r>
              <a:rPr lang="en-US" sz="3600" b="1" dirty="0">
                <a:solidFill>
                  <a:schemeClr val="tx1"/>
                </a:solidFill>
              </a:rPr>
              <a:t>Data validation</a:t>
            </a:r>
            <a:endParaRPr lang="en-US" sz="3600" dirty="0"/>
          </a:p>
        </p:txBody>
      </p:sp>
      <p:graphicFrame>
        <p:nvGraphicFramePr>
          <p:cNvPr id="4" name="Chart 0"/>
          <p:cNvGraphicFramePr/>
          <p:nvPr/>
        </p:nvGraphicFramePr>
        <p:xfrm>
          <a:off x="548640" y="1371600"/>
          <a:ext cx="5394960" cy="3703320"/>
        </p:xfrm>
        <a:graphic>
          <a:graphicData uri="http://schemas.openxmlformats.org/drawingml/2006/chart">
            <c:chart xmlns:c="http://schemas.openxmlformats.org/drawingml/2006/chart" xmlns:r="http://schemas.openxmlformats.org/officeDocument/2006/relationships" r:id="rId3"/>
          </a:graphicData>
        </a:graphic>
      </p:graphicFrame>
      <p:sp>
        <p:nvSpPr>
          <p:cNvPr id="5" name="Flag card"/>
          <p:cNvSpPr/>
          <p:nvPr/>
        </p:nvSpPr>
        <p:spPr>
          <a:xfrm>
            <a:off x="6263640" y="1417320"/>
            <a:ext cx="5376672" cy="640080"/>
          </a:xfrm>
          <a:prstGeom prst="rect">
            <a:avLst/>
          </a:prstGeom>
          <a:solidFill>
            <a:schemeClr val="bg2"/>
          </a:solidFill>
          <a:ln w="12700">
            <a:solidFill>
              <a:schemeClr val="bg2"/>
            </a:solidFill>
            <a:prstDash val="solid"/>
          </a:ln>
        </p:spPr>
      </p:sp>
      <p:sp>
        <p:nvSpPr>
          <p:cNvPr id="6" name="Text 2"/>
          <p:cNvSpPr txBox="1"/>
          <p:nvPr/>
        </p:nvSpPr>
        <p:spPr>
          <a:xfrm>
            <a:off x="6446520" y="1417320"/>
            <a:ext cx="1463040" cy="640080"/>
          </a:xfrm>
          <a:prstGeom prst="rect">
            <a:avLst/>
          </a:prstGeom>
          <a:noFill/>
          <a:ln/>
        </p:spPr>
        <p:txBody>
          <a:bodyPr wrap="square" lIns="0" tIns="0" rIns="0" bIns="0" rtlCol="0" anchor="ctr"/>
          <a:lstStyle/>
          <a:p>
            <a:pPr marL="0" indent="0">
              <a:buNone/>
            </a:pPr>
            <a:r>
              <a:rPr lang="en-US" sz="1400" b="1" dirty="0">
                <a:solidFill>
                  <a:schemeClr val="accent5"/>
                </a:solidFill>
              </a:rPr>
              <a:t>Manufacturing</a:t>
            </a:r>
            <a:endParaRPr lang="en-US" sz="1400" dirty="0"/>
          </a:p>
        </p:txBody>
      </p:sp>
      <p:sp>
        <p:nvSpPr>
          <p:cNvPr id="7" name="Text 3"/>
          <p:cNvSpPr txBox="1"/>
          <p:nvPr/>
        </p:nvSpPr>
        <p:spPr>
          <a:xfrm>
            <a:off x="7955280" y="1417320"/>
            <a:ext cx="3566160" cy="640080"/>
          </a:xfrm>
          <a:prstGeom prst="rect">
            <a:avLst/>
          </a:prstGeom>
          <a:noFill/>
          <a:ln/>
        </p:spPr>
        <p:txBody>
          <a:bodyPr wrap="square" lIns="0" tIns="0" rIns="0" bIns="0" rtlCol="0" anchor="ctr"/>
          <a:lstStyle/>
          <a:p>
            <a:pPr marL="0" indent="0">
              <a:buNone/>
            </a:pPr>
            <a:r>
              <a:rPr lang="en-US" sz="1400" dirty="0">
                <a:solidFill>
                  <a:schemeClr val="tx1"/>
                </a:solidFill>
              </a:rPr>
              <a:t>258 empty cells = the 129 Failed jobs</a:t>
            </a:r>
            <a:endParaRPr lang="en-US" sz="1400" dirty="0"/>
          </a:p>
        </p:txBody>
      </p:sp>
      <p:sp>
        <p:nvSpPr>
          <p:cNvPr id="8" name="Flag card"/>
          <p:cNvSpPr/>
          <p:nvPr/>
        </p:nvSpPr>
        <p:spPr>
          <a:xfrm>
            <a:off x="6263640" y="2148840"/>
            <a:ext cx="5376672" cy="640080"/>
          </a:xfrm>
          <a:prstGeom prst="rect">
            <a:avLst/>
          </a:prstGeom>
          <a:solidFill>
            <a:schemeClr val="bg2"/>
          </a:solidFill>
          <a:ln w="12700">
            <a:solidFill>
              <a:schemeClr val="bg2"/>
            </a:solidFill>
            <a:prstDash val="solid"/>
          </a:ln>
        </p:spPr>
      </p:sp>
      <p:sp>
        <p:nvSpPr>
          <p:cNvPr id="9" name="Text 5"/>
          <p:cNvSpPr txBox="1"/>
          <p:nvPr/>
        </p:nvSpPr>
        <p:spPr>
          <a:xfrm>
            <a:off x="6446520" y="2148840"/>
            <a:ext cx="1463040" cy="640080"/>
          </a:xfrm>
          <a:prstGeom prst="rect">
            <a:avLst/>
          </a:prstGeom>
          <a:noFill/>
          <a:ln/>
        </p:spPr>
        <p:txBody>
          <a:bodyPr wrap="square" lIns="0" tIns="0" rIns="0" bIns="0" rtlCol="0" anchor="ctr"/>
          <a:lstStyle/>
          <a:p>
            <a:pPr marL="0" indent="0">
              <a:buNone/>
            </a:pPr>
            <a:r>
              <a:rPr lang="en-US" sz="1400" b="1" dirty="0">
                <a:solidFill>
                  <a:schemeClr val="accent5"/>
                </a:solidFill>
              </a:rPr>
              <a:t>Account</a:t>
            </a:r>
            <a:endParaRPr lang="en-US" sz="1400" dirty="0"/>
          </a:p>
        </p:txBody>
      </p:sp>
      <p:sp>
        <p:nvSpPr>
          <p:cNvPr id="10" name="Text 6"/>
          <p:cNvSpPr txBox="1"/>
          <p:nvPr/>
        </p:nvSpPr>
        <p:spPr>
          <a:xfrm>
            <a:off x="7955280" y="2148840"/>
            <a:ext cx="3566160" cy="640080"/>
          </a:xfrm>
          <a:prstGeom prst="rect">
            <a:avLst/>
          </a:prstGeom>
          <a:noFill/>
          <a:ln/>
        </p:spPr>
        <p:txBody>
          <a:bodyPr wrap="square" lIns="0" tIns="0" rIns="0" bIns="0" rtlCol="0" anchor="ctr"/>
          <a:lstStyle/>
          <a:p>
            <a:pPr marL="0" indent="0">
              <a:buNone/>
            </a:pPr>
            <a:r>
              <a:rPr lang="en-US" sz="1400" dirty="0">
                <a:solidFill>
                  <a:schemeClr val="tx1"/>
                </a:solidFill>
              </a:rPr>
              <a:t>Due date before document date: 11,269</a:t>
            </a:r>
            <a:endParaRPr lang="en-US" sz="1400" dirty="0"/>
          </a:p>
        </p:txBody>
      </p:sp>
      <p:sp>
        <p:nvSpPr>
          <p:cNvPr id="11" name="Flag card"/>
          <p:cNvSpPr/>
          <p:nvPr/>
        </p:nvSpPr>
        <p:spPr>
          <a:xfrm>
            <a:off x="6263640" y="2880360"/>
            <a:ext cx="5376672" cy="640080"/>
          </a:xfrm>
          <a:prstGeom prst="rect">
            <a:avLst/>
          </a:prstGeom>
          <a:solidFill>
            <a:schemeClr val="bg2"/>
          </a:solidFill>
          <a:ln w="12700">
            <a:solidFill>
              <a:schemeClr val="bg2"/>
            </a:solidFill>
            <a:prstDash val="solid"/>
          </a:ln>
        </p:spPr>
      </p:sp>
      <p:sp>
        <p:nvSpPr>
          <p:cNvPr id="12" name="Text 8"/>
          <p:cNvSpPr txBox="1"/>
          <p:nvPr/>
        </p:nvSpPr>
        <p:spPr>
          <a:xfrm>
            <a:off x="6446520" y="2880360"/>
            <a:ext cx="1463040" cy="640080"/>
          </a:xfrm>
          <a:prstGeom prst="rect">
            <a:avLst/>
          </a:prstGeom>
          <a:noFill/>
          <a:ln/>
        </p:spPr>
        <p:txBody>
          <a:bodyPr wrap="square" lIns="0" tIns="0" rIns="0" bIns="0" rtlCol="0" anchor="ctr"/>
          <a:lstStyle/>
          <a:p>
            <a:pPr marL="0" indent="0">
              <a:buNone/>
            </a:pPr>
            <a:r>
              <a:rPr lang="en-US" sz="1400" b="1" dirty="0">
                <a:solidFill>
                  <a:schemeClr val="accent5"/>
                </a:solidFill>
              </a:rPr>
              <a:t>Account</a:t>
            </a:r>
            <a:endParaRPr lang="en-US" sz="1400" dirty="0"/>
          </a:p>
        </p:txBody>
      </p:sp>
      <p:sp>
        <p:nvSpPr>
          <p:cNvPr id="13" name="Text 9"/>
          <p:cNvSpPr txBox="1"/>
          <p:nvPr/>
        </p:nvSpPr>
        <p:spPr>
          <a:xfrm>
            <a:off x="7955280" y="2880360"/>
            <a:ext cx="3566160" cy="640080"/>
          </a:xfrm>
          <a:prstGeom prst="rect">
            <a:avLst/>
          </a:prstGeom>
          <a:noFill/>
          <a:ln/>
        </p:spPr>
        <p:txBody>
          <a:bodyPr wrap="square" lIns="0" tIns="0" rIns="0" bIns="0" rtlCol="0" anchor="ctr"/>
          <a:lstStyle/>
          <a:p>
            <a:pPr marL="0" indent="0">
              <a:buNone/>
            </a:pPr>
            <a:r>
              <a:rPr lang="en-US" sz="1400" dirty="0">
                <a:solidFill>
                  <a:schemeClr val="tx1"/>
                </a:solidFill>
              </a:rPr>
              <a:t>Clearing date before document date: 12,104</a:t>
            </a:r>
            <a:endParaRPr lang="en-US" sz="1400" dirty="0"/>
          </a:p>
        </p:txBody>
      </p:sp>
      <p:sp>
        <p:nvSpPr>
          <p:cNvPr id="14" name="Flag card"/>
          <p:cNvSpPr/>
          <p:nvPr/>
        </p:nvSpPr>
        <p:spPr>
          <a:xfrm>
            <a:off x="6263640" y="3611880"/>
            <a:ext cx="5376672" cy="640080"/>
          </a:xfrm>
          <a:prstGeom prst="rect">
            <a:avLst/>
          </a:prstGeom>
          <a:solidFill>
            <a:schemeClr val="bg2"/>
          </a:solidFill>
          <a:ln w="12700">
            <a:solidFill>
              <a:schemeClr val="bg2"/>
            </a:solidFill>
            <a:prstDash val="solid"/>
          </a:ln>
        </p:spPr>
      </p:sp>
      <p:sp>
        <p:nvSpPr>
          <p:cNvPr id="15" name="Text 11"/>
          <p:cNvSpPr txBox="1"/>
          <p:nvPr/>
        </p:nvSpPr>
        <p:spPr>
          <a:xfrm>
            <a:off x="6446520" y="3611880"/>
            <a:ext cx="1463040" cy="640080"/>
          </a:xfrm>
          <a:prstGeom prst="rect">
            <a:avLst/>
          </a:prstGeom>
          <a:noFill/>
          <a:ln/>
        </p:spPr>
        <p:txBody>
          <a:bodyPr wrap="square" lIns="0" tIns="0" rIns="0" bIns="0" rtlCol="0" anchor="ctr"/>
          <a:lstStyle/>
          <a:p>
            <a:pPr marL="0" indent="0">
              <a:buNone/>
            </a:pPr>
            <a:r>
              <a:rPr lang="en-US" sz="1400" b="1" dirty="0">
                <a:solidFill>
                  <a:schemeClr val="accent5"/>
                </a:solidFill>
              </a:rPr>
              <a:t>Customer</a:t>
            </a:r>
            <a:endParaRPr lang="en-US" sz="1400" dirty="0"/>
          </a:p>
        </p:txBody>
      </p:sp>
      <p:sp>
        <p:nvSpPr>
          <p:cNvPr id="16" name="Text 12"/>
          <p:cNvSpPr txBox="1"/>
          <p:nvPr/>
        </p:nvSpPr>
        <p:spPr>
          <a:xfrm>
            <a:off x="7955280" y="3611880"/>
            <a:ext cx="3566160" cy="640080"/>
          </a:xfrm>
          <a:prstGeom prst="rect">
            <a:avLst/>
          </a:prstGeom>
          <a:noFill/>
          <a:ln/>
        </p:spPr>
        <p:txBody>
          <a:bodyPr wrap="square" lIns="0" tIns="0" rIns="0" bIns="0" rtlCol="0" anchor="ctr"/>
          <a:lstStyle/>
          <a:p>
            <a:pPr marL="0" indent="0">
              <a:buNone/>
            </a:pPr>
            <a:r>
              <a:rPr lang="en-US" sz="1400" dirty="0">
                <a:solidFill>
                  <a:schemeClr val="tx1"/>
                </a:solidFill>
              </a:rPr>
              <a:t>Registration dates in the future</a:t>
            </a:r>
            <a:endParaRPr lang="en-US" sz="1400" dirty="0"/>
          </a:p>
        </p:txBody>
      </p:sp>
      <p:sp>
        <p:nvSpPr>
          <p:cNvPr id="17" name="Flag card"/>
          <p:cNvSpPr/>
          <p:nvPr/>
        </p:nvSpPr>
        <p:spPr>
          <a:xfrm>
            <a:off x="6263640" y="4343400"/>
            <a:ext cx="5376672" cy="640080"/>
          </a:xfrm>
          <a:prstGeom prst="rect">
            <a:avLst/>
          </a:prstGeom>
          <a:solidFill>
            <a:schemeClr val="bg2"/>
          </a:solidFill>
          <a:ln w="12700">
            <a:solidFill>
              <a:schemeClr val="bg2"/>
            </a:solidFill>
            <a:prstDash val="solid"/>
          </a:ln>
        </p:spPr>
      </p:sp>
      <p:sp>
        <p:nvSpPr>
          <p:cNvPr id="18" name="Text 14"/>
          <p:cNvSpPr txBox="1"/>
          <p:nvPr/>
        </p:nvSpPr>
        <p:spPr>
          <a:xfrm>
            <a:off x="6446520" y="4343400"/>
            <a:ext cx="1463040" cy="640080"/>
          </a:xfrm>
          <a:prstGeom prst="rect">
            <a:avLst/>
          </a:prstGeom>
          <a:noFill/>
          <a:ln/>
        </p:spPr>
        <p:txBody>
          <a:bodyPr wrap="square" lIns="0" tIns="0" rIns="0" bIns="0" rtlCol="0" anchor="ctr"/>
          <a:lstStyle/>
          <a:p>
            <a:pPr marL="0" indent="0">
              <a:buNone/>
            </a:pPr>
            <a:r>
              <a:rPr lang="en-US" sz="1400" b="1" dirty="0">
                <a:solidFill>
                  <a:schemeClr val="accent5"/>
                </a:solidFill>
              </a:rPr>
              <a:t>Sales</a:t>
            </a:r>
            <a:endParaRPr lang="en-US" sz="1400" dirty="0"/>
          </a:p>
        </p:txBody>
      </p:sp>
      <p:sp>
        <p:nvSpPr>
          <p:cNvPr id="19" name="Text 15"/>
          <p:cNvSpPr txBox="1"/>
          <p:nvPr/>
        </p:nvSpPr>
        <p:spPr>
          <a:xfrm>
            <a:off x="7955280" y="4343400"/>
            <a:ext cx="3566160" cy="640080"/>
          </a:xfrm>
          <a:prstGeom prst="rect">
            <a:avLst/>
          </a:prstGeom>
          <a:noFill/>
          <a:ln/>
        </p:spPr>
        <p:txBody>
          <a:bodyPr wrap="square" lIns="0" tIns="0" rIns="0" bIns="0" rtlCol="0" anchor="ctr"/>
          <a:lstStyle/>
          <a:p>
            <a:pPr marL="0" indent="0">
              <a:buNone/>
            </a:pPr>
            <a:r>
              <a:rPr lang="en-US" sz="1400" dirty="0">
                <a:solidFill>
                  <a:schemeClr val="tx1"/>
                </a:solidFill>
              </a:rPr>
              <a:t>1 missing value in the first record</a:t>
            </a:r>
            <a:endParaRPr lang="en-US" sz="1400" dirty="0"/>
          </a:p>
        </p:txBody>
      </p:sp>
      <p:sp>
        <p:nvSpPr>
          <p:cNvPr id="20" name="Demo bar"/>
          <p:cNvSpPr/>
          <p:nvPr/>
        </p:nvSpPr>
        <p:spPr>
          <a:xfrm>
            <a:off x="548640" y="5212080"/>
            <a:ext cx="11091672" cy="1051560"/>
          </a:xfrm>
          <a:prstGeom prst="rect">
            <a:avLst/>
          </a:prstGeom>
          <a:solidFill>
            <a:schemeClr val="tx1"/>
          </a:solidFill>
          <a:ln w="12700">
            <a:solidFill>
              <a:schemeClr val="bg2"/>
            </a:solidFill>
            <a:prstDash val="solid"/>
          </a:ln>
        </p:spPr>
      </p:sp>
      <p:pic>
        <p:nvPicPr>
          <p:cNvPr id="21" name="Image 0" descr="preencoded.png"/>
          <p:cNvPicPr>
            <a:picLocks noChangeAspect="1"/>
          </p:cNvPicPr>
          <p:nvPr/>
        </p:nvPicPr>
        <p:blipFill>
          <a:blip r:embed="rId4"/>
          <a:stretch>
            <a:fillRect/>
          </a:stretch>
        </p:blipFill>
        <p:spPr>
          <a:xfrm>
            <a:off x="777240" y="5509260"/>
            <a:ext cx="457200" cy="457200"/>
          </a:xfrm>
          <a:prstGeom prst="rect">
            <a:avLst/>
          </a:prstGeom>
        </p:spPr>
      </p:pic>
      <p:sp>
        <p:nvSpPr>
          <p:cNvPr id="22" name="Text 17"/>
          <p:cNvSpPr txBox="1"/>
          <p:nvPr/>
        </p:nvSpPr>
        <p:spPr>
          <a:xfrm>
            <a:off x="1417320" y="5212080"/>
            <a:ext cx="2788920" cy="1051560"/>
          </a:xfrm>
          <a:prstGeom prst="rect">
            <a:avLst/>
          </a:prstGeom>
          <a:noFill/>
          <a:ln/>
        </p:spPr>
        <p:txBody>
          <a:bodyPr wrap="square" lIns="0" tIns="0" rIns="0" bIns="0" rtlCol="0" anchor="ctr"/>
          <a:lstStyle/>
          <a:p>
            <a:pPr marL="0" indent="0">
              <a:buNone/>
            </a:pPr>
            <a:r>
              <a:rPr lang="en-US" sz="1400" dirty="0">
                <a:solidFill>
                  <a:schemeClr val="bg1"/>
                </a:solidFill>
              </a:rPr>
              <a:t>Terminal in the python/ folder</a:t>
            </a:r>
            <a:endParaRPr lang="en-US" sz="1400" dirty="0"/>
          </a:p>
        </p:txBody>
      </p:sp>
      <p:pic>
        <p:nvPicPr>
          <p:cNvPr id="23" name="Image 1" descr="preencoded.png"/>
          <p:cNvPicPr>
            <a:picLocks noChangeAspect="1"/>
          </p:cNvPicPr>
          <p:nvPr/>
        </p:nvPicPr>
        <p:blipFill>
          <a:blip r:embed="rId5"/>
          <a:stretch>
            <a:fillRect/>
          </a:stretch>
        </p:blipFill>
        <p:spPr>
          <a:xfrm>
            <a:off x="4434840" y="5509260"/>
            <a:ext cx="457200" cy="457200"/>
          </a:xfrm>
          <a:prstGeom prst="rect">
            <a:avLst/>
          </a:prstGeom>
        </p:spPr>
      </p:pic>
      <p:sp>
        <p:nvSpPr>
          <p:cNvPr id="24" name="Text 18"/>
          <p:cNvSpPr txBox="1"/>
          <p:nvPr/>
        </p:nvSpPr>
        <p:spPr>
          <a:xfrm>
            <a:off x="5074920" y="5212080"/>
            <a:ext cx="2788920" cy="1051560"/>
          </a:xfrm>
          <a:prstGeom prst="rect">
            <a:avLst/>
          </a:prstGeom>
          <a:noFill/>
          <a:ln/>
        </p:spPr>
        <p:txBody>
          <a:bodyPr wrap="square" lIns="0" tIns="0" rIns="0" bIns="0" rtlCol="0" anchor="ctr"/>
          <a:lstStyle/>
          <a:p>
            <a:pPr marL="0" indent="0">
              <a:buNone/>
            </a:pPr>
            <a:r>
              <a:rPr lang="en-US" sz="1400" dirty="0">
                <a:solidFill>
                  <a:schemeClr val="bg1"/>
                </a:solidFill>
              </a:rPr>
              <a:t>Run ERP_Data_Validation_Group2.py</a:t>
            </a:r>
            <a:endParaRPr lang="en-US" sz="1400" dirty="0"/>
          </a:p>
        </p:txBody>
      </p:sp>
      <p:pic>
        <p:nvPicPr>
          <p:cNvPr id="25" name="Image 2" descr="preencoded.png"/>
          <p:cNvPicPr>
            <a:picLocks noChangeAspect="1"/>
          </p:cNvPicPr>
          <p:nvPr/>
        </p:nvPicPr>
        <p:blipFill>
          <a:blip r:embed="rId6"/>
          <a:stretch>
            <a:fillRect/>
          </a:stretch>
        </p:blipFill>
        <p:spPr>
          <a:xfrm>
            <a:off x="8092440" y="5509260"/>
            <a:ext cx="457200" cy="457200"/>
          </a:xfrm>
          <a:prstGeom prst="rect">
            <a:avLst/>
          </a:prstGeom>
        </p:spPr>
      </p:pic>
      <p:sp>
        <p:nvSpPr>
          <p:cNvPr id="26" name="Text 19"/>
          <p:cNvSpPr txBox="1"/>
          <p:nvPr/>
        </p:nvSpPr>
        <p:spPr>
          <a:xfrm>
            <a:off x="8732520" y="5212080"/>
            <a:ext cx="2788920" cy="1051560"/>
          </a:xfrm>
          <a:prstGeom prst="rect">
            <a:avLst/>
          </a:prstGeom>
          <a:noFill/>
          <a:ln/>
        </p:spPr>
        <p:txBody>
          <a:bodyPr wrap="square" lIns="0" tIns="0" rIns="0" bIns="0" rtlCol="0" anchor="ctr"/>
          <a:lstStyle/>
          <a:p>
            <a:pPr marL="0" indent="0">
              <a:buNone/>
            </a:pPr>
            <a:r>
              <a:rPr lang="en-US" sz="1400" dirty="0">
                <a:solidFill>
                  <a:schemeClr val="bg1"/>
                </a:solidFill>
              </a:rPr>
              <a:t>49 checks, 4 flagged</a:t>
            </a:r>
            <a:endParaRPr lang="en-US" sz="1400" dirty="0"/>
          </a:p>
        </p:txBody>
      </p:sp>
      <p:sp>
        <p:nvSpPr>
          <p:cNvPr id="2"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365760"/>
            <a:ext cx="10149840" cy="777240"/>
          </a:xfrm>
          <a:prstGeom prst="rect">
            <a:avLst/>
          </a:prstGeom>
          <a:noFill/>
          <a:ln/>
        </p:spPr>
        <p:txBody>
          <a:bodyPr wrap="square" lIns="0" tIns="0" rIns="0" bIns="0" rtlCol="0" anchor="ctr"/>
          <a:lstStyle/>
          <a:p>
            <a:pPr marL="0" indent="0" algn="l">
              <a:buNone/>
            </a:pPr>
            <a:r>
              <a:rPr lang="en-US" sz="3600" b="1" dirty="0">
                <a:solidFill>
                  <a:schemeClr val="tx1"/>
                </a:solidFill>
              </a:rPr>
              <a:t>Challenge: IDs do not match</a:t>
            </a:r>
            <a:endParaRPr lang="en-US" sz="3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675120" cy="1005840"/>
        </p:xfrm>
        <a:graphic>
          <a:graphicData uri="http://schemas.openxmlformats.org/drawingml/2006/table">
            <a:tbl>
              <a:tblPr/>
              <a:tblGrid>
                <a:gridCol w="17373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502920">
                <a:tc>
                  <a:txBody>
                    <a:bodyPr/>
                    <a:lstStyle/>
                    <a:p>
                      <a:pPr marL="0" indent="0">
                        <a:buNone/>
                      </a:pPr>
                      <a:r>
                        <a:rPr lang="en-US" sz="1400" b="1" dirty="0">
                          <a:solidFill>
                            <a:schemeClr val="bg1"/>
                          </a:solidFill>
                        </a:rPr>
                        <a:t>Customer ID</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Sales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Customer Master</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Account</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02920">
                <a:tc>
                  <a:txBody>
                    <a:bodyPr/>
                    <a:lstStyle/>
                    <a:p>
                      <a:pPr marL="0" indent="0">
                        <a:buNone/>
                      </a:pPr>
                      <a:r>
                        <a:rPr lang="en-US" sz="1400" dirty="0">
                          <a:solidFill>
                            <a:schemeClr val="tx1"/>
                          </a:solidFill>
                        </a:rPr>
                        <a:t>Example</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CUST001</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5001</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5039221069</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35" name="Table 1"/>
          <p:cNvGraphicFramePr>
            <a:graphicFrameLocks noGrp="1"/>
          </p:cNvGraphicFramePr>
          <p:nvPr>
            <p:extLst>
              <p:ext uri="{D42A27DB-BD31-4B8C-83A1-F6EECF244321}">
                <p14:modId xmlns:p14="http://schemas.microsoft.com/office/powerpoint/2010/main" val="1579011935"/>
              </p:ext>
            </p:extLst>
          </p:nvPr>
        </p:nvGraphicFramePr>
        <p:xfrm>
          <a:off x="548640" y="2743200"/>
          <a:ext cx="6675120" cy="1005840"/>
        </p:xfrm>
        <a:graphic>
          <a:graphicData uri="http://schemas.openxmlformats.org/drawingml/2006/table">
            <a:tbl>
              <a:tblPr/>
              <a:tblGrid>
                <a:gridCol w="17373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502920">
                <a:tc>
                  <a:txBody>
                    <a:bodyPr/>
                    <a:lstStyle/>
                    <a:p>
                      <a:pPr marL="0" indent="0">
                        <a:buNone/>
                      </a:pPr>
                      <a:r>
                        <a:rPr lang="en-US" sz="1400" b="1" dirty="0">
                          <a:solidFill>
                            <a:schemeClr val="bg1"/>
                          </a:solidFill>
                        </a:rPr>
                        <a:t>Item ID</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Inventory</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Warehouse</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Procurement</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02920">
                <a:tc>
                  <a:txBody>
                    <a:bodyPr/>
                    <a:lstStyle/>
                    <a:p>
                      <a:pPr marL="0" indent="0">
                        <a:buNone/>
                      </a:pPr>
                      <a:r>
                        <a:rPr lang="en-US" sz="1400" dirty="0">
                          <a:solidFill>
                            <a:schemeClr val="tx1"/>
                          </a:solidFill>
                        </a:rPr>
                        <a:t>Example</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ITM_001</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ITM10000</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P109</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6" name="Text 1"/>
          <p:cNvSpPr txBox="1"/>
          <p:nvPr/>
        </p:nvSpPr>
        <p:spPr>
          <a:xfrm>
            <a:off x="548640" y="3931920"/>
            <a:ext cx="6675120" cy="640080"/>
          </a:xfrm>
          <a:prstGeom prst="rect">
            <a:avLst/>
          </a:prstGeom>
          <a:noFill/>
          <a:ln/>
        </p:spPr>
        <p:txBody>
          <a:bodyPr wrap="square" lIns="0" tIns="0" rIns="0" bIns="0" rtlCol="0" anchor="t"/>
          <a:lstStyle/>
          <a:p>
            <a:pPr marL="0" indent="0">
              <a:buNone/>
            </a:pPr>
            <a:r>
              <a:rPr lang="en-US" sz="1400" dirty="0">
                <a:solidFill>
                  <a:schemeClr val="tx2"/>
                </a:solidFill>
              </a:rPr>
              <a:t>Sales has no item ID at all, only a category name. Inventory and Warehouse share 0 item IDs.</a:t>
            </a:r>
            <a:endParaRPr lang="en-US" sz="1400" dirty="0"/>
          </a:p>
        </p:txBody>
      </p:sp>
      <p:sp>
        <p:nvSpPr>
          <p:cNvPr id="7" name="Verification card"/>
          <p:cNvSpPr/>
          <p:nvPr/>
        </p:nvSpPr>
        <p:spPr>
          <a:xfrm>
            <a:off x="7589520" y="1463040"/>
            <a:ext cx="4050792" cy="3108960"/>
          </a:xfrm>
          <a:prstGeom prst="rect">
            <a:avLst/>
          </a:prstGeom>
          <a:solidFill>
            <a:schemeClr val="bg2"/>
          </a:solidFill>
          <a:ln w="12700">
            <a:solidFill>
              <a:schemeClr val="bg2"/>
            </a:solidFill>
            <a:prstDash val="solid"/>
          </a:ln>
        </p:spPr>
      </p:sp>
      <p:sp>
        <p:nvSpPr>
          <p:cNvPr id="8" name="Text 3"/>
          <p:cNvSpPr txBox="1"/>
          <p:nvPr/>
        </p:nvSpPr>
        <p:spPr>
          <a:xfrm>
            <a:off x="7818120" y="1645920"/>
            <a:ext cx="3657600" cy="365760"/>
          </a:xfrm>
          <a:prstGeom prst="rect">
            <a:avLst/>
          </a:prstGeom>
          <a:noFill/>
          <a:ln/>
        </p:spPr>
        <p:txBody>
          <a:bodyPr wrap="square" lIns="0" tIns="0" rIns="0" bIns="0" rtlCol="0" anchor="t"/>
          <a:lstStyle/>
          <a:p>
            <a:pPr marL="0" indent="0">
              <a:buNone/>
            </a:pPr>
            <a:r>
              <a:rPr lang="en-US" sz="1800" b="1" dirty="0">
                <a:solidFill>
                  <a:schemeClr val="accent1"/>
                </a:solidFill>
              </a:rPr>
              <a:t>How we verified it</a:t>
            </a:r>
            <a:endParaRPr lang="en-US" sz="1800" dirty="0"/>
          </a:p>
        </p:txBody>
      </p:sp>
      <p:sp>
        <p:nvSpPr>
          <p:cNvPr id="9" name="Text 4"/>
          <p:cNvSpPr txBox="1"/>
          <p:nvPr/>
        </p:nvSpPr>
        <p:spPr>
          <a:xfrm>
            <a:off x="7818120" y="2148840"/>
            <a:ext cx="3657600" cy="228600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Raw, staged and cleaned files all show the same IDs</a:t>
            </a:r>
            <a:endParaRPr lang="en-US" sz="1400" dirty="0"/>
          </a:p>
          <a:p>
            <a:pPr marL="203200" indent="-203200">
              <a:spcAft>
                <a:spcPts val="800"/>
              </a:spcAft>
              <a:buSzPct val="100000"/>
              <a:buChar char="•"/>
            </a:pPr>
            <a:r>
              <a:rPr lang="en-US" sz="1400" dirty="0">
                <a:solidFill>
                  <a:schemeClr val="tx1"/>
                </a:solidFill>
              </a:rPr>
              <a:t>No shared column to prove a row-order link</a:t>
            </a:r>
            <a:endParaRPr lang="en-US" sz="1400" dirty="0"/>
          </a:p>
          <a:p>
            <a:pPr marL="203200" indent="-203200">
              <a:spcAft>
                <a:spcPts val="800"/>
              </a:spcAft>
              <a:buSzPct val="100000"/>
              <a:buChar char="•"/>
            </a:pPr>
            <a:r>
              <a:rPr lang="en-US" sz="1400" dirty="0">
                <a:solidFill>
                  <a:schemeClr val="tx1"/>
                </a:solidFill>
              </a:rPr>
              <a:t>Overlap between Inventory and Warehouse is zero</a:t>
            </a:r>
            <a:endParaRPr lang="en-US" sz="1400" dirty="0"/>
          </a:p>
        </p:txBody>
      </p:sp>
      <p:sp>
        <p:nvSpPr>
          <p:cNvPr id="10" name="Decision card"/>
          <p:cNvSpPr/>
          <p:nvPr/>
        </p:nvSpPr>
        <p:spPr>
          <a:xfrm>
            <a:off x="548640" y="4846320"/>
            <a:ext cx="11091672" cy="1188720"/>
          </a:xfrm>
          <a:prstGeom prst="rect">
            <a:avLst/>
          </a:prstGeom>
          <a:solidFill>
            <a:schemeClr val="tx1"/>
          </a:solidFill>
          <a:ln w="12700">
            <a:solidFill>
              <a:schemeClr val="bg2"/>
            </a:solidFill>
            <a:prstDash val="solid"/>
          </a:ln>
        </p:spPr>
      </p:sp>
      <p:sp>
        <p:nvSpPr>
          <p:cNvPr id="11" name="Text 6"/>
          <p:cNvSpPr txBox="1"/>
          <p:nvPr/>
        </p:nvSpPr>
        <p:spPr>
          <a:xfrm>
            <a:off x="822960" y="4846320"/>
            <a:ext cx="10515600" cy="1188720"/>
          </a:xfrm>
          <a:prstGeom prst="rect">
            <a:avLst/>
          </a:prstGeom>
          <a:noFill/>
          <a:ln/>
        </p:spPr>
        <p:txBody>
          <a:bodyPr wrap="square" lIns="0" tIns="0" rIns="0" bIns="0" rtlCol="0" anchor="ctr"/>
          <a:lstStyle/>
          <a:p>
            <a:pPr marL="0" indent="0">
              <a:buNone/>
            </a:pPr>
            <a:r>
              <a:rPr lang="en-US" sz="1800" b="1" dirty="0">
                <a:solidFill>
                  <a:schemeClr val="bg1"/>
                </a:solidFill>
              </a:rPr>
              <a:t>Decision: build standalone modules that share only the date dimension, and keep unmatched IDs as plain columns. No invented links.</a:t>
            </a:r>
            <a:endParaRPr lang="en-US" sz="18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365760"/>
            <a:ext cx="10149840" cy="777240"/>
          </a:xfrm>
          <a:prstGeom prst="rect">
            <a:avLst/>
          </a:prstGeom>
          <a:noFill/>
          <a:ln/>
        </p:spPr>
        <p:txBody>
          <a:bodyPr wrap="square" lIns="0" tIns="0" rIns="0" bIns="0" rtlCol="0" anchor="ctr"/>
          <a:lstStyle/>
          <a:p>
            <a:pPr marL="0" indent="0" algn="l">
              <a:buNone/>
            </a:pPr>
            <a:r>
              <a:rPr lang="en-US" sz="3600" b="1" dirty="0">
                <a:solidFill>
                  <a:schemeClr val="tx1"/>
                </a:solidFill>
              </a:rPr>
              <a:t>Star schema design</a:t>
            </a:r>
            <a:endParaRPr lang="en-US" sz="3600" dirty="0"/>
          </a:p>
        </p:txBody>
      </p:sp>
      <p:sp>
        <p:nvSpPr>
          <p:cNvPr id="4" name="Text 1"/>
          <p:cNvSpPr txBox="1"/>
          <p:nvPr/>
        </p:nvSpPr>
        <p:spPr>
          <a:xfrm>
            <a:off x="548640" y="1463040"/>
            <a:ext cx="5029200" cy="365760"/>
          </a:xfrm>
          <a:prstGeom prst="rect">
            <a:avLst/>
          </a:prstGeom>
          <a:noFill/>
          <a:ln/>
        </p:spPr>
        <p:txBody>
          <a:bodyPr wrap="square" lIns="0" tIns="0" rIns="0" bIns="0" rtlCol="0" anchor="t"/>
          <a:lstStyle/>
          <a:p>
            <a:pPr marL="0" indent="0">
              <a:buNone/>
            </a:pPr>
            <a:r>
              <a:rPr lang="en-US" sz="2000" b="1" dirty="0">
                <a:solidFill>
                  <a:schemeClr val="accent1"/>
                </a:solidFill>
              </a:rPr>
              <a:t>How we designed it</a:t>
            </a:r>
            <a:endParaRPr lang="en-US" sz="2000" dirty="0"/>
          </a:p>
        </p:txBody>
      </p:sp>
      <p:sp>
        <p:nvSpPr>
          <p:cNvPr id="5" name="Text 2"/>
          <p:cNvSpPr/>
          <p:nvPr/>
        </p:nvSpPr>
        <p:spPr>
          <a:xfrm>
            <a:off x="548640" y="2039112"/>
            <a:ext cx="502920" cy="502920"/>
          </a:xfrm>
          <a:prstGeom prst="ellipse">
            <a:avLst/>
          </a:prstGeom>
          <a:solidFill>
            <a:srgbClr val="0F766E"/>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Text 3"/>
          <p:cNvSpPr txBox="1"/>
          <p:nvPr/>
        </p:nvSpPr>
        <p:spPr>
          <a:xfrm>
            <a:off x="1280160" y="1965960"/>
            <a:ext cx="4206240" cy="365760"/>
          </a:xfrm>
          <a:prstGeom prst="rect">
            <a:avLst/>
          </a:prstGeom>
          <a:noFill/>
          <a:ln/>
        </p:spPr>
        <p:txBody>
          <a:bodyPr wrap="square" lIns="0" tIns="0" rIns="0" bIns="0" rtlCol="0" anchor="t"/>
          <a:lstStyle/>
          <a:p>
            <a:pPr marL="0" indent="0">
              <a:buNone/>
            </a:pPr>
            <a:r>
              <a:rPr lang="en-US" sz="1800" b="1" dirty="0">
                <a:solidFill>
                  <a:schemeClr val="tx1"/>
                </a:solidFill>
              </a:rPr>
              <a:t>Start from the questions</a:t>
            </a:r>
            <a:endParaRPr lang="en-US" sz="1800" dirty="0"/>
          </a:p>
        </p:txBody>
      </p:sp>
      <p:sp>
        <p:nvSpPr>
          <p:cNvPr id="7" name="Text 4"/>
          <p:cNvSpPr txBox="1"/>
          <p:nvPr/>
        </p:nvSpPr>
        <p:spPr>
          <a:xfrm>
            <a:off x="1280160" y="2350008"/>
            <a:ext cx="4206240" cy="457200"/>
          </a:xfrm>
          <a:prstGeom prst="rect">
            <a:avLst/>
          </a:prstGeom>
          <a:noFill/>
          <a:ln/>
        </p:spPr>
        <p:txBody>
          <a:bodyPr wrap="square" lIns="0" tIns="0" rIns="0" bIns="0" rtlCol="0" anchor="t"/>
          <a:lstStyle/>
          <a:p>
            <a:pPr marL="0" indent="0">
              <a:buNone/>
            </a:pPr>
            <a:r>
              <a:rPr lang="en-US" sz="1400" dirty="0">
                <a:solidFill>
                  <a:schemeClr val="tx2"/>
                </a:solidFill>
              </a:rPr>
              <a:t>Sales by month, spend by supplier, stock by zone</a:t>
            </a:r>
            <a:endParaRPr lang="en-US" sz="1400" dirty="0"/>
          </a:p>
        </p:txBody>
      </p:sp>
      <p:sp>
        <p:nvSpPr>
          <p:cNvPr id="8" name="Text 5"/>
          <p:cNvSpPr/>
          <p:nvPr/>
        </p:nvSpPr>
        <p:spPr>
          <a:xfrm>
            <a:off x="548640" y="3063240"/>
            <a:ext cx="502920" cy="502920"/>
          </a:xfrm>
          <a:prstGeom prst="ellipse">
            <a:avLst/>
          </a:prstGeom>
          <a:solidFill>
            <a:srgbClr val="0F766E"/>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9" name="Text 6"/>
          <p:cNvSpPr txBox="1"/>
          <p:nvPr/>
        </p:nvSpPr>
        <p:spPr>
          <a:xfrm>
            <a:off x="1280160" y="2990088"/>
            <a:ext cx="4206240" cy="365760"/>
          </a:xfrm>
          <a:prstGeom prst="rect">
            <a:avLst/>
          </a:prstGeom>
          <a:noFill/>
          <a:ln/>
        </p:spPr>
        <p:txBody>
          <a:bodyPr wrap="square" lIns="0" tIns="0" rIns="0" bIns="0" rtlCol="0" anchor="t"/>
          <a:lstStyle/>
          <a:p>
            <a:pPr marL="0" indent="0">
              <a:buNone/>
            </a:pPr>
            <a:r>
              <a:rPr lang="en-US" sz="1800" b="1" dirty="0">
                <a:solidFill>
                  <a:schemeClr val="tx1"/>
                </a:solidFill>
              </a:rPr>
              <a:t>Fix the grain first</a:t>
            </a:r>
            <a:endParaRPr lang="en-US" sz="1800" dirty="0"/>
          </a:p>
        </p:txBody>
      </p:sp>
      <p:sp>
        <p:nvSpPr>
          <p:cNvPr id="10" name="Text 7"/>
          <p:cNvSpPr txBox="1"/>
          <p:nvPr/>
        </p:nvSpPr>
        <p:spPr>
          <a:xfrm>
            <a:off x="1280160" y="3374136"/>
            <a:ext cx="4206240" cy="457200"/>
          </a:xfrm>
          <a:prstGeom prst="rect">
            <a:avLst/>
          </a:prstGeom>
          <a:noFill/>
          <a:ln/>
        </p:spPr>
        <p:txBody>
          <a:bodyPr wrap="square" lIns="0" tIns="0" rIns="0" bIns="0" rtlCol="0" anchor="t"/>
          <a:lstStyle/>
          <a:p>
            <a:pPr marL="0" indent="0">
              <a:buNone/>
            </a:pPr>
            <a:r>
              <a:rPr lang="en-US" sz="1400" dirty="0">
                <a:solidFill>
                  <a:schemeClr val="tx2"/>
                </a:solidFill>
              </a:rPr>
              <a:t>What does one row of each fact mean?</a:t>
            </a:r>
            <a:endParaRPr lang="en-US" sz="1400" dirty="0"/>
          </a:p>
        </p:txBody>
      </p:sp>
      <p:sp>
        <p:nvSpPr>
          <p:cNvPr id="11" name="Text 8"/>
          <p:cNvSpPr/>
          <p:nvPr/>
        </p:nvSpPr>
        <p:spPr>
          <a:xfrm>
            <a:off x="548640" y="4087368"/>
            <a:ext cx="502920" cy="502920"/>
          </a:xfrm>
          <a:prstGeom prst="ellipse">
            <a:avLst/>
          </a:prstGeom>
          <a:solidFill>
            <a:srgbClr val="0F766E"/>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2" name="Text 9"/>
          <p:cNvSpPr txBox="1"/>
          <p:nvPr/>
        </p:nvSpPr>
        <p:spPr>
          <a:xfrm>
            <a:off x="1280160" y="4014216"/>
            <a:ext cx="4206240" cy="365760"/>
          </a:xfrm>
          <a:prstGeom prst="rect">
            <a:avLst/>
          </a:prstGeom>
          <a:noFill/>
          <a:ln/>
        </p:spPr>
        <p:txBody>
          <a:bodyPr wrap="square" lIns="0" tIns="0" rIns="0" bIns="0" rtlCol="0" anchor="t"/>
          <a:lstStyle/>
          <a:p>
            <a:pPr marL="0" indent="0">
              <a:buNone/>
            </a:pPr>
            <a:r>
              <a:rPr lang="en-US" sz="1800" b="1" dirty="0">
                <a:solidFill>
                  <a:schemeClr val="tx1"/>
                </a:solidFill>
              </a:rPr>
              <a:t>Check keys on real data</a:t>
            </a:r>
            <a:endParaRPr lang="en-US" sz="1800" dirty="0"/>
          </a:p>
        </p:txBody>
      </p:sp>
      <p:sp>
        <p:nvSpPr>
          <p:cNvPr id="13" name="Text 10"/>
          <p:cNvSpPr txBox="1"/>
          <p:nvPr/>
        </p:nvSpPr>
        <p:spPr>
          <a:xfrm>
            <a:off x="1280160" y="4398264"/>
            <a:ext cx="4206240" cy="457200"/>
          </a:xfrm>
          <a:prstGeom prst="rect">
            <a:avLst/>
          </a:prstGeom>
          <a:noFill/>
          <a:ln/>
        </p:spPr>
        <p:txBody>
          <a:bodyPr wrap="square" lIns="0" tIns="0" rIns="0" bIns="0" rtlCol="0" anchor="t"/>
          <a:lstStyle/>
          <a:p>
            <a:pPr marL="0" indent="0">
              <a:buNone/>
            </a:pPr>
            <a:r>
              <a:rPr lang="en-US" sz="1400" dirty="0">
                <a:solidFill>
                  <a:schemeClr val="tx2"/>
                </a:solidFill>
              </a:rPr>
              <a:t>Link only what the data proves</a:t>
            </a:r>
            <a:endParaRPr lang="en-US" sz="1400" dirty="0"/>
          </a:p>
        </p:txBody>
      </p:sp>
      <p:sp>
        <p:nvSpPr>
          <p:cNvPr id="14" name="Text 11"/>
          <p:cNvSpPr/>
          <p:nvPr/>
        </p:nvSpPr>
        <p:spPr>
          <a:xfrm>
            <a:off x="548640" y="5111496"/>
            <a:ext cx="502920" cy="502920"/>
          </a:xfrm>
          <a:prstGeom prst="ellipse">
            <a:avLst/>
          </a:prstGeom>
          <a:solidFill>
            <a:srgbClr val="0F766E"/>
          </a:solid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5" name="Text 12"/>
          <p:cNvSpPr txBox="1"/>
          <p:nvPr/>
        </p:nvSpPr>
        <p:spPr>
          <a:xfrm>
            <a:off x="1280160" y="5038344"/>
            <a:ext cx="4206240" cy="365760"/>
          </a:xfrm>
          <a:prstGeom prst="rect">
            <a:avLst/>
          </a:prstGeom>
          <a:noFill/>
          <a:ln/>
        </p:spPr>
        <p:txBody>
          <a:bodyPr wrap="square" lIns="0" tIns="0" rIns="0" bIns="0" rtlCol="0" anchor="t"/>
          <a:lstStyle/>
          <a:p>
            <a:pPr marL="0" indent="0">
              <a:buNone/>
            </a:pPr>
            <a:r>
              <a:rPr lang="en-US" sz="1800" b="1" dirty="0">
                <a:solidFill>
                  <a:schemeClr val="tx1"/>
                </a:solidFill>
              </a:rPr>
              <a:t>Keep it honest</a:t>
            </a:r>
            <a:endParaRPr lang="en-US" sz="1800" dirty="0"/>
          </a:p>
        </p:txBody>
      </p:sp>
      <p:sp>
        <p:nvSpPr>
          <p:cNvPr id="16" name="Text 13"/>
          <p:cNvSpPr txBox="1"/>
          <p:nvPr/>
        </p:nvSpPr>
        <p:spPr>
          <a:xfrm>
            <a:off x="1280160" y="5422392"/>
            <a:ext cx="4206240" cy="457200"/>
          </a:xfrm>
          <a:prstGeom prst="rect">
            <a:avLst/>
          </a:prstGeom>
          <a:noFill/>
          <a:ln/>
        </p:spPr>
        <p:txBody>
          <a:bodyPr wrap="square" lIns="0" tIns="0" rIns="0" bIns="0" rtlCol="0" anchor="t"/>
          <a:lstStyle/>
          <a:p>
            <a:pPr marL="0" indent="0">
              <a:buNone/>
            </a:pPr>
            <a:r>
              <a:rPr lang="en-US" sz="1400" dirty="0">
                <a:solidFill>
                  <a:schemeClr val="tx2"/>
                </a:solidFill>
              </a:rPr>
              <a:t>Standalone modules, shared dates</a:t>
            </a:r>
            <a:endParaRPr lang="en-US" sz="1400" dirty="0"/>
          </a:p>
        </p:txBody>
      </p:sp>
      <p:sp>
        <p:nvSpPr>
          <p:cNvPr id="17" name="Shape 14"/>
          <p:cNvSpPr/>
          <p:nvPr/>
        </p:nvSpPr>
        <p:spPr>
          <a:xfrm>
            <a:off x="7726680" y="2148840"/>
            <a:ext cx="1097280" cy="1783080"/>
          </a:xfrm>
          <a:prstGeom prst="line">
            <a:avLst/>
          </a:prstGeom>
          <a:noFill/>
          <a:ln w="19050">
            <a:solidFill>
              <a:srgbClr val="8E99A4"/>
            </a:solidFill>
            <a:prstDash val="solid"/>
          </a:ln>
        </p:spPr>
      </p:sp>
      <p:sp>
        <p:nvSpPr>
          <p:cNvPr id="18" name="Shape 15"/>
          <p:cNvSpPr/>
          <p:nvPr/>
        </p:nvSpPr>
        <p:spPr>
          <a:xfrm>
            <a:off x="7726680" y="3703320"/>
            <a:ext cx="1097280" cy="228600"/>
          </a:xfrm>
          <a:prstGeom prst="line">
            <a:avLst/>
          </a:prstGeom>
          <a:noFill/>
          <a:ln w="19050">
            <a:solidFill>
              <a:srgbClr val="8E99A4"/>
            </a:solidFill>
            <a:prstDash val="solid"/>
          </a:ln>
        </p:spPr>
      </p:sp>
      <p:sp>
        <p:nvSpPr>
          <p:cNvPr id="19" name="Shape 16"/>
          <p:cNvSpPr/>
          <p:nvPr/>
        </p:nvSpPr>
        <p:spPr>
          <a:xfrm flipV="1">
            <a:off x="7726680" y="3931920"/>
            <a:ext cx="1097280" cy="1325880"/>
          </a:xfrm>
          <a:prstGeom prst="line">
            <a:avLst/>
          </a:prstGeom>
          <a:noFill/>
          <a:ln w="19050">
            <a:solidFill>
              <a:srgbClr val="8E99A4"/>
            </a:solidFill>
            <a:prstDash val="solid"/>
          </a:ln>
        </p:spPr>
      </p:sp>
      <p:sp>
        <p:nvSpPr>
          <p:cNvPr id="20" name="Shape 17"/>
          <p:cNvSpPr/>
          <p:nvPr/>
        </p:nvSpPr>
        <p:spPr>
          <a:xfrm flipV="1">
            <a:off x="8823960" y="2148840"/>
            <a:ext cx="1051560" cy="1783080"/>
          </a:xfrm>
          <a:prstGeom prst="line">
            <a:avLst/>
          </a:prstGeom>
          <a:noFill/>
          <a:ln w="19050">
            <a:solidFill>
              <a:srgbClr val="8E99A4"/>
            </a:solidFill>
            <a:prstDash val="solid"/>
          </a:ln>
        </p:spPr>
      </p:sp>
      <p:sp>
        <p:nvSpPr>
          <p:cNvPr id="21" name="Shape 18"/>
          <p:cNvSpPr/>
          <p:nvPr/>
        </p:nvSpPr>
        <p:spPr>
          <a:xfrm flipV="1">
            <a:off x="8823960" y="3703320"/>
            <a:ext cx="1051560" cy="228600"/>
          </a:xfrm>
          <a:prstGeom prst="line">
            <a:avLst/>
          </a:prstGeom>
          <a:noFill/>
          <a:ln w="19050">
            <a:solidFill>
              <a:srgbClr val="8E99A4"/>
            </a:solidFill>
            <a:prstDash val="solid"/>
          </a:ln>
        </p:spPr>
      </p:sp>
      <p:sp>
        <p:nvSpPr>
          <p:cNvPr id="22" name="Shape 19"/>
          <p:cNvSpPr/>
          <p:nvPr/>
        </p:nvSpPr>
        <p:spPr>
          <a:xfrm>
            <a:off x="8823960" y="3931920"/>
            <a:ext cx="1051560" cy="1325880"/>
          </a:xfrm>
          <a:prstGeom prst="line">
            <a:avLst/>
          </a:prstGeom>
          <a:noFill/>
          <a:ln w="19050">
            <a:solidFill>
              <a:srgbClr val="8E99A4"/>
            </a:solidFill>
            <a:prstDash val="solid"/>
          </a:ln>
        </p:spPr>
      </p:sp>
      <p:sp>
        <p:nvSpPr>
          <p:cNvPr id="23" name="Shape 20"/>
          <p:cNvSpPr/>
          <p:nvPr/>
        </p:nvSpPr>
        <p:spPr>
          <a:xfrm>
            <a:off x="8092440" y="3200400"/>
            <a:ext cx="1463040" cy="1463040"/>
          </a:xfrm>
          <a:prstGeom prst="ellipse">
            <a:avLst/>
          </a:prstGeom>
          <a:solidFill>
            <a:srgbClr val="D9A404"/>
          </a:solidFill>
          <a:ln w="12700">
            <a:solidFill>
              <a:srgbClr val="D9A404"/>
            </a:solidFill>
            <a:prstDash val="solid"/>
          </a:ln>
        </p:spPr>
      </p:sp>
      <p:sp>
        <p:nvSpPr>
          <p:cNvPr id="24" name="Text 21"/>
          <p:cNvSpPr txBox="1"/>
          <p:nvPr/>
        </p:nvSpPr>
        <p:spPr>
          <a:xfrm>
            <a:off x="8092440" y="3200400"/>
            <a:ext cx="1463040" cy="1463040"/>
          </a:xfrm>
          <a:prstGeom prst="rect">
            <a:avLst/>
          </a:prstGeom>
          <a:noFill/>
          <a:ln/>
        </p:spPr>
        <p:txBody>
          <a:bodyPr wrap="square" lIns="0" tIns="0" rIns="0" bIns="0" rtlCol="0" anchor="ctr"/>
          <a:lstStyle/>
          <a:p>
            <a:pPr marL="0" indent="0" algn="ctr">
              <a:buNone/>
            </a:pPr>
            <a:r>
              <a:rPr lang="en-US" sz="1600" b="1" dirty="0">
                <a:solidFill>
                  <a:schemeClr val="tx1"/>
                </a:solidFill>
              </a:rPr>
              <a:t>DimDate</a:t>
            </a:r>
            <a:endParaRPr lang="en-US" sz="1600" dirty="0"/>
          </a:p>
          <a:p>
            <a:pPr marL="0" indent="0" algn="ctr">
              <a:buNone/>
            </a:pPr>
            <a:r>
              <a:rPr lang="en-US" sz="1600" b="1" dirty="0">
                <a:solidFill>
                  <a:schemeClr val="tx1"/>
                </a:solidFill>
              </a:rPr>
              <a:t>shared</a:t>
            </a:r>
            <a:endParaRPr lang="en-US" sz="1600" dirty="0"/>
          </a:p>
        </p:txBody>
      </p:sp>
      <p:sp>
        <p:nvSpPr>
          <p:cNvPr id="25" name="Text 22"/>
          <p:cNvSpPr/>
          <p:nvPr/>
        </p:nvSpPr>
        <p:spPr>
          <a:xfrm>
            <a:off x="5989320" y="1783080"/>
            <a:ext cx="1737360" cy="731520"/>
          </a:xfrm>
          <a:prstGeom prst="rect">
            <a:avLst/>
          </a:prstGeom>
          <a:solidFill>
            <a:srgbClr val="24424D"/>
          </a:solidFill>
          <a:ln/>
        </p:spPr>
        <p:txBody>
          <a:bodyPr wrap="square" lIns="0" tIns="0" rIns="0" bIns="0" rtlCol="0" anchor="ctr"/>
          <a:lstStyle/>
          <a:p>
            <a:pPr marL="0" indent="0" algn="ctr">
              <a:buNone/>
            </a:pPr>
            <a:r>
              <a:rPr lang="en-US" sz="1400" b="1" dirty="0">
                <a:solidFill>
                  <a:schemeClr val="bg1"/>
                </a:solidFill>
              </a:rPr>
              <a:t>FactSales</a:t>
            </a:r>
            <a:endParaRPr lang="en-US" sz="1400" dirty="0"/>
          </a:p>
        </p:txBody>
      </p:sp>
      <p:sp>
        <p:nvSpPr>
          <p:cNvPr id="26" name="Text 23"/>
          <p:cNvSpPr/>
          <p:nvPr/>
        </p:nvSpPr>
        <p:spPr>
          <a:xfrm>
            <a:off x="5989320" y="3337560"/>
            <a:ext cx="1737360" cy="731520"/>
          </a:xfrm>
          <a:prstGeom prst="rect">
            <a:avLst/>
          </a:prstGeom>
          <a:solidFill>
            <a:srgbClr val="24424D"/>
          </a:solidFill>
          <a:ln/>
        </p:spPr>
        <p:txBody>
          <a:bodyPr wrap="square" lIns="0" tIns="0" rIns="0" bIns="0" rtlCol="0" anchor="ctr"/>
          <a:lstStyle/>
          <a:p>
            <a:pPr marL="0" indent="0" algn="ctr">
              <a:buNone/>
            </a:pPr>
            <a:r>
              <a:rPr lang="en-US" sz="1400" b="1" dirty="0">
                <a:solidFill>
                  <a:schemeClr val="bg1"/>
                </a:solidFill>
              </a:rPr>
              <a:t>FactAccounts</a:t>
            </a:r>
            <a:endParaRPr lang="en-US" sz="1400" dirty="0"/>
          </a:p>
          <a:p>
            <a:pPr marL="0" indent="0" algn="ctr">
              <a:buNone/>
            </a:pPr>
            <a:r>
              <a:rPr lang="en-US" sz="1400" b="1" dirty="0">
                <a:solidFill>
                  <a:schemeClr val="bg1"/>
                </a:solidFill>
              </a:rPr>
              <a:t>Receivable</a:t>
            </a:r>
            <a:endParaRPr lang="en-US" sz="1400" dirty="0"/>
          </a:p>
        </p:txBody>
      </p:sp>
      <p:sp>
        <p:nvSpPr>
          <p:cNvPr id="27" name="Text 24"/>
          <p:cNvSpPr/>
          <p:nvPr/>
        </p:nvSpPr>
        <p:spPr>
          <a:xfrm>
            <a:off x="5989320" y="4892040"/>
            <a:ext cx="1737360" cy="731520"/>
          </a:xfrm>
          <a:prstGeom prst="rect">
            <a:avLst/>
          </a:prstGeom>
          <a:solidFill>
            <a:srgbClr val="24424D"/>
          </a:solidFill>
          <a:ln/>
        </p:spPr>
        <p:txBody>
          <a:bodyPr wrap="square" lIns="0" tIns="0" rIns="0" bIns="0" rtlCol="0" anchor="ctr"/>
          <a:lstStyle/>
          <a:p>
            <a:pPr marL="0" indent="0" algn="ctr">
              <a:buNone/>
            </a:pPr>
            <a:r>
              <a:rPr lang="en-US" sz="1400" b="1" dirty="0">
                <a:solidFill>
                  <a:schemeClr val="bg1"/>
                </a:solidFill>
              </a:rPr>
              <a:t>FactProcurement</a:t>
            </a:r>
            <a:endParaRPr lang="en-US" sz="1400" dirty="0"/>
          </a:p>
        </p:txBody>
      </p:sp>
      <p:sp>
        <p:nvSpPr>
          <p:cNvPr id="28" name="Text 25"/>
          <p:cNvSpPr/>
          <p:nvPr/>
        </p:nvSpPr>
        <p:spPr>
          <a:xfrm>
            <a:off x="9875520" y="1783080"/>
            <a:ext cx="1737360" cy="731520"/>
          </a:xfrm>
          <a:prstGeom prst="rect">
            <a:avLst/>
          </a:prstGeom>
          <a:solidFill>
            <a:srgbClr val="24424D"/>
          </a:solidFill>
          <a:ln/>
        </p:spPr>
        <p:txBody>
          <a:bodyPr wrap="square" lIns="0" tIns="0" rIns="0" bIns="0" rtlCol="0" anchor="ctr"/>
          <a:lstStyle/>
          <a:p>
            <a:pPr marL="0" indent="0" algn="ctr">
              <a:buNone/>
            </a:pPr>
            <a:r>
              <a:rPr lang="en-US" sz="1400" b="1" dirty="0">
                <a:solidFill>
                  <a:schemeClr val="bg1"/>
                </a:solidFill>
              </a:rPr>
              <a:t>FactFinance</a:t>
            </a:r>
            <a:endParaRPr lang="en-US" sz="1400" dirty="0"/>
          </a:p>
        </p:txBody>
      </p:sp>
      <p:sp>
        <p:nvSpPr>
          <p:cNvPr id="29" name="Text 26"/>
          <p:cNvSpPr/>
          <p:nvPr/>
        </p:nvSpPr>
        <p:spPr>
          <a:xfrm>
            <a:off x="9875520" y="3337560"/>
            <a:ext cx="1737360" cy="731520"/>
          </a:xfrm>
          <a:prstGeom prst="rect">
            <a:avLst/>
          </a:prstGeom>
          <a:solidFill>
            <a:srgbClr val="24424D"/>
          </a:solidFill>
          <a:ln/>
        </p:spPr>
        <p:txBody>
          <a:bodyPr wrap="square" lIns="0" tIns="0" rIns="0" bIns="0" rtlCol="0" anchor="ctr"/>
          <a:lstStyle/>
          <a:p>
            <a:pPr marL="0" indent="0" algn="ctr">
              <a:buNone/>
            </a:pPr>
            <a:r>
              <a:rPr lang="en-US" sz="1400" b="1" dirty="0">
                <a:solidFill>
                  <a:schemeClr val="bg1"/>
                </a:solidFill>
              </a:rPr>
              <a:t>FactWarehouse</a:t>
            </a:r>
            <a:endParaRPr lang="en-US" sz="1400" dirty="0"/>
          </a:p>
          <a:p>
            <a:pPr marL="0" indent="0" algn="ctr">
              <a:buNone/>
            </a:pPr>
            <a:r>
              <a:rPr lang="en-US" sz="1400" b="1" dirty="0">
                <a:solidFill>
                  <a:schemeClr val="bg1"/>
                </a:solidFill>
              </a:rPr>
              <a:t>Snapshot</a:t>
            </a:r>
            <a:endParaRPr lang="en-US" sz="1400" dirty="0"/>
          </a:p>
        </p:txBody>
      </p:sp>
      <p:sp>
        <p:nvSpPr>
          <p:cNvPr id="30" name="Text 27"/>
          <p:cNvSpPr/>
          <p:nvPr/>
        </p:nvSpPr>
        <p:spPr>
          <a:xfrm>
            <a:off x="9875520" y="4892040"/>
            <a:ext cx="1737360" cy="731520"/>
          </a:xfrm>
          <a:prstGeom prst="rect">
            <a:avLst/>
          </a:prstGeom>
          <a:solidFill>
            <a:srgbClr val="24424D"/>
          </a:solidFill>
          <a:ln/>
        </p:spPr>
        <p:txBody>
          <a:bodyPr wrap="square" lIns="0" tIns="0" rIns="0" bIns="0" rtlCol="0" anchor="ctr"/>
          <a:lstStyle/>
          <a:p>
            <a:pPr marL="0" indent="0" algn="ctr">
              <a:buNone/>
            </a:pPr>
            <a:r>
              <a:rPr lang="en-US" sz="1400" b="1" dirty="0">
                <a:solidFill>
                  <a:schemeClr val="bg1"/>
                </a:solidFill>
              </a:rPr>
              <a:t>FactManufacturing</a:t>
            </a:r>
            <a:endParaRPr lang="en-US" sz="1400" dirty="0"/>
          </a:p>
        </p:txBody>
      </p:sp>
      <p:sp>
        <p:nvSpPr>
          <p:cNvPr id="31" name="Text 28"/>
          <p:cNvSpPr txBox="1"/>
          <p:nvPr/>
        </p:nvSpPr>
        <p:spPr>
          <a:xfrm>
            <a:off x="5989320" y="5760720"/>
            <a:ext cx="5669280" cy="548640"/>
          </a:xfrm>
          <a:prstGeom prst="rect">
            <a:avLst/>
          </a:prstGeom>
          <a:noFill/>
          <a:ln/>
        </p:spPr>
        <p:txBody>
          <a:bodyPr wrap="square" lIns="0" tIns="0" rIns="0" bIns="0" rtlCol="0" anchor="t"/>
          <a:lstStyle/>
          <a:p>
            <a:pPr marL="0" indent="0">
              <a:buNone/>
            </a:pPr>
            <a:r>
              <a:rPr lang="en-US" sz="1400" dirty="0">
                <a:solidFill>
                  <a:schemeClr val="tx2"/>
                </a:solidFill>
              </a:rPr>
              <a:t>FactInventoryDemand uses DimMonth and DimItemInventory. DimCustomerMaster, DimAsset and DimEmployee stand alone.</a:t>
            </a:r>
            <a:endParaRPr lang="en-US" sz="1400" dirty="0"/>
          </a:p>
        </p:txBody>
      </p:sp>
      <p:sp>
        <p:nvSpPr>
          <p:cNvPr id="2"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365760"/>
            <a:ext cx="10149840" cy="777240"/>
          </a:xfrm>
          <a:prstGeom prst="rect">
            <a:avLst/>
          </a:prstGeom>
          <a:noFill/>
          <a:ln/>
        </p:spPr>
        <p:txBody>
          <a:bodyPr wrap="square" lIns="0" tIns="0" rIns="0" bIns="0" rtlCol="0" anchor="ctr"/>
          <a:lstStyle/>
          <a:p>
            <a:pPr marL="0" indent="0" algn="l">
              <a:buNone/>
            </a:pPr>
            <a:r>
              <a:rPr lang="en-US" sz="3600" b="1" dirty="0">
                <a:solidFill>
                  <a:schemeClr val="tx1"/>
                </a:solidFill>
              </a:rPr>
              <a:t>Fact tables and their grain</a:t>
            </a:r>
            <a:endParaRPr lang="en-US" sz="3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4681728"/>
        </p:xfrm>
        <a:graphic>
          <a:graphicData uri="http://schemas.openxmlformats.org/drawingml/2006/table">
            <a:tbl>
              <a:tblPr/>
              <a:tblGrid>
                <a:gridCol w="30175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3959352">
                  <a:extLst>
                    <a:ext uri="{9D8B030D-6E8A-4147-A177-3AD203B41FA5}">
                      <a16:colId xmlns:a16="http://schemas.microsoft.com/office/drawing/2014/main" val="20003"/>
                    </a:ext>
                  </a:extLst>
                </a:gridCol>
              </a:tblGrid>
              <a:tr h="585216">
                <a:tc>
                  <a:txBody>
                    <a:bodyPr/>
                    <a:lstStyle/>
                    <a:p>
                      <a:pPr marL="0" indent="0">
                        <a:buNone/>
                      </a:pPr>
                      <a:r>
                        <a:rPr lang="en-US" sz="1600" b="1" dirty="0">
                          <a:solidFill>
                            <a:schemeClr val="bg1"/>
                          </a:solidFill>
                        </a:rPr>
                        <a:t>Fact table</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buNone/>
                      </a:pPr>
                      <a:r>
                        <a:rPr lang="en-US" sz="1600" b="1" dirty="0">
                          <a:solidFill>
                            <a:schemeClr val="bg1"/>
                          </a:solidFill>
                        </a:rPr>
                        <a:t>One row is…</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buNone/>
                      </a:pPr>
                      <a:r>
                        <a:rPr lang="en-US" sz="1600" b="1" dirty="0">
                          <a:solidFill>
                            <a:schemeClr val="bg1"/>
                          </a:solidFill>
                        </a:rPr>
                        <a:t>Rows</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buNone/>
                      </a:pPr>
                      <a:r>
                        <a:rPr lang="en-US" sz="1600" b="1" dirty="0">
                          <a:solidFill>
                            <a:schemeClr val="bg1"/>
                          </a:solidFill>
                        </a:rPr>
                        <a:t>Main measures</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85216">
                <a:tc>
                  <a:txBody>
                    <a:bodyPr/>
                    <a:lstStyle/>
                    <a:p>
                      <a:pPr marL="0" indent="0">
                        <a:buNone/>
                      </a:pPr>
                      <a:r>
                        <a:rPr lang="en-US" sz="1600" b="1" dirty="0">
                          <a:solidFill>
                            <a:schemeClr val="tx1"/>
                          </a:solidFill>
                        </a:rPr>
                        <a:t>FactSales</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a sales transaction</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600" dirty="0">
                          <a:solidFill>
                            <a:schemeClr val="tx1"/>
                          </a:solidFill>
                        </a:rPr>
                        <a:t>1,000</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quantity, price, total amount</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1"/>
                  </a:ext>
                </a:extLst>
              </a:tr>
              <a:tr h="585216">
                <a:tc>
                  <a:txBody>
                    <a:bodyPr/>
                    <a:lstStyle/>
                    <a:p>
                      <a:pPr marL="0" indent="0">
                        <a:buNone/>
                      </a:pPr>
                      <a:r>
                        <a:rPr lang="en-US" sz="1600" b="1" dirty="0">
                          <a:solidFill>
                            <a:schemeClr val="tx1"/>
                          </a:solidFill>
                        </a:rPr>
                        <a:t>FactAccountsReceivable</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a receivable document</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600" dirty="0">
                          <a:solidFill>
                            <a:schemeClr val="tx1"/>
                          </a:solidFill>
                        </a:rPr>
                        <a:t>45,839</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amount, days overdue</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2"/>
                  </a:ext>
                </a:extLst>
              </a:tr>
              <a:tr h="585216">
                <a:tc>
                  <a:txBody>
                    <a:bodyPr/>
                    <a:lstStyle/>
                    <a:p>
                      <a:pPr marL="0" indent="0">
                        <a:buNone/>
                      </a:pPr>
                      <a:r>
                        <a:rPr lang="en-US" sz="1600" b="1" dirty="0">
                          <a:solidFill>
                            <a:schemeClr val="tx1"/>
                          </a:solidFill>
                        </a:rPr>
                        <a:t>FactProcurement</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a purchase order</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600" dirty="0">
                          <a:solidFill>
                            <a:schemeClr val="tx1"/>
                          </a:solidFill>
                        </a:rPr>
                        <a:t>1,300</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quantity, unit and total cost</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3"/>
                  </a:ext>
                </a:extLst>
              </a:tr>
              <a:tr h="585216">
                <a:tc>
                  <a:txBody>
                    <a:bodyPr/>
                    <a:lstStyle/>
                    <a:p>
                      <a:pPr marL="0" indent="0">
                        <a:buNone/>
                      </a:pPr>
                      <a:r>
                        <a:rPr lang="en-US" sz="1600" b="1" dirty="0">
                          <a:solidFill>
                            <a:schemeClr val="tx1"/>
                          </a:solidFill>
                        </a:rPr>
                        <a:t>FactFinance</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a finance transaction</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600" dirty="0">
                          <a:solidFill>
                            <a:schemeClr val="tx1"/>
                          </a:solidFill>
                        </a:rPr>
                        <a:t>1,000</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revenue, expenditure, net income</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4"/>
                  </a:ext>
                </a:extLst>
              </a:tr>
              <a:tr h="585216">
                <a:tc>
                  <a:txBody>
                    <a:bodyPr/>
                    <a:lstStyle/>
                    <a:p>
                      <a:pPr marL="0" indent="0">
                        <a:buNone/>
                      </a:pPr>
                      <a:r>
                        <a:rPr lang="en-US" sz="1600" b="1" dirty="0">
                          <a:solidFill>
                            <a:schemeClr val="tx1"/>
                          </a:solidFill>
                        </a:rPr>
                        <a:t>FactInventoryDemand</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an item in one month</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600" dirty="0">
                          <a:solidFill>
                            <a:schemeClr val="tx1"/>
                          </a:solidFill>
                        </a:rPr>
                        <a:t>12,000</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units demanded</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5"/>
                  </a:ext>
                </a:extLst>
              </a:tr>
              <a:tr h="585216">
                <a:tc>
                  <a:txBody>
                    <a:bodyPr/>
                    <a:lstStyle/>
                    <a:p>
                      <a:pPr marL="0" indent="0">
                        <a:buNone/>
                      </a:pPr>
                      <a:r>
                        <a:rPr lang="en-US" sz="1600" b="1" dirty="0">
                          <a:solidFill>
                            <a:schemeClr val="tx1"/>
                          </a:solidFill>
                        </a:rPr>
                        <a:t>FactWarehouseSnapshot</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an item's stock snapshot</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600" dirty="0">
                          <a:solidFill>
                            <a:schemeClr val="tx1"/>
                          </a:solidFill>
                        </a:rPr>
                        <a:t>3,204</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stock level, turnover, fulfilment</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6"/>
                  </a:ext>
                </a:extLst>
              </a:tr>
              <a:tr h="585216">
                <a:tc>
                  <a:txBody>
                    <a:bodyPr/>
                    <a:lstStyle/>
                    <a:p>
                      <a:pPr marL="0" indent="0">
                        <a:buNone/>
                      </a:pPr>
                      <a:r>
                        <a:rPr lang="en-US" sz="1600" b="1" dirty="0">
                          <a:solidFill>
                            <a:schemeClr val="tx1"/>
                          </a:solidFill>
                        </a:rPr>
                        <a:t>FactManufacturing</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a production job</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600" dirty="0">
                          <a:solidFill>
                            <a:schemeClr val="tx1"/>
                          </a:solidFill>
                        </a:rPr>
                        <a:t>1,000</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processing time, energy, material</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365760"/>
            <a:ext cx="10149840" cy="777240"/>
          </a:xfrm>
          <a:prstGeom prst="rect">
            <a:avLst/>
          </a:prstGeom>
          <a:noFill/>
          <a:ln/>
        </p:spPr>
        <p:txBody>
          <a:bodyPr wrap="square" lIns="0" tIns="0" rIns="0" bIns="0" rtlCol="0" anchor="ctr"/>
          <a:lstStyle/>
          <a:p>
            <a:pPr marL="0" indent="0" algn="l">
              <a:buNone/>
            </a:pPr>
            <a:r>
              <a:rPr lang="en-US" sz="3600" b="1" dirty="0">
                <a:solidFill>
                  <a:schemeClr val="tx1"/>
                </a:solidFill>
              </a:rPr>
              <a:t>Dimensions and design decisions</a:t>
            </a:r>
            <a:endParaRPr lang="en-US" sz="3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760720" cy="4526280"/>
        </p:xfrm>
        <a:graphic>
          <a:graphicData uri="http://schemas.openxmlformats.org/drawingml/2006/table">
            <a:tbl>
              <a:tblPr/>
              <a:tblGrid>
                <a:gridCol w="22860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502920">
                <a:tc>
                  <a:txBody>
                    <a:bodyPr/>
                    <a:lstStyle/>
                    <a:p>
                      <a:pPr marL="0" indent="0">
                        <a:buNone/>
                      </a:pPr>
                      <a:r>
                        <a:rPr lang="en-US" sz="1400" b="1" dirty="0">
                          <a:solidFill>
                            <a:schemeClr val="bg1"/>
                          </a:solidFill>
                        </a:rPr>
                        <a:t>Dimension</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Rows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Describes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02920">
                <a:tc>
                  <a:txBody>
                    <a:bodyPr/>
                    <a:lstStyle/>
                    <a:p>
                      <a:pPr marL="0" indent="0">
                        <a:buNone/>
                      </a:pPr>
                      <a:r>
                        <a:rPr lang="en-US" sz="1400" b="1" dirty="0">
                          <a:solidFill>
                            <a:schemeClr val="tx1"/>
                          </a:solidFill>
                        </a:rPr>
                        <a:t>DimDate</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6,209</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Calendar days 2011 to 2027</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400" b="1" dirty="0">
                          <a:solidFill>
                            <a:schemeClr val="tx1"/>
                          </a:solidFill>
                        </a:rPr>
                        <a:t>DimMonth</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12</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Months for seasonal demand</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400" b="1" dirty="0">
                          <a:solidFill>
                            <a:schemeClr val="tx1"/>
                          </a:solidFill>
                        </a:rPr>
                        <a:t>DimCustomerMaster</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1,500</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Customers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400" b="1" dirty="0">
                          <a:solidFill>
                            <a:schemeClr val="tx1"/>
                          </a:solidFill>
                        </a:rPr>
                        <a:t>DimAsset</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1,245</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Equipment</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buNone/>
                      </a:pPr>
                      <a:r>
                        <a:rPr lang="en-US" sz="1400" b="1" dirty="0">
                          <a:solidFill>
                            <a:schemeClr val="tx1"/>
                          </a:solidFill>
                        </a:rPr>
                        <a:t>DimSupplier</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10</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Suppliers (ID only)</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5"/>
                  </a:ext>
                </a:extLst>
              </a:tr>
              <a:tr h="502920">
                <a:tc>
                  <a:txBody>
                    <a:bodyPr/>
                    <a:lstStyle/>
                    <a:p>
                      <a:pPr marL="0" indent="0">
                        <a:buNone/>
                      </a:pPr>
                      <a:r>
                        <a:rPr lang="en-US" sz="1400" b="1" dirty="0">
                          <a:solidFill>
                            <a:schemeClr val="tx1"/>
                          </a:solidFill>
                        </a:rPr>
                        <a:t>DimItemInventory</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1,000</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Inventory items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6"/>
                  </a:ext>
                </a:extLst>
              </a:tr>
              <a:tr h="502920">
                <a:tc>
                  <a:txBody>
                    <a:bodyPr/>
                    <a:lstStyle/>
                    <a:p>
                      <a:pPr marL="0" indent="0">
                        <a:buNone/>
                      </a:pPr>
                      <a:r>
                        <a:rPr lang="en-US" sz="1400" b="1" dirty="0">
                          <a:solidFill>
                            <a:schemeClr val="tx1"/>
                          </a:solidFill>
                        </a:rPr>
                        <a:t>DimWarehouseItem</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3,204</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Warehouse items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7"/>
                  </a:ext>
                </a:extLst>
              </a:tr>
              <a:tr h="502920">
                <a:tc>
                  <a:txBody>
                    <a:bodyPr/>
                    <a:lstStyle/>
                    <a:p>
                      <a:pPr marL="0" indent="0">
                        <a:buNone/>
                      </a:pPr>
                      <a:r>
                        <a:rPr lang="en-US" sz="1400" b="1" dirty="0">
                          <a:solidFill>
                            <a:schemeClr val="tx1"/>
                          </a:solidFill>
                        </a:rPr>
                        <a:t>DimEmployee</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35</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chemeClr val="tx1"/>
                          </a:solidFill>
                        </a:rPr>
                        <a:t>Employees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Decision card"/>
          <p:cNvSpPr/>
          <p:nvPr/>
        </p:nvSpPr>
        <p:spPr>
          <a:xfrm>
            <a:off x="6629400" y="1463040"/>
            <a:ext cx="5010912" cy="1005840"/>
          </a:xfrm>
          <a:prstGeom prst="rect">
            <a:avLst/>
          </a:prstGeom>
          <a:solidFill>
            <a:schemeClr val="bg2"/>
          </a:solidFill>
          <a:ln w="12700">
            <a:solidFill>
              <a:schemeClr val="bg2"/>
            </a:solidFill>
            <a:prstDash val="solid"/>
          </a:ln>
        </p:spPr>
      </p:sp>
      <p:sp>
        <p:nvSpPr>
          <p:cNvPr id="6" name="Text 2"/>
          <p:cNvSpPr txBox="1"/>
          <p:nvPr/>
        </p:nvSpPr>
        <p:spPr>
          <a:xfrm>
            <a:off x="6812280" y="1554480"/>
            <a:ext cx="4663440" cy="320040"/>
          </a:xfrm>
          <a:prstGeom prst="rect">
            <a:avLst/>
          </a:prstGeom>
          <a:noFill/>
          <a:ln/>
        </p:spPr>
        <p:txBody>
          <a:bodyPr wrap="square" lIns="0" tIns="0" rIns="0" bIns="0" rtlCol="0" anchor="t"/>
          <a:lstStyle/>
          <a:p>
            <a:pPr marL="0" indent="0">
              <a:buNone/>
            </a:pPr>
            <a:r>
              <a:rPr lang="en-US" sz="1600" b="1" dirty="0">
                <a:solidFill>
                  <a:schemeClr val="accent1"/>
                </a:solidFill>
              </a:rPr>
              <a:t>DimSupplier holds only the ID</a:t>
            </a:r>
            <a:endParaRPr lang="en-US" sz="1600" dirty="0"/>
          </a:p>
        </p:txBody>
      </p:sp>
      <p:sp>
        <p:nvSpPr>
          <p:cNvPr id="7" name="Text 3"/>
          <p:cNvSpPr txBox="1"/>
          <p:nvPr/>
        </p:nvSpPr>
        <p:spPr>
          <a:xfrm>
            <a:off x="6812280" y="1901952"/>
            <a:ext cx="4663440" cy="530352"/>
          </a:xfrm>
          <a:prstGeom prst="rect">
            <a:avLst/>
          </a:prstGeom>
          <a:noFill/>
          <a:ln/>
        </p:spPr>
        <p:txBody>
          <a:bodyPr wrap="square" lIns="0" tIns="0" rIns="0" bIns="0" rtlCol="0" anchor="t"/>
          <a:lstStyle/>
          <a:p>
            <a:pPr marL="0" indent="0">
              <a:buNone/>
            </a:pPr>
            <a:r>
              <a:rPr lang="en-US" sz="1400" dirty="0">
                <a:solidFill>
                  <a:schemeClr val="tx1"/>
                </a:solidFill>
              </a:rPr>
              <a:t>All 10 suppliers appear under several names, so the name is stored on each order.</a:t>
            </a:r>
            <a:endParaRPr lang="en-US" sz="1400" dirty="0"/>
          </a:p>
        </p:txBody>
      </p:sp>
      <p:sp>
        <p:nvSpPr>
          <p:cNvPr id="8" name="Decision card"/>
          <p:cNvSpPr/>
          <p:nvPr/>
        </p:nvSpPr>
        <p:spPr>
          <a:xfrm>
            <a:off x="6629400" y="2606040"/>
            <a:ext cx="5010912" cy="1005840"/>
          </a:xfrm>
          <a:prstGeom prst="rect">
            <a:avLst/>
          </a:prstGeom>
          <a:solidFill>
            <a:schemeClr val="bg2"/>
          </a:solidFill>
          <a:ln w="12700">
            <a:solidFill>
              <a:schemeClr val="bg2"/>
            </a:solidFill>
            <a:prstDash val="solid"/>
          </a:ln>
        </p:spPr>
      </p:sp>
      <p:sp>
        <p:nvSpPr>
          <p:cNvPr id="9" name="Text 5"/>
          <p:cNvSpPr txBox="1"/>
          <p:nvPr/>
        </p:nvSpPr>
        <p:spPr>
          <a:xfrm>
            <a:off x="6812280" y="2697480"/>
            <a:ext cx="4663440" cy="320040"/>
          </a:xfrm>
          <a:prstGeom prst="rect">
            <a:avLst/>
          </a:prstGeom>
          <a:noFill/>
          <a:ln/>
        </p:spPr>
        <p:txBody>
          <a:bodyPr wrap="square" lIns="0" tIns="0" rIns="0" bIns="0" rtlCol="0" anchor="t"/>
          <a:lstStyle/>
          <a:p>
            <a:pPr marL="0" indent="0">
              <a:buNone/>
            </a:pPr>
            <a:r>
              <a:rPr lang="en-US" sz="1600" b="1" dirty="0">
                <a:solidFill>
                  <a:schemeClr val="accent1"/>
                </a:solidFill>
              </a:rPr>
              <a:t>Unmatched IDs stay plain columns</a:t>
            </a:r>
            <a:endParaRPr lang="en-US" sz="1600" dirty="0"/>
          </a:p>
        </p:txBody>
      </p:sp>
      <p:sp>
        <p:nvSpPr>
          <p:cNvPr id="10" name="Text 6"/>
          <p:cNvSpPr txBox="1"/>
          <p:nvPr/>
        </p:nvSpPr>
        <p:spPr>
          <a:xfrm>
            <a:off x="6812280" y="3044952"/>
            <a:ext cx="4663440" cy="530352"/>
          </a:xfrm>
          <a:prstGeom prst="rect">
            <a:avLst/>
          </a:prstGeom>
          <a:noFill/>
          <a:ln/>
        </p:spPr>
        <p:txBody>
          <a:bodyPr wrap="square" lIns="0" tIns="0" rIns="0" bIns="0" rtlCol="0" anchor="t"/>
          <a:lstStyle/>
          <a:p>
            <a:pPr marL="0" indent="0">
              <a:buNone/>
            </a:pPr>
            <a:r>
              <a:rPr lang="en-US" sz="1400" dirty="0">
                <a:solidFill>
                  <a:schemeClr val="tx1"/>
                </a:solidFill>
              </a:rPr>
              <a:t>Customer and item IDs that do not link are not foreign keys. No fake links.</a:t>
            </a:r>
            <a:endParaRPr lang="en-US" sz="1400" dirty="0"/>
          </a:p>
        </p:txBody>
      </p:sp>
      <p:sp>
        <p:nvSpPr>
          <p:cNvPr id="11" name="Decision card"/>
          <p:cNvSpPr/>
          <p:nvPr/>
        </p:nvSpPr>
        <p:spPr>
          <a:xfrm>
            <a:off x="6629400" y="3749040"/>
            <a:ext cx="5010912" cy="1005840"/>
          </a:xfrm>
          <a:prstGeom prst="rect">
            <a:avLst/>
          </a:prstGeom>
          <a:solidFill>
            <a:schemeClr val="bg2"/>
          </a:solidFill>
          <a:ln w="12700">
            <a:solidFill>
              <a:schemeClr val="bg2"/>
            </a:solidFill>
            <a:prstDash val="solid"/>
          </a:ln>
        </p:spPr>
      </p:sp>
      <p:sp>
        <p:nvSpPr>
          <p:cNvPr id="12" name="Text 8"/>
          <p:cNvSpPr txBox="1"/>
          <p:nvPr/>
        </p:nvSpPr>
        <p:spPr>
          <a:xfrm>
            <a:off x="6812280" y="3840480"/>
            <a:ext cx="4663440" cy="320040"/>
          </a:xfrm>
          <a:prstGeom prst="rect">
            <a:avLst/>
          </a:prstGeom>
          <a:noFill/>
          <a:ln/>
        </p:spPr>
        <p:txBody>
          <a:bodyPr wrap="square" lIns="0" tIns="0" rIns="0" bIns="0" rtlCol="0" anchor="t"/>
          <a:lstStyle/>
          <a:p>
            <a:pPr marL="0" indent="0">
              <a:buNone/>
            </a:pPr>
            <a:r>
              <a:rPr lang="en-US" sz="1600" b="1" dirty="0">
                <a:solidFill>
                  <a:schemeClr val="accent1"/>
                </a:solidFill>
              </a:rPr>
              <a:t>Empty actual times are allowed</a:t>
            </a:r>
            <a:endParaRPr lang="en-US" sz="1600" dirty="0"/>
          </a:p>
        </p:txBody>
      </p:sp>
      <p:sp>
        <p:nvSpPr>
          <p:cNvPr id="13" name="Text 9"/>
          <p:cNvSpPr txBox="1"/>
          <p:nvPr/>
        </p:nvSpPr>
        <p:spPr>
          <a:xfrm>
            <a:off x="6812280" y="4187952"/>
            <a:ext cx="4663440" cy="530352"/>
          </a:xfrm>
          <a:prstGeom prst="rect">
            <a:avLst/>
          </a:prstGeom>
          <a:noFill/>
          <a:ln/>
        </p:spPr>
        <p:txBody>
          <a:bodyPr wrap="square" lIns="0" tIns="0" rIns="0" bIns="0" rtlCol="0" anchor="t"/>
          <a:lstStyle/>
          <a:p>
            <a:pPr marL="0" indent="0">
              <a:buNone/>
            </a:pPr>
            <a:r>
              <a:rPr lang="en-US" sz="1400" dirty="0">
                <a:solidFill>
                  <a:schemeClr val="tx1"/>
                </a:solidFill>
              </a:rPr>
              <a:t>129 Failed jobs have no actual start, so that key can be empty.</a:t>
            </a:r>
            <a:endParaRPr lang="en-US" sz="1400" dirty="0"/>
          </a:p>
        </p:txBody>
      </p:sp>
      <p:sp>
        <p:nvSpPr>
          <p:cNvPr id="14" name="Decision card"/>
          <p:cNvSpPr/>
          <p:nvPr/>
        </p:nvSpPr>
        <p:spPr>
          <a:xfrm>
            <a:off x="6629400" y="4892040"/>
            <a:ext cx="5010912" cy="1005840"/>
          </a:xfrm>
          <a:prstGeom prst="rect">
            <a:avLst/>
          </a:prstGeom>
          <a:solidFill>
            <a:schemeClr val="bg2"/>
          </a:solidFill>
          <a:ln w="12700">
            <a:solidFill>
              <a:schemeClr val="bg2"/>
            </a:solidFill>
            <a:prstDash val="solid"/>
          </a:ln>
        </p:spPr>
      </p:sp>
      <p:sp>
        <p:nvSpPr>
          <p:cNvPr id="15" name="Text 11"/>
          <p:cNvSpPr txBox="1"/>
          <p:nvPr/>
        </p:nvSpPr>
        <p:spPr>
          <a:xfrm>
            <a:off x="6812280" y="4983480"/>
            <a:ext cx="4663440" cy="320040"/>
          </a:xfrm>
          <a:prstGeom prst="rect">
            <a:avLst/>
          </a:prstGeom>
          <a:noFill/>
          <a:ln/>
        </p:spPr>
        <p:txBody>
          <a:bodyPr wrap="square" lIns="0" tIns="0" rIns="0" bIns="0" rtlCol="0" anchor="t"/>
          <a:lstStyle/>
          <a:p>
            <a:pPr marL="0" indent="0">
              <a:buNone/>
            </a:pPr>
            <a:r>
              <a:rPr lang="en-US" sz="1600" b="1" dirty="0">
                <a:solidFill>
                  <a:schemeClr val="accent1"/>
                </a:solidFill>
              </a:rPr>
              <a:t>DimEmployee gets a generated key</a:t>
            </a:r>
            <a:endParaRPr lang="en-US" sz="1600" dirty="0"/>
          </a:p>
        </p:txBody>
      </p:sp>
      <p:sp>
        <p:nvSpPr>
          <p:cNvPr id="16" name="Text 12"/>
          <p:cNvSpPr txBox="1"/>
          <p:nvPr/>
        </p:nvSpPr>
        <p:spPr>
          <a:xfrm>
            <a:off x="6812280" y="5330952"/>
            <a:ext cx="4663440" cy="530352"/>
          </a:xfrm>
          <a:prstGeom prst="rect">
            <a:avLst/>
          </a:prstGeom>
          <a:noFill/>
          <a:ln/>
        </p:spPr>
        <p:txBody>
          <a:bodyPr wrap="square" lIns="0" tIns="0" rIns="0" bIns="0" rtlCol="0" anchor="t"/>
          <a:lstStyle/>
          <a:p>
            <a:pPr marL="0" indent="0">
              <a:buNone/>
            </a:pPr>
            <a:r>
              <a:rPr lang="en-US" sz="1400" dirty="0">
                <a:solidFill>
                  <a:schemeClr val="tx1"/>
                </a:solidFill>
              </a:rPr>
              <a:t>The source has no employee ID at all.</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365760"/>
            <a:ext cx="10149840" cy="777240"/>
          </a:xfrm>
          <a:prstGeom prst="rect">
            <a:avLst/>
          </a:prstGeom>
          <a:noFill/>
          <a:ln/>
        </p:spPr>
        <p:txBody>
          <a:bodyPr wrap="square" lIns="0" tIns="0" rIns="0" bIns="0" rtlCol="0" anchor="ctr"/>
          <a:lstStyle/>
          <a:p>
            <a:pPr marL="0" indent="0" algn="l">
              <a:buNone/>
            </a:pPr>
            <a:r>
              <a:rPr lang="en-US" sz="3600" b="1" dirty="0">
                <a:solidFill>
                  <a:schemeClr val="tx1"/>
                </a:solidFill>
              </a:rPr>
              <a:t>PostgreSQL data warehouse</a:t>
            </a:r>
            <a:endParaRPr lang="en-US" sz="3600" dirty="0"/>
          </a:p>
        </p:txBody>
      </p:sp>
      <p:pic>
        <p:nvPicPr>
          <p:cNvPr id="4" name="Image 0" descr="ERD of the 15 warehouse tables"/>
          <p:cNvPicPr>
            <a:picLocks noChangeAspect="1"/>
          </p:cNvPicPr>
          <p:nvPr/>
        </p:nvPicPr>
        <p:blipFill>
          <a:blip r:embed="rId3"/>
          <a:stretch>
            <a:fillRect/>
          </a:stretch>
        </p:blipFill>
        <p:spPr>
          <a:xfrm>
            <a:off x="548640" y="1417320"/>
            <a:ext cx="6949440" cy="4572000"/>
          </a:xfrm>
          <a:prstGeom prst="rect">
            <a:avLst/>
          </a:prstGeom>
        </p:spPr>
      </p:pic>
      <p:sp>
        <p:nvSpPr>
          <p:cNvPr id="5" name="Warehouse card"/>
          <p:cNvSpPr/>
          <p:nvPr/>
        </p:nvSpPr>
        <p:spPr>
          <a:xfrm>
            <a:off x="7818120" y="1417320"/>
            <a:ext cx="3822192" cy="1353312"/>
          </a:xfrm>
          <a:prstGeom prst="rect">
            <a:avLst/>
          </a:prstGeom>
          <a:solidFill>
            <a:schemeClr val="bg2"/>
          </a:solidFill>
          <a:ln w="12700">
            <a:solidFill>
              <a:schemeClr val="bg2"/>
            </a:solidFill>
            <a:prstDash val="solid"/>
          </a:ln>
        </p:spPr>
      </p:sp>
      <p:sp>
        <p:nvSpPr>
          <p:cNvPr id="6" name="Text 2"/>
          <p:cNvSpPr txBox="1"/>
          <p:nvPr/>
        </p:nvSpPr>
        <p:spPr>
          <a:xfrm>
            <a:off x="8046720" y="1581912"/>
            <a:ext cx="3383280" cy="365760"/>
          </a:xfrm>
          <a:prstGeom prst="rect">
            <a:avLst/>
          </a:prstGeom>
          <a:noFill/>
          <a:ln/>
        </p:spPr>
        <p:txBody>
          <a:bodyPr wrap="square" lIns="0" tIns="0" rIns="0" bIns="0" rtlCol="0" anchor="t"/>
          <a:lstStyle/>
          <a:p>
            <a:pPr marL="0" indent="0">
              <a:buNone/>
            </a:pPr>
            <a:r>
              <a:rPr lang="en-US" sz="1800" b="1" dirty="0">
                <a:solidFill>
                  <a:schemeClr val="accent1"/>
                </a:solidFill>
              </a:rPr>
              <a:t>15 tables</a:t>
            </a:r>
            <a:endParaRPr lang="en-US" sz="1800" dirty="0"/>
          </a:p>
        </p:txBody>
      </p:sp>
      <p:sp>
        <p:nvSpPr>
          <p:cNvPr id="7" name="Text 3"/>
          <p:cNvSpPr txBox="1"/>
          <p:nvPr/>
        </p:nvSpPr>
        <p:spPr>
          <a:xfrm>
            <a:off x="8046720" y="2039112"/>
            <a:ext cx="3383280" cy="640080"/>
          </a:xfrm>
          <a:prstGeom prst="rect">
            <a:avLst/>
          </a:prstGeom>
          <a:noFill/>
          <a:ln/>
        </p:spPr>
        <p:txBody>
          <a:bodyPr wrap="square" lIns="0" tIns="0" rIns="0" bIns="0" rtlCol="0" anchor="t"/>
          <a:lstStyle/>
          <a:p>
            <a:pPr marL="0" indent="0">
              <a:buNone/>
            </a:pPr>
            <a:r>
              <a:rPr lang="en-US" sz="1400" dirty="0">
                <a:solidFill>
                  <a:schemeClr val="tx1"/>
                </a:solidFill>
              </a:rPr>
              <a:t>8 dimensions and 7 facts in database uc15_dw</a:t>
            </a:r>
            <a:endParaRPr lang="en-US" sz="1400" dirty="0"/>
          </a:p>
        </p:txBody>
      </p:sp>
      <p:sp>
        <p:nvSpPr>
          <p:cNvPr id="8" name="Warehouse card"/>
          <p:cNvSpPr/>
          <p:nvPr/>
        </p:nvSpPr>
        <p:spPr>
          <a:xfrm>
            <a:off x="7818120" y="2898648"/>
            <a:ext cx="3822192" cy="1353312"/>
          </a:xfrm>
          <a:prstGeom prst="rect">
            <a:avLst/>
          </a:prstGeom>
          <a:solidFill>
            <a:schemeClr val="bg2"/>
          </a:solidFill>
          <a:ln w="12700">
            <a:solidFill>
              <a:schemeClr val="bg2"/>
            </a:solidFill>
            <a:prstDash val="solid"/>
          </a:ln>
        </p:spPr>
      </p:sp>
      <p:sp>
        <p:nvSpPr>
          <p:cNvPr id="9" name="Text 5"/>
          <p:cNvSpPr txBox="1"/>
          <p:nvPr/>
        </p:nvSpPr>
        <p:spPr>
          <a:xfrm>
            <a:off x="8046720" y="3063240"/>
            <a:ext cx="3383280" cy="365760"/>
          </a:xfrm>
          <a:prstGeom prst="rect">
            <a:avLst/>
          </a:prstGeom>
          <a:noFill/>
          <a:ln/>
        </p:spPr>
        <p:txBody>
          <a:bodyPr wrap="square" lIns="0" tIns="0" rIns="0" bIns="0" rtlCol="0" anchor="t"/>
          <a:lstStyle/>
          <a:p>
            <a:pPr marL="0" indent="0">
              <a:buNone/>
            </a:pPr>
            <a:r>
              <a:rPr lang="en-US" sz="1800" b="1" dirty="0">
                <a:solidFill>
                  <a:schemeClr val="accent1"/>
                </a:solidFill>
              </a:rPr>
              <a:t>Created by one script</a:t>
            </a:r>
            <a:endParaRPr lang="en-US" sz="1800" dirty="0"/>
          </a:p>
        </p:txBody>
      </p:sp>
      <p:sp>
        <p:nvSpPr>
          <p:cNvPr id="10" name="Text 6"/>
          <p:cNvSpPr txBox="1"/>
          <p:nvPr/>
        </p:nvSpPr>
        <p:spPr>
          <a:xfrm>
            <a:off x="8046720" y="3520440"/>
            <a:ext cx="3383280" cy="640080"/>
          </a:xfrm>
          <a:prstGeom prst="rect">
            <a:avLst/>
          </a:prstGeom>
          <a:noFill/>
          <a:ln/>
        </p:spPr>
        <p:txBody>
          <a:bodyPr wrap="square" lIns="0" tIns="0" rIns="0" bIns="0" rtlCol="0" anchor="t"/>
          <a:lstStyle/>
          <a:p>
            <a:pPr marL="0" indent="0">
              <a:buNone/>
            </a:pPr>
            <a:r>
              <a:rPr lang="en-US" sz="1400" dirty="0">
                <a:solidFill>
                  <a:schemeClr val="tx1"/>
                </a:solidFill>
              </a:rPr>
              <a:t>sql/01_create_star_schema.sql, with keys and indexes</a:t>
            </a:r>
            <a:endParaRPr lang="en-US" sz="1400" dirty="0"/>
          </a:p>
        </p:txBody>
      </p:sp>
      <p:sp>
        <p:nvSpPr>
          <p:cNvPr id="11" name="Demo card"/>
          <p:cNvSpPr/>
          <p:nvPr/>
        </p:nvSpPr>
        <p:spPr>
          <a:xfrm>
            <a:off x="7818120" y="4379976"/>
            <a:ext cx="3822192" cy="1627632"/>
          </a:xfrm>
          <a:prstGeom prst="rect">
            <a:avLst/>
          </a:prstGeom>
          <a:solidFill>
            <a:schemeClr val="tx1"/>
          </a:solidFill>
          <a:ln w="12700">
            <a:solidFill>
              <a:schemeClr val="bg2"/>
            </a:solidFill>
            <a:prstDash val="solid"/>
          </a:ln>
        </p:spPr>
      </p:sp>
      <p:pic>
        <p:nvPicPr>
          <p:cNvPr id="12" name="Image 1" descr="preencoded.png"/>
          <p:cNvPicPr>
            <a:picLocks noChangeAspect="1"/>
          </p:cNvPicPr>
          <p:nvPr/>
        </p:nvPicPr>
        <p:blipFill>
          <a:blip r:embed="rId4"/>
          <a:stretch>
            <a:fillRect/>
          </a:stretch>
        </p:blipFill>
        <p:spPr>
          <a:xfrm>
            <a:off x="8046720" y="4553712"/>
            <a:ext cx="329184" cy="329184"/>
          </a:xfrm>
          <a:prstGeom prst="rect">
            <a:avLst/>
          </a:prstGeom>
        </p:spPr>
      </p:pic>
      <p:sp>
        <p:nvSpPr>
          <p:cNvPr id="13" name="Text 8"/>
          <p:cNvSpPr txBox="1"/>
          <p:nvPr/>
        </p:nvSpPr>
        <p:spPr>
          <a:xfrm>
            <a:off x="8549640" y="4489704"/>
            <a:ext cx="2971800" cy="457200"/>
          </a:xfrm>
          <a:prstGeom prst="rect">
            <a:avLst/>
          </a:prstGeom>
          <a:noFill/>
          <a:ln/>
        </p:spPr>
        <p:txBody>
          <a:bodyPr wrap="square" lIns="0" tIns="0" rIns="0" bIns="0" rtlCol="0" anchor="ctr"/>
          <a:lstStyle/>
          <a:p>
            <a:pPr marL="0" indent="0">
              <a:buNone/>
            </a:pPr>
            <a:r>
              <a:rPr lang="en-US" sz="1400" dirty="0">
                <a:solidFill>
                  <a:schemeClr val="bg1"/>
                </a:solidFill>
              </a:rPr>
              <a:t>pgAdmin: uc15_dw, then Tables</a:t>
            </a:r>
            <a:endParaRPr lang="en-US" sz="1400" dirty="0"/>
          </a:p>
        </p:txBody>
      </p:sp>
      <p:pic>
        <p:nvPicPr>
          <p:cNvPr id="14" name="Image 2" descr="preencoded.png"/>
          <p:cNvPicPr>
            <a:picLocks noChangeAspect="1"/>
          </p:cNvPicPr>
          <p:nvPr/>
        </p:nvPicPr>
        <p:blipFill>
          <a:blip r:embed="rId5"/>
          <a:stretch>
            <a:fillRect/>
          </a:stretch>
        </p:blipFill>
        <p:spPr>
          <a:xfrm>
            <a:off x="8046720" y="5029200"/>
            <a:ext cx="329184" cy="329184"/>
          </a:xfrm>
          <a:prstGeom prst="rect">
            <a:avLst/>
          </a:prstGeom>
        </p:spPr>
      </p:pic>
      <p:sp>
        <p:nvSpPr>
          <p:cNvPr id="15" name="Text 9"/>
          <p:cNvSpPr txBox="1"/>
          <p:nvPr/>
        </p:nvSpPr>
        <p:spPr>
          <a:xfrm>
            <a:off x="8549640" y="4965192"/>
            <a:ext cx="2971800" cy="457200"/>
          </a:xfrm>
          <a:prstGeom prst="rect">
            <a:avLst/>
          </a:prstGeom>
          <a:noFill/>
          <a:ln/>
        </p:spPr>
        <p:txBody>
          <a:bodyPr wrap="square" lIns="0" tIns="0" rIns="0" bIns="0" rtlCol="0" anchor="ctr"/>
          <a:lstStyle/>
          <a:p>
            <a:pPr marL="0" indent="0">
              <a:buNone/>
            </a:pPr>
            <a:r>
              <a:rPr lang="en-US" sz="1400" dirty="0">
                <a:solidFill>
                  <a:schemeClr val="bg1"/>
                </a:solidFill>
              </a:rPr>
              <a:t>Open the ERD diagram</a:t>
            </a:r>
            <a:endParaRPr lang="en-US" sz="1400" dirty="0"/>
          </a:p>
        </p:txBody>
      </p:sp>
      <p:pic>
        <p:nvPicPr>
          <p:cNvPr id="16" name="Image 3" descr="preencoded.png"/>
          <p:cNvPicPr>
            <a:picLocks noChangeAspect="1"/>
          </p:cNvPicPr>
          <p:nvPr/>
        </p:nvPicPr>
        <p:blipFill>
          <a:blip r:embed="rId6"/>
          <a:stretch>
            <a:fillRect/>
          </a:stretch>
        </p:blipFill>
        <p:spPr>
          <a:xfrm>
            <a:off x="8046720" y="5504688"/>
            <a:ext cx="329184" cy="329184"/>
          </a:xfrm>
          <a:prstGeom prst="rect">
            <a:avLst/>
          </a:prstGeom>
        </p:spPr>
      </p:pic>
      <p:sp>
        <p:nvSpPr>
          <p:cNvPr id="17" name="Text 10"/>
          <p:cNvSpPr txBox="1"/>
          <p:nvPr/>
        </p:nvSpPr>
        <p:spPr>
          <a:xfrm>
            <a:off x="8549640" y="5440680"/>
            <a:ext cx="2971800" cy="457200"/>
          </a:xfrm>
          <a:prstGeom prst="rect">
            <a:avLst/>
          </a:prstGeom>
          <a:noFill/>
          <a:ln/>
        </p:spPr>
        <p:txBody>
          <a:bodyPr wrap="square" lIns="0" tIns="0" rIns="0" bIns="0" rtlCol="0" anchor="ctr"/>
          <a:lstStyle/>
          <a:p>
            <a:pPr marL="0" indent="0">
              <a:buNone/>
            </a:pPr>
            <a:r>
              <a:rPr lang="en-US" sz="1400" dirty="0">
                <a:solidFill>
                  <a:schemeClr val="bg1"/>
                </a:solidFill>
              </a:rPr>
              <a:t>15 tables, DimDate joined to six facts</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365760"/>
            <a:ext cx="10149840" cy="777240"/>
          </a:xfrm>
          <a:prstGeom prst="rect">
            <a:avLst/>
          </a:prstGeom>
          <a:noFill/>
          <a:ln/>
        </p:spPr>
        <p:txBody>
          <a:bodyPr wrap="square" lIns="0" tIns="0" rIns="0" bIns="0" rtlCol="0" anchor="ctr"/>
          <a:lstStyle/>
          <a:p>
            <a:pPr marL="0" indent="0" algn="l">
              <a:buNone/>
            </a:pPr>
            <a:r>
              <a:rPr lang="en-US" sz="3600" b="1" dirty="0">
                <a:solidFill>
                  <a:schemeClr val="tx1"/>
                </a:solidFill>
              </a:rPr>
              <a:t>ETL with Pentaho</a:t>
            </a:r>
            <a:endParaRPr lang="en-US" sz="3600" dirty="0"/>
          </a:p>
        </p:txBody>
      </p:sp>
      <p:sp>
        <p:nvSpPr>
          <p:cNvPr id="4" name="Step box"/>
          <p:cNvSpPr/>
          <p:nvPr/>
        </p:nvSpPr>
        <p:spPr>
          <a:xfrm>
            <a:off x="548640" y="1417320"/>
            <a:ext cx="2011680" cy="1188720"/>
          </a:xfrm>
          <a:prstGeom prst="rect">
            <a:avLst/>
          </a:prstGeom>
          <a:solidFill>
            <a:srgbClr val="24424D"/>
          </a:solidFill>
          <a:ln w="12700">
            <a:solidFill>
              <a:srgbClr val="24424D"/>
            </a:solidFill>
            <a:prstDash val="solid"/>
          </a:ln>
        </p:spPr>
      </p:sp>
      <p:sp>
        <p:nvSpPr>
          <p:cNvPr id="5" name="Text 2"/>
          <p:cNvSpPr txBox="1"/>
          <p:nvPr/>
        </p:nvSpPr>
        <p:spPr>
          <a:xfrm>
            <a:off x="685800" y="1536192"/>
            <a:ext cx="1737360" cy="365760"/>
          </a:xfrm>
          <a:prstGeom prst="rect">
            <a:avLst/>
          </a:prstGeom>
          <a:noFill/>
          <a:ln/>
        </p:spPr>
        <p:txBody>
          <a:bodyPr wrap="square" lIns="0" tIns="0" rIns="0" bIns="0" rtlCol="0" anchor="t"/>
          <a:lstStyle/>
          <a:p>
            <a:pPr marL="0" indent="0">
              <a:buNone/>
            </a:pPr>
            <a:r>
              <a:rPr lang="en-US" sz="1600" b="1" dirty="0">
                <a:solidFill>
                  <a:schemeClr val="bg1"/>
                </a:solidFill>
              </a:rPr>
              <a:t>CSV file input</a:t>
            </a:r>
            <a:endParaRPr lang="en-US" sz="1600" dirty="0"/>
          </a:p>
        </p:txBody>
      </p:sp>
      <p:sp>
        <p:nvSpPr>
          <p:cNvPr id="6" name="Text 3"/>
          <p:cNvSpPr txBox="1"/>
          <p:nvPr/>
        </p:nvSpPr>
        <p:spPr>
          <a:xfrm>
            <a:off x="685800" y="1938528"/>
            <a:ext cx="1737360" cy="594360"/>
          </a:xfrm>
          <a:prstGeom prst="rect">
            <a:avLst/>
          </a:prstGeom>
          <a:noFill/>
          <a:ln/>
        </p:spPr>
        <p:txBody>
          <a:bodyPr wrap="square" lIns="0" tIns="0" rIns="0" bIns="0" rtlCol="0" anchor="t"/>
          <a:lstStyle/>
          <a:p>
            <a:pPr marL="0" indent="0">
              <a:buNone/>
            </a:pPr>
            <a:r>
              <a:rPr lang="en-US" sz="1400" dirty="0">
                <a:solidFill>
                  <a:schemeClr val="bg1"/>
                </a:solidFill>
              </a:rPr>
              <a:t>Reads the cleaned file</a:t>
            </a:r>
            <a:endParaRPr lang="en-US" sz="1400" dirty="0"/>
          </a:p>
        </p:txBody>
      </p:sp>
      <p:sp>
        <p:nvSpPr>
          <p:cNvPr id="7" name="Shape 4"/>
          <p:cNvSpPr/>
          <p:nvPr/>
        </p:nvSpPr>
        <p:spPr>
          <a:xfrm>
            <a:off x="2560320" y="2011680"/>
            <a:ext cx="256032" cy="0"/>
          </a:xfrm>
          <a:prstGeom prst="line">
            <a:avLst/>
          </a:prstGeom>
          <a:noFill/>
          <a:ln w="25400">
            <a:solidFill>
              <a:srgbClr val="1B2A34"/>
            </a:solidFill>
            <a:prstDash val="solid"/>
            <a:tailEnd type="triangle"/>
          </a:ln>
        </p:spPr>
      </p:sp>
      <p:sp>
        <p:nvSpPr>
          <p:cNvPr id="8" name="Step box"/>
          <p:cNvSpPr/>
          <p:nvPr/>
        </p:nvSpPr>
        <p:spPr>
          <a:xfrm>
            <a:off x="2816352" y="1417320"/>
            <a:ext cx="2011680" cy="1188720"/>
          </a:xfrm>
          <a:prstGeom prst="rect">
            <a:avLst/>
          </a:prstGeom>
          <a:solidFill>
            <a:srgbClr val="24424D"/>
          </a:solidFill>
          <a:ln w="12700">
            <a:solidFill>
              <a:srgbClr val="24424D"/>
            </a:solidFill>
            <a:prstDash val="solid"/>
          </a:ln>
        </p:spPr>
      </p:sp>
      <p:sp>
        <p:nvSpPr>
          <p:cNvPr id="9" name="Text 6"/>
          <p:cNvSpPr txBox="1"/>
          <p:nvPr/>
        </p:nvSpPr>
        <p:spPr>
          <a:xfrm>
            <a:off x="2953512" y="1536192"/>
            <a:ext cx="1737360" cy="365760"/>
          </a:xfrm>
          <a:prstGeom prst="rect">
            <a:avLst/>
          </a:prstGeom>
          <a:noFill/>
          <a:ln/>
        </p:spPr>
        <p:txBody>
          <a:bodyPr wrap="square" lIns="0" tIns="0" rIns="0" bIns="0" rtlCol="0" anchor="t"/>
          <a:lstStyle/>
          <a:p>
            <a:pPr marL="0" indent="0">
              <a:buNone/>
            </a:pPr>
            <a:r>
              <a:rPr lang="en-US" sz="1600" b="1" dirty="0">
                <a:solidFill>
                  <a:schemeClr val="bg1"/>
                </a:solidFill>
              </a:rPr>
              <a:t>Select values</a:t>
            </a:r>
            <a:endParaRPr lang="en-US" sz="1600" dirty="0"/>
          </a:p>
        </p:txBody>
      </p:sp>
      <p:sp>
        <p:nvSpPr>
          <p:cNvPr id="10" name="Text 7"/>
          <p:cNvSpPr txBox="1"/>
          <p:nvPr/>
        </p:nvSpPr>
        <p:spPr>
          <a:xfrm>
            <a:off x="2953512" y="1938528"/>
            <a:ext cx="1737360" cy="594360"/>
          </a:xfrm>
          <a:prstGeom prst="rect">
            <a:avLst/>
          </a:prstGeom>
          <a:noFill/>
          <a:ln/>
        </p:spPr>
        <p:txBody>
          <a:bodyPr wrap="square" lIns="0" tIns="0" rIns="0" bIns="0" rtlCol="0" anchor="t"/>
          <a:lstStyle/>
          <a:p>
            <a:pPr marL="0" indent="0">
              <a:buNone/>
            </a:pPr>
            <a:r>
              <a:rPr lang="en-US" sz="1400" dirty="0">
                <a:solidFill>
                  <a:schemeClr val="bg1"/>
                </a:solidFill>
              </a:rPr>
              <a:t>Keeps and renames columns</a:t>
            </a:r>
            <a:endParaRPr lang="en-US" sz="1400" dirty="0"/>
          </a:p>
        </p:txBody>
      </p:sp>
      <p:sp>
        <p:nvSpPr>
          <p:cNvPr id="11" name="Shape 8"/>
          <p:cNvSpPr/>
          <p:nvPr/>
        </p:nvSpPr>
        <p:spPr>
          <a:xfrm>
            <a:off x="4828032" y="2011680"/>
            <a:ext cx="256032" cy="0"/>
          </a:xfrm>
          <a:prstGeom prst="line">
            <a:avLst/>
          </a:prstGeom>
          <a:noFill/>
          <a:ln w="25400">
            <a:solidFill>
              <a:srgbClr val="1B2A34"/>
            </a:solidFill>
            <a:prstDash val="solid"/>
            <a:tailEnd type="triangle"/>
          </a:ln>
        </p:spPr>
      </p:sp>
      <p:sp>
        <p:nvSpPr>
          <p:cNvPr id="12" name="Step box"/>
          <p:cNvSpPr/>
          <p:nvPr/>
        </p:nvSpPr>
        <p:spPr>
          <a:xfrm>
            <a:off x="5084064" y="1417320"/>
            <a:ext cx="2011680" cy="1188720"/>
          </a:xfrm>
          <a:prstGeom prst="rect">
            <a:avLst/>
          </a:prstGeom>
          <a:solidFill>
            <a:srgbClr val="24424D"/>
          </a:solidFill>
          <a:ln w="12700">
            <a:solidFill>
              <a:srgbClr val="24424D"/>
            </a:solidFill>
            <a:prstDash val="solid"/>
          </a:ln>
        </p:spPr>
      </p:sp>
      <p:sp>
        <p:nvSpPr>
          <p:cNvPr id="13" name="Text 10"/>
          <p:cNvSpPr txBox="1"/>
          <p:nvPr/>
        </p:nvSpPr>
        <p:spPr>
          <a:xfrm>
            <a:off x="5221224" y="1536192"/>
            <a:ext cx="1737360" cy="365760"/>
          </a:xfrm>
          <a:prstGeom prst="rect">
            <a:avLst/>
          </a:prstGeom>
          <a:noFill/>
          <a:ln/>
        </p:spPr>
        <p:txBody>
          <a:bodyPr wrap="square" lIns="0" tIns="0" rIns="0" bIns="0" rtlCol="0" anchor="t"/>
          <a:lstStyle/>
          <a:p>
            <a:pPr marL="0" indent="0">
              <a:buNone/>
            </a:pPr>
            <a:r>
              <a:rPr lang="en-US" sz="1600" b="1" dirty="0">
                <a:solidFill>
                  <a:schemeClr val="bg1"/>
                </a:solidFill>
              </a:rPr>
              <a:t>Date to key</a:t>
            </a:r>
            <a:endParaRPr lang="en-US" sz="1600" dirty="0"/>
          </a:p>
        </p:txBody>
      </p:sp>
      <p:sp>
        <p:nvSpPr>
          <p:cNvPr id="14" name="Text 11"/>
          <p:cNvSpPr txBox="1"/>
          <p:nvPr/>
        </p:nvSpPr>
        <p:spPr>
          <a:xfrm>
            <a:off x="5221224" y="1938528"/>
            <a:ext cx="1737360" cy="594360"/>
          </a:xfrm>
          <a:prstGeom prst="rect">
            <a:avLst/>
          </a:prstGeom>
          <a:noFill/>
          <a:ln/>
        </p:spPr>
        <p:txBody>
          <a:bodyPr wrap="square" lIns="0" tIns="0" rIns="0" bIns="0" rtlCol="0" anchor="t"/>
          <a:lstStyle/>
          <a:p>
            <a:pPr marL="0" indent="0">
              <a:buNone/>
            </a:pPr>
            <a:r>
              <a:rPr lang="en-US" sz="1400" dirty="0">
                <a:solidFill>
                  <a:schemeClr val="bg1"/>
                </a:solidFill>
              </a:rPr>
              <a:t>2023-11-24 becomes 20231124</a:t>
            </a:r>
            <a:endParaRPr lang="en-US" sz="1400" dirty="0"/>
          </a:p>
        </p:txBody>
      </p:sp>
      <p:sp>
        <p:nvSpPr>
          <p:cNvPr id="15" name="Shape 12"/>
          <p:cNvSpPr/>
          <p:nvPr/>
        </p:nvSpPr>
        <p:spPr>
          <a:xfrm>
            <a:off x="7095744" y="2011680"/>
            <a:ext cx="256032" cy="0"/>
          </a:xfrm>
          <a:prstGeom prst="line">
            <a:avLst/>
          </a:prstGeom>
          <a:noFill/>
          <a:ln w="25400">
            <a:solidFill>
              <a:srgbClr val="1B2A34"/>
            </a:solidFill>
            <a:prstDash val="solid"/>
            <a:tailEnd type="triangle"/>
          </a:ln>
        </p:spPr>
      </p:sp>
      <p:sp>
        <p:nvSpPr>
          <p:cNvPr id="16" name="Step box"/>
          <p:cNvSpPr/>
          <p:nvPr/>
        </p:nvSpPr>
        <p:spPr>
          <a:xfrm>
            <a:off x="7351776" y="1417320"/>
            <a:ext cx="2011680" cy="1188720"/>
          </a:xfrm>
          <a:prstGeom prst="rect">
            <a:avLst/>
          </a:prstGeom>
          <a:solidFill>
            <a:srgbClr val="24424D"/>
          </a:solidFill>
          <a:ln w="12700">
            <a:solidFill>
              <a:srgbClr val="24424D"/>
            </a:solidFill>
            <a:prstDash val="solid"/>
          </a:ln>
        </p:spPr>
      </p:sp>
      <p:sp>
        <p:nvSpPr>
          <p:cNvPr id="17" name="Text 14"/>
          <p:cNvSpPr txBox="1"/>
          <p:nvPr/>
        </p:nvSpPr>
        <p:spPr>
          <a:xfrm>
            <a:off x="7488936" y="1536192"/>
            <a:ext cx="1737360" cy="365760"/>
          </a:xfrm>
          <a:prstGeom prst="rect">
            <a:avLst/>
          </a:prstGeom>
          <a:noFill/>
          <a:ln/>
        </p:spPr>
        <p:txBody>
          <a:bodyPr wrap="square" lIns="0" tIns="0" rIns="0" bIns="0" rtlCol="0" anchor="t"/>
          <a:lstStyle/>
          <a:p>
            <a:pPr marL="0" indent="0">
              <a:buNone/>
            </a:pPr>
            <a:r>
              <a:rPr lang="en-US" sz="1600" b="1" dirty="0">
                <a:solidFill>
                  <a:schemeClr val="bg1"/>
                </a:solidFill>
              </a:rPr>
              <a:t>Database lookup</a:t>
            </a:r>
            <a:endParaRPr lang="en-US" sz="1600" dirty="0"/>
          </a:p>
        </p:txBody>
      </p:sp>
      <p:sp>
        <p:nvSpPr>
          <p:cNvPr id="18" name="Text 15"/>
          <p:cNvSpPr txBox="1"/>
          <p:nvPr/>
        </p:nvSpPr>
        <p:spPr>
          <a:xfrm>
            <a:off x="7488936" y="1938528"/>
            <a:ext cx="1737360" cy="594360"/>
          </a:xfrm>
          <a:prstGeom prst="rect">
            <a:avLst/>
          </a:prstGeom>
          <a:noFill/>
          <a:ln/>
        </p:spPr>
        <p:txBody>
          <a:bodyPr wrap="square" lIns="0" tIns="0" rIns="0" bIns="0" rtlCol="0" anchor="t"/>
          <a:lstStyle/>
          <a:p>
            <a:pPr marL="0" indent="0">
              <a:buNone/>
            </a:pPr>
            <a:r>
              <a:rPr lang="en-US" sz="1400" dirty="0">
                <a:solidFill>
                  <a:schemeClr val="bg1"/>
                </a:solidFill>
              </a:rPr>
              <a:t>Finds the dimension key</a:t>
            </a:r>
            <a:endParaRPr lang="en-US" sz="1400" dirty="0"/>
          </a:p>
        </p:txBody>
      </p:sp>
      <p:sp>
        <p:nvSpPr>
          <p:cNvPr id="19" name="Shape 16"/>
          <p:cNvSpPr/>
          <p:nvPr/>
        </p:nvSpPr>
        <p:spPr>
          <a:xfrm>
            <a:off x="9363456" y="2011680"/>
            <a:ext cx="256032" cy="0"/>
          </a:xfrm>
          <a:prstGeom prst="line">
            <a:avLst/>
          </a:prstGeom>
          <a:noFill/>
          <a:ln w="25400">
            <a:solidFill>
              <a:srgbClr val="1B2A34"/>
            </a:solidFill>
            <a:prstDash val="solid"/>
            <a:tailEnd type="triangle"/>
          </a:ln>
        </p:spPr>
      </p:sp>
      <p:sp>
        <p:nvSpPr>
          <p:cNvPr id="20" name="Step box"/>
          <p:cNvSpPr/>
          <p:nvPr/>
        </p:nvSpPr>
        <p:spPr>
          <a:xfrm>
            <a:off x="9619488" y="1417320"/>
            <a:ext cx="2011680" cy="1188720"/>
          </a:xfrm>
          <a:prstGeom prst="rect">
            <a:avLst/>
          </a:prstGeom>
          <a:solidFill>
            <a:srgbClr val="0F766E"/>
          </a:solidFill>
          <a:ln w="12700">
            <a:solidFill>
              <a:srgbClr val="24424D"/>
            </a:solidFill>
            <a:prstDash val="solid"/>
          </a:ln>
        </p:spPr>
      </p:sp>
      <p:sp>
        <p:nvSpPr>
          <p:cNvPr id="21" name="Text 18"/>
          <p:cNvSpPr txBox="1"/>
          <p:nvPr/>
        </p:nvSpPr>
        <p:spPr>
          <a:xfrm>
            <a:off x="9756648" y="1536192"/>
            <a:ext cx="1737360" cy="365760"/>
          </a:xfrm>
          <a:prstGeom prst="rect">
            <a:avLst/>
          </a:prstGeom>
          <a:noFill/>
          <a:ln/>
        </p:spPr>
        <p:txBody>
          <a:bodyPr wrap="square" lIns="0" tIns="0" rIns="0" bIns="0" rtlCol="0" anchor="t"/>
          <a:lstStyle/>
          <a:p>
            <a:pPr marL="0" indent="0">
              <a:buNone/>
            </a:pPr>
            <a:r>
              <a:rPr lang="en-US" sz="1600" b="1" dirty="0">
                <a:solidFill>
                  <a:schemeClr val="bg1"/>
                </a:solidFill>
              </a:rPr>
              <a:t>Table output</a:t>
            </a:r>
            <a:endParaRPr lang="en-US" sz="1600" dirty="0"/>
          </a:p>
        </p:txBody>
      </p:sp>
      <p:sp>
        <p:nvSpPr>
          <p:cNvPr id="22" name="Text 19"/>
          <p:cNvSpPr txBox="1"/>
          <p:nvPr/>
        </p:nvSpPr>
        <p:spPr>
          <a:xfrm>
            <a:off x="9756648" y="1938528"/>
            <a:ext cx="1737360" cy="594360"/>
          </a:xfrm>
          <a:prstGeom prst="rect">
            <a:avLst/>
          </a:prstGeom>
          <a:noFill/>
          <a:ln/>
        </p:spPr>
        <p:txBody>
          <a:bodyPr wrap="square" lIns="0" tIns="0" rIns="0" bIns="0" rtlCol="0" anchor="t"/>
          <a:lstStyle/>
          <a:p>
            <a:pPr marL="0" indent="0">
              <a:buNone/>
            </a:pPr>
            <a:r>
              <a:rPr lang="en-US" sz="1400" dirty="0">
                <a:solidFill>
                  <a:schemeClr val="bg1"/>
                </a:solidFill>
              </a:rPr>
              <a:t>Writes to uc15_dw</a:t>
            </a:r>
            <a:endParaRPr lang="en-US" sz="1400" dirty="0"/>
          </a:p>
        </p:txBody>
      </p:sp>
      <p:sp>
        <p:nvSpPr>
          <p:cNvPr id="23" name="Text 20"/>
          <p:cNvSpPr txBox="1"/>
          <p:nvPr/>
        </p:nvSpPr>
        <p:spPr>
          <a:xfrm>
            <a:off x="548640" y="2743200"/>
            <a:ext cx="11064240" cy="320040"/>
          </a:xfrm>
          <a:prstGeom prst="rect">
            <a:avLst/>
          </a:prstGeom>
          <a:noFill/>
          <a:ln/>
        </p:spPr>
        <p:txBody>
          <a:bodyPr wrap="square" lIns="0" tIns="0" rIns="0" bIns="0" rtlCol="0" anchor="t"/>
          <a:lstStyle/>
          <a:p>
            <a:pPr marL="0" indent="0">
              <a:buNone/>
            </a:pPr>
            <a:r>
              <a:rPr lang="en-US" sz="1400" dirty="0">
                <a:solidFill>
                  <a:schemeClr val="tx2"/>
                </a:solidFill>
              </a:rPr>
              <a:t>Facts that need a dimension key use the lookup step. Other steps used: Sort rows (unique), JSON input, Row normaliser.</a:t>
            </a:r>
            <a:endParaRPr lang="en-US" sz="1400" dirty="0"/>
          </a:p>
        </p:txBody>
      </p:sp>
      <p:sp>
        <p:nvSpPr>
          <p:cNvPr id="24" name="ETL card"/>
          <p:cNvSpPr/>
          <p:nvPr/>
        </p:nvSpPr>
        <p:spPr>
          <a:xfrm>
            <a:off x="548640" y="3246120"/>
            <a:ext cx="3520440" cy="1691640"/>
          </a:xfrm>
          <a:prstGeom prst="rect">
            <a:avLst/>
          </a:prstGeom>
          <a:solidFill>
            <a:schemeClr val="bg2"/>
          </a:solidFill>
          <a:ln w="12700">
            <a:solidFill>
              <a:schemeClr val="bg2"/>
            </a:solidFill>
            <a:prstDash val="solid"/>
          </a:ln>
        </p:spPr>
      </p:sp>
      <p:sp>
        <p:nvSpPr>
          <p:cNvPr id="25" name="Text 22"/>
          <p:cNvSpPr txBox="1"/>
          <p:nvPr/>
        </p:nvSpPr>
        <p:spPr>
          <a:xfrm>
            <a:off x="777240" y="3383280"/>
            <a:ext cx="3108960" cy="365760"/>
          </a:xfrm>
          <a:prstGeom prst="rect">
            <a:avLst/>
          </a:prstGeom>
          <a:noFill/>
          <a:ln/>
        </p:spPr>
        <p:txBody>
          <a:bodyPr wrap="square" lIns="0" tIns="0" rIns="0" bIns="0" rtlCol="0" anchor="t"/>
          <a:lstStyle/>
          <a:p>
            <a:pPr marL="0" indent="0">
              <a:buNone/>
            </a:pPr>
            <a:r>
              <a:rPr lang="en-US" sz="1800" b="1" dirty="0">
                <a:solidFill>
                  <a:schemeClr val="accent1"/>
                </a:solidFill>
              </a:rPr>
              <a:t>15 transformations</a:t>
            </a:r>
            <a:endParaRPr lang="en-US" sz="1800" dirty="0"/>
          </a:p>
        </p:txBody>
      </p:sp>
      <p:sp>
        <p:nvSpPr>
          <p:cNvPr id="26" name="Text 23"/>
          <p:cNvSpPr txBox="1"/>
          <p:nvPr/>
        </p:nvSpPr>
        <p:spPr>
          <a:xfrm>
            <a:off x="777240" y="3840480"/>
            <a:ext cx="3108960" cy="1005840"/>
          </a:xfrm>
          <a:prstGeom prst="rect">
            <a:avLst/>
          </a:prstGeom>
          <a:noFill/>
          <a:ln/>
        </p:spPr>
        <p:txBody>
          <a:bodyPr wrap="square" lIns="0" tIns="0" rIns="0" bIns="0" rtlCol="0" anchor="t"/>
          <a:lstStyle/>
          <a:p>
            <a:pPr marL="0" indent="0">
              <a:buNone/>
            </a:pPr>
            <a:r>
              <a:rPr lang="en-US" sz="1400" dirty="0">
                <a:solidFill>
                  <a:schemeClr val="tx1"/>
                </a:solidFill>
              </a:rPr>
              <a:t>8 dimension loads and 7 fact loads, one per table</a:t>
            </a:r>
            <a:endParaRPr lang="en-US" sz="1400" dirty="0"/>
          </a:p>
        </p:txBody>
      </p:sp>
      <p:sp>
        <p:nvSpPr>
          <p:cNvPr id="27" name="ETL card"/>
          <p:cNvSpPr/>
          <p:nvPr/>
        </p:nvSpPr>
        <p:spPr>
          <a:xfrm>
            <a:off x="4334256" y="3246120"/>
            <a:ext cx="3520440" cy="1691640"/>
          </a:xfrm>
          <a:prstGeom prst="rect">
            <a:avLst/>
          </a:prstGeom>
          <a:solidFill>
            <a:schemeClr val="bg2"/>
          </a:solidFill>
          <a:ln w="12700">
            <a:solidFill>
              <a:schemeClr val="bg2"/>
            </a:solidFill>
            <a:prstDash val="solid"/>
          </a:ln>
        </p:spPr>
      </p:sp>
      <p:sp>
        <p:nvSpPr>
          <p:cNvPr id="28" name="Text 25"/>
          <p:cNvSpPr txBox="1"/>
          <p:nvPr/>
        </p:nvSpPr>
        <p:spPr>
          <a:xfrm>
            <a:off x="4562856" y="3383280"/>
            <a:ext cx="3108960" cy="365760"/>
          </a:xfrm>
          <a:prstGeom prst="rect">
            <a:avLst/>
          </a:prstGeom>
          <a:noFill/>
          <a:ln/>
        </p:spPr>
        <p:txBody>
          <a:bodyPr wrap="square" lIns="0" tIns="0" rIns="0" bIns="0" rtlCol="0" anchor="t"/>
          <a:lstStyle/>
          <a:p>
            <a:pPr marL="0" indent="0">
              <a:buNone/>
            </a:pPr>
            <a:r>
              <a:rPr lang="en-US" sz="1800" b="1" dirty="0">
                <a:solidFill>
                  <a:schemeClr val="accent1"/>
                </a:solidFill>
              </a:rPr>
              <a:t>Run order</a:t>
            </a:r>
            <a:endParaRPr lang="en-US" sz="1800" dirty="0"/>
          </a:p>
        </p:txBody>
      </p:sp>
      <p:sp>
        <p:nvSpPr>
          <p:cNvPr id="29" name="Text 26"/>
          <p:cNvSpPr txBox="1"/>
          <p:nvPr/>
        </p:nvSpPr>
        <p:spPr>
          <a:xfrm>
            <a:off x="4562856" y="3840480"/>
            <a:ext cx="3108960" cy="1005840"/>
          </a:xfrm>
          <a:prstGeom prst="rect">
            <a:avLst/>
          </a:prstGeom>
          <a:noFill/>
          <a:ln/>
        </p:spPr>
        <p:txBody>
          <a:bodyPr wrap="square" lIns="0" tIns="0" rIns="0" bIns="0" rtlCol="0" anchor="t"/>
          <a:lstStyle/>
          <a:p>
            <a:pPr marL="0" indent="0">
              <a:buNone/>
            </a:pPr>
            <a:r>
              <a:rPr lang="en-US" sz="1400" dirty="0">
                <a:solidFill>
                  <a:schemeClr val="tx1"/>
                </a:solidFill>
              </a:rPr>
              <a:t>Dimensions first, then facts. The job ETL_Load_Warehouse resets, loads all 15 and reconciles.</a:t>
            </a:r>
            <a:endParaRPr lang="en-US" sz="1400" dirty="0"/>
          </a:p>
        </p:txBody>
      </p:sp>
      <p:sp>
        <p:nvSpPr>
          <p:cNvPr id="30" name="ETL card"/>
          <p:cNvSpPr/>
          <p:nvPr/>
        </p:nvSpPr>
        <p:spPr>
          <a:xfrm>
            <a:off x="8119872" y="3246120"/>
            <a:ext cx="3520440" cy="1691640"/>
          </a:xfrm>
          <a:prstGeom prst="rect">
            <a:avLst/>
          </a:prstGeom>
          <a:solidFill>
            <a:schemeClr val="bg2"/>
          </a:solidFill>
          <a:ln w="12700">
            <a:solidFill>
              <a:schemeClr val="bg2"/>
            </a:solidFill>
            <a:prstDash val="solid"/>
          </a:ln>
        </p:spPr>
      </p:sp>
      <p:sp>
        <p:nvSpPr>
          <p:cNvPr id="31" name="Text 28"/>
          <p:cNvSpPr txBox="1"/>
          <p:nvPr/>
        </p:nvSpPr>
        <p:spPr>
          <a:xfrm>
            <a:off x="8348472" y="3383280"/>
            <a:ext cx="3108960" cy="365760"/>
          </a:xfrm>
          <a:prstGeom prst="rect">
            <a:avLst/>
          </a:prstGeom>
          <a:noFill/>
          <a:ln/>
        </p:spPr>
        <p:txBody>
          <a:bodyPr wrap="square" lIns="0" tIns="0" rIns="0" bIns="0" rtlCol="0" anchor="t"/>
          <a:lstStyle/>
          <a:p>
            <a:pPr marL="0" indent="0">
              <a:buNone/>
            </a:pPr>
            <a:r>
              <a:rPr lang="en-US" sz="1800" b="1" dirty="0">
                <a:solidFill>
                  <a:schemeClr val="accent1"/>
                </a:solidFill>
              </a:rPr>
              <a:t>Portable by design</a:t>
            </a:r>
            <a:endParaRPr lang="en-US" sz="1800" dirty="0"/>
          </a:p>
        </p:txBody>
      </p:sp>
      <p:sp>
        <p:nvSpPr>
          <p:cNvPr id="32" name="Text 29"/>
          <p:cNvSpPr txBox="1"/>
          <p:nvPr/>
        </p:nvSpPr>
        <p:spPr>
          <a:xfrm>
            <a:off x="8348472" y="3840480"/>
            <a:ext cx="3108960" cy="1005840"/>
          </a:xfrm>
          <a:prstGeom prst="rect">
            <a:avLst/>
          </a:prstGeom>
          <a:noFill/>
          <a:ln/>
        </p:spPr>
        <p:txBody>
          <a:bodyPr wrap="square" lIns="0" tIns="0" rIns="0" bIns="0" rtlCol="0" anchor="t"/>
          <a:lstStyle/>
          <a:p>
            <a:pPr marL="0" indent="0">
              <a:buNone/>
            </a:pPr>
            <a:r>
              <a:rPr lang="en-US" sz="1400" dirty="0">
                <a:solidFill>
                  <a:schemeClr val="tx1"/>
                </a:solidFill>
              </a:rPr>
              <a:t>Relative file paths. The password is a Pentaho variable, not stored in the files.</a:t>
            </a:r>
            <a:endParaRPr lang="en-US" sz="1400" dirty="0"/>
          </a:p>
        </p:txBody>
      </p:sp>
      <p:sp>
        <p:nvSpPr>
          <p:cNvPr id="33" name="Demo bar"/>
          <p:cNvSpPr/>
          <p:nvPr/>
        </p:nvSpPr>
        <p:spPr>
          <a:xfrm>
            <a:off x="548640" y="5212080"/>
            <a:ext cx="11091672" cy="1051560"/>
          </a:xfrm>
          <a:prstGeom prst="rect">
            <a:avLst/>
          </a:prstGeom>
          <a:solidFill>
            <a:schemeClr val="tx1"/>
          </a:solidFill>
          <a:ln w="12700">
            <a:solidFill>
              <a:schemeClr val="bg2"/>
            </a:solidFill>
            <a:prstDash val="solid"/>
          </a:ln>
        </p:spPr>
      </p:sp>
      <p:pic>
        <p:nvPicPr>
          <p:cNvPr id="34" name="Image 0" descr="preencoded.png"/>
          <p:cNvPicPr>
            <a:picLocks noChangeAspect="1"/>
          </p:cNvPicPr>
          <p:nvPr/>
        </p:nvPicPr>
        <p:blipFill>
          <a:blip r:embed="rId3"/>
          <a:stretch>
            <a:fillRect/>
          </a:stretch>
        </p:blipFill>
        <p:spPr>
          <a:xfrm>
            <a:off x="777240" y="5509260"/>
            <a:ext cx="457200" cy="457200"/>
          </a:xfrm>
          <a:prstGeom prst="rect">
            <a:avLst/>
          </a:prstGeom>
        </p:spPr>
      </p:pic>
      <p:sp>
        <p:nvSpPr>
          <p:cNvPr id="35" name="Text 31"/>
          <p:cNvSpPr txBox="1"/>
          <p:nvPr/>
        </p:nvSpPr>
        <p:spPr>
          <a:xfrm>
            <a:off x="1417320" y="5212080"/>
            <a:ext cx="2788920" cy="1051560"/>
          </a:xfrm>
          <a:prstGeom prst="rect">
            <a:avLst/>
          </a:prstGeom>
          <a:noFill/>
          <a:ln/>
        </p:spPr>
        <p:txBody>
          <a:bodyPr wrap="square" lIns="0" tIns="0" rIns="0" bIns="0" rtlCol="0" anchor="ctr"/>
          <a:lstStyle/>
          <a:p>
            <a:pPr marL="0" indent="0">
              <a:buNone/>
            </a:pPr>
            <a:r>
              <a:rPr lang="en-US" sz="1400" dirty="0">
                <a:solidFill>
                  <a:schemeClr val="bg1"/>
                </a:solidFill>
              </a:rPr>
              <a:t>Spoon: Load FactSales</a:t>
            </a:r>
            <a:endParaRPr lang="en-US" sz="1400" dirty="0"/>
          </a:p>
        </p:txBody>
      </p:sp>
      <p:pic>
        <p:nvPicPr>
          <p:cNvPr id="36" name="Image 1" descr="preencoded.png"/>
          <p:cNvPicPr>
            <a:picLocks noChangeAspect="1"/>
          </p:cNvPicPr>
          <p:nvPr/>
        </p:nvPicPr>
        <p:blipFill>
          <a:blip r:embed="rId4"/>
          <a:stretch>
            <a:fillRect/>
          </a:stretch>
        </p:blipFill>
        <p:spPr>
          <a:xfrm>
            <a:off x="4434840" y="5509260"/>
            <a:ext cx="457200" cy="457200"/>
          </a:xfrm>
          <a:prstGeom prst="rect">
            <a:avLst/>
          </a:prstGeom>
        </p:spPr>
      </p:pic>
      <p:sp>
        <p:nvSpPr>
          <p:cNvPr id="37" name="Text 32"/>
          <p:cNvSpPr txBox="1"/>
          <p:nvPr/>
        </p:nvSpPr>
        <p:spPr>
          <a:xfrm>
            <a:off x="5074920" y="5212080"/>
            <a:ext cx="2788920" cy="1051560"/>
          </a:xfrm>
          <a:prstGeom prst="rect">
            <a:avLst/>
          </a:prstGeom>
          <a:noFill/>
          <a:ln/>
        </p:spPr>
        <p:txBody>
          <a:bodyPr wrap="square" lIns="0" tIns="0" rIns="0" bIns="0" rtlCol="0" anchor="ctr"/>
          <a:lstStyle/>
          <a:p>
            <a:pPr marL="0" indent="0">
              <a:buNone/>
            </a:pPr>
            <a:r>
              <a:rPr lang="en-US" sz="1400" dirty="0">
                <a:solidFill>
                  <a:schemeClr val="bg1"/>
                </a:solidFill>
              </a:rPr>
              <a:t>Click Run, then Launch</a:t>
            </a:r>
            <a:endParaRPr lang="en-US" sz="1400" dirty="0"/>
          </a:p>
        </p:txBody>
      </p:sp>
      <p:pic>
        <p:nvPicPr>
          <p:cNvPr id="38" name="Image 2" descr="preencoded.png"/>
          <p:cNvPicPr>
            <a:picLocks noChangeAspect="1"/>
          </p:cNvPicPr>
          <p:nvPr/>
        </p:nvPicPr>
        <p:blipFill>
          <a:blip r:embed="rId5"/>
          <a:stretch>
            <a:fillRect/>
          </a:stretch>
        </p:blipFill>
        <p:spPr>
          <a:xfrm>
            <a:off x="8092440" y="5509260"/>
            <a:ext cx="457200" cy="457200"/>
          </a:xfrm>
          <a:prstGeom prst="rect">
            <a:avLst/>
          </a:prstGeom>
        </p:spPr>
      </p:pic>
      <p:sp>
        <p:nvSpPr>
          <p:cNvPr id="39" name="Text 33"/>
          <p:cNvSpPr txBox="1"/>
          <p:nvPr/>
        </p:nvSpPr>
        <p:spPr>
          <a:xfrm>
            <a:off x="8732520" y="5212080"/>
            <a:ext cx="2788920" cy="1051560"/>
          </a:xfrm>
          <a:prstGeom prst="rect">
            <a:avLst/>
          </a:prstGeom>
          <a:noFill/>
          <a:ln/>
        </p:spPr>
        <p:txBody>
          <a:bodyPr wrap="square" lIns="0" tIns="0" rIns="0" bIns="0" rtlCol="0" anchor="ctr"/>
          <a:lstStyle/>
          <a:p>
            <a:pPr marL="0" indent="0">
              <a:buNone/>
            </a:pPr>
            <a:r>
              <a:rPr lang="en-US" sz="1400" dirty="0">
                <a:solidFill>
                  <a:schemeClr val="bg1"/>
                </a:solidFill>
              </a:rPr>
              <a:t>Table output W=1000, E=0</a:t>
            </a:r>
            <a:endParaRPr lang="en-US" sz="1400" dirty="0"/>
          </a:p>
        </p:txBody>
      </p:sp>
      <p:sp>
        <p:nvSpPr>
          <p:cNvPr id="2"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365760"/>
            <a:ext cx="10149840" cy="777240"/>
          </a:xfrm>
          <a:prstGeom prst="rect">
            <a:avLst/>
          </a:prstGeom>
          <a:noFill/>
          <a:ln/>
        </p:spPr>
        <p:txBody>
          <a:bodyPr wrap="square" lIns="0" tIns="0" rIns="0" bIns="0" rtlCol="0" anchor="ctr"/>
          <a:lstStyle/>
          <a:p>
            <a:pPr marL="0" indent="0" algn="l">
              <a:buNone/>
            </a:pPr>
            <a:r>
              <a:rPr lang="en-US" sz="3600" b="1" dirty="0">
                <a:solidFill>
                  <a:schemeClr val="tx1"/>
                </a:solidFill>
              </a:rPr>
              <a:t>Load results and reconciliation</a:t>
            </a:r>
            <a:endParaRPr lang="en-US" sz="3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394960" cy="3456432"/>
        </p:xfrm>
        <a:graphic>
          <a:graphicData uri="http://schemas.openxmlformats.org/drawingml/2006/table">
            <a:tbl>
              <a:tblPr/>
              <a:tblGrid>
                <a:gridCol w="27432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384048">
                <a:tc>
                  <a:txBody>
                    <a:bodyPr/>
                    <a:lstStyle/>
                    <a:p>
                      <a:pPr marL="0" indent="0">
                        <a:buNone/>
                      </a:pPr>
                      <a:r>
                        <a:rPr lang="en-US" sz="1400" b="1" dirty="0">
                          <a:solidFill>
                            <a:schemeClr val="bg1"/>
                          </a:solidFill>
                        </a:rPr>
                        <a:t>Table</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Rows loaded</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Result</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84048">
                <a:tc>
                  <a:txBody>
                    <a:bodyPr/>
                    <a:lstStyle/>
                    <a:p>
                      <a:pPr marL="0" indent="0">
                        <a:buNone/>
                      </a:pPr>
                      <a:r>
                        <a:rPr lang="en-US" sz="1400" dirty="0">
                          <a:solidFill>
                            <a:schemeClr val="tx1"/>
                          </a:solidFill>
                        </a:rPr>
                        <a:t>DimDate</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6,209</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ctr">
                        <a:buNone/>
                      </a:pPr>
                      <a:r>
                        <a:rPr lang="en-US" sz="1400" b="1" dirty="0">
                          <a:solidFill>
                            <a:schemeClr val="bg1"/>
                          </a:solidFill>
                        </a:rPr>
                        <a:t>PASS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384048">
                <a:tc>
                  <a:txBody>
                    <a:bodyPr/>
                    <a:lstStyle/>
                    <a:p>
                      <a:pPr marL="0" indent="0">
                        <a:buNone/>
                      </a:pPr>
                      <a:r>
                        <a:rPr lang="en-US" sz="1400" dirty="0">
                          <a:solidFill>
                            <a:schemeClr val="tx1"/>
                          </a:solidFill>
                        </a:rPr>
                        <a:t>DimMonth</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12</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ctr">
                        <a:buNone/>
                      </a:pPr>
                      <a:r>
                        <a:rPr lang="en-US" sz="1400" b="1" dirty="0">
                          <a:solidFill>
                            <a:schemeClr val="bg1"/>
                          </a:solidFill>
                        </a:rPr>
                        <a:t>PASS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384048">
                <a:tc>
                  <a:txBody>
                    <a:bodyPr/>
                    <a:lstStyle/>
                    <a:p>
                      <a:pPr marL="0" indent="0">
                        <a:buNone/>
                      </a:pPr>
                      <a:r>
                        <a:rPr lang="en-US" sz="1400" dirty="0">
                          <a:solidFill>
                            <a:schemeClr val="tx1"/>
                          </a:solidFill>
                        </a:rPr>
                        <a:t>DimCustomerMaster</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1,500</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ctr">
                        <a:buNone/>
                      </a:pPr>
                      <a:r>
                        <a:rPr lang="en-US" sz="1400" b="1" dirty="0">
                          <a:solidFill>
                            <a:schemeClr val="bg1"/>
                          </a:solidFill>
                        </a:rPr>
                        <a:t>PASS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384048">
                <a:tc>
                  <a:txBody>
                    <a:bodyPr/>
                    <a:lstStyle/>
                    <a:p>
                      <a:pPr marL="0" indent="0">
                        <a:buNone/>
                      </a:pPr>
                      <a:r>
                        <a:rPr lang="en-US" sz="1400" dirty="0">
                          <a:solidFill>
                            <a:schemeClr val="tx1"/>
                          </a:solidFill>
                        </a:rPr>
                        <a:t>DimAsset</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1,245</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ctr">
                        <a:buNone/>
                      </a:pPr>
                      <a:r>
                        <a:rPr lang="en-US" sz="1400" b="1" dirty="0">
                          <a:solidFill>
                            <a:schemeClr val="bg1"/>
                          </a:solidFill>
                        </a:rPr>
                        <a:t>PASS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r h="384048">
                <a:tc>
                  <a:txBody>
                    <a:bodyPr/>
                    <a:lstStyle/>
                    <a:p>
                      <a:pPr marL="0" indent="0">
                        <a:buNone/>
                      </a:pPr>
                      <a:r>
                        <a:rPr lang="en-US" sz="1400" dirty="0">
                          <a:solidFill>
                            <a:schemeClr val="tx1"/>
                          </a:solidFill>
                        </a:rPr>
                        <a:t>DimSupplier</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10</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ctr">
                        <a:buNone/>
                      </a:pPr>
                      <a:r>
                        <a:rPr lang="en-US" sz="1400" b="1" dirty="0">
                          <a:solidFill>
                            <a:schemeClr val="bg1"/>
                          </a:solidFill>
                        </a:rPr>
                        <a:t>PASS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accent1"/>
                    </a:solidFill>
                  </a:tcPr>
                </a:tc>
                <a:extLst>
                  <a:ext uri="{0D108BD9-81ED-4DB2-BD59-A6C34878D82A}">
                    <a16:rowId xmlns:a16="http://schemas.microsoft.com/office/drawing/2014/main" val="10005"/>
                  </a:ext>
                </a:extLst>
              </a:tr>
              <a:tr h="384048">
                <a:tc>
                  <a:txBody>
                    <a:bodyPr/>
                    <a:lstStyle/>
                    <a:p>
                      <a:pPr marL="0" indent="0">
                        <a:buNone/>
                      </a:pPr>
                      <a:r>
                        <a:rPr lang="en-US" sz="1400" dirty="0">
                          <a:solidFill>
                            <a:schemeClr val="tx1"/>
                          </a:solidFill>
                        </a:rPr>
                        <a:t>DimItemInventory</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1,000</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ctr">
                        <a:buNone/>
                      </a:pPr>
                      <a:r>
                        <a:rPr lang="en-US" sz="1400" b="1" dirty="0">
                          <a:solidFill>
                            <a:schemeClr val="bg1"/>
                          </a:solidFill>
                        </a:rPr>
                        <a:t>PASS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accent1"/>
                    </a:solidFill>
                  </a:tcPr>
                </a:tc>
                <a:extLst>
                  <a:ext uri="{0D108BD9-81ED-4DB2-BD59-A6C34878D82A}">
                    <a16:rowId xmlns:a16="http://schemas.microsoft.com/office/drawing/2014/main" val="10006"/>
                  </a:ext>
                </a:extLst>
              </a:tr>
              <a:tr h="384048">
                <a:tc>
                  <a:txBody>
                    <a:bodyPr/>
                    <a:lstStyle/>
                    <a:p>
                      <a:pPr marL="0" indent="0">
                        <a:buNone/>
                      </a:pPr>
                      <a:r>
                        <a:rPr lang="en-US" sz="1400" dirty="0">
                          <a:solidFill>
                            <a:schemeClr val="tx1"/>
                          </a:solidFill>
                        </a:rPr>
                        <a:t>DimWarehouseItem</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3,204</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ctr">
                        <a:buNone/>
                      </a:pPr>
                      <a:r>
                        <a:rPr lang="en-US" sz="1400" b="1" dirty="0">
                          <a:solidFill>
                            <a:schemeClr val="bg1"/>
                          </a:solidFill>
                        </a:rPr>
                        <a:t>PASS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accent1"/>
                    </a:solidFill>
                  </a:tcPr>
                </a:tc>
                <a:extLst>
                  <a:ext uri="{0D108BD9-81ED-4DB2-BD59-A6C34878D82A}">
                    <a16:rowId xmlns:a16="http://schemas.microsoft.com/office/drawing/2014/main" val="10007"/>
                  </a:ext>
                </a:extLst>
              </a:tr>
              <a:tr h="384048">
                <a:tc>
                  <a:txBody>
                    <a:bodyPr/>
                    <a:lstStyle/>
                    <a:p>
                      <a:pPr marL="0" indent="0">
                        <a:buNone/>
                      </a:pPr>
                      <a:r>
                        <a:rPr lang="en-US" sz="1400" dirty="0">
                          <a:solidFill>
                            <a:schemeClr val="tx1"/>
                          </a:solidFill>
                        </a:rPr>
                        <a:t>DimEmployee</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35</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ctr">
                        <a:buNone/>
                      </a:pPr>
                      <a:r>
                        <a:rPr lang="en-US" sz="1400" b="1" dirty="0">
                          <a:solidFill>
                            <a:schemeClr val="bg1"/>
                          </a:solidFill>
                        </a:rPr>
                        <a:t>PASS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accent1"/>
                    </a:solidFill>
                  </a:tcPr>
                </a:tc>
                <a:extLst>
                  <a:ext uri="{0D108BD9-81ED-4DB2-BD59-A6C34878D82A}">
                    <a16:rowId xmlns:a16="http://schemas.microsoft.com/office/drawing/2014/main" val="10008"/>
                  </a:ext>
                </a:extLst>
              </a:tr>
            </a:tbl>
          </a:graphicData>
        </a:graphic>
      </p:graphicFrame>
      <p:graphicFrame>
        <p:nvGraphicFramePr>
          <p:cNvPr id="49" name="Table 1"/>
          <p:cNvGraphicFramePr>
            <a:graphicFrameLocks noGrp="1"/>
          </p:cNvGraphicFramePr>
          <p:nvPr>
            <p:extLst>
              <p:ext uri="{D42A27DB-BD31-4B8C-83A1-F6EECF244321}">
                <p14:modId xmlns:p14="http://schemas.microsoft.com/office/powerpoint/2010/main" val="1579011935"/>
              </p:ext>
            </p:extLst>
          </p:nvPr>
        </p:nvGraphicFramePr>
        <p:xfrm>
          <a:off x="6245352" y="1371600"/>
          <a:ext cx="5394960" cy="3072384"/>
        </p:xfrm>
        <a:graphic>
          <a:graphicData uri="http://schemas.openxmlformats.org/drawingml/2006/table">
            <a:tbl>
              <a:tblPr/>
              <a:tblGrid>
                <a:gridCol w="27432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384048">
                <a:tc>
                  <a:txBody>
                    <a:bodyPr/>
                    <a:lstStyle/>
                    <a:p>
                      <a:pPr marL="0" indent="0">
                        <a:buNone/>
                      </a:pPr>
                      <a:r>
                        <a:rPr lang="en-US" sz="1400" b="1" dirty="0">
                          <a:solidFill>
                            <a:schemeClr val="bg1"/>
                          </a:solidFill>
                        </a:rPr>
                        <a:t>Table</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Rows loaded</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Result</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84048">
                <a:tc>
                  <a:txBody>
                    <a:bodyPr/>
                    <a:lstStyle/>
                    <a:p>
                      <a:pPr marL="0" indent="0">
                        <a:buNone/>
                      </a:pPr>
                      <a:r>
                        <a:rPr lang="en-US" sz="1400" dirty="0">
                          <a:solidFill>
                            <a:schemeClr val="tx1"/>
                          </a:solidFill>
                        </a:rPr>
                        <a:t>FactSales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1,000</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ctr">
                        <a:buNone/>
                      </a:pPr>
                      <a:r>
                        <a:rPr lang="en-US" sz="1400" b="1" dirty="0">
                          <a:solidFill>
                            <a:schemeClr val="bg1"/>
                          </a:solidFill>
                        </a:rPr>
                        <a:t>PASS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384048">
                <a:tc>
                  <a:txBody>
                    <a:bodyPr/>
                    <a:lstStyle/>
                    <a:p>
                      <a:pPr marL="0" indent="0">
                        <a:buNone/>
                      </a:pPr>
                      <a:r>
                        <a:rPr lang="en-US" sz="1400" dirty="0">
                          <a:solidFill>
                            <a:schemeClr val="tx1"/>
                          </a:solidFill>
                        </a:rPr>
                        <a:t>FactAccountsReceivable</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45,839</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ctr">
                        <a:buNone/>
                      </a:pPr>
                      <a:r>
                        <a:rPr lang="en-US" sz="1400" b="1" dirty="0">
                          <a:solidFill>
                            <a:schemeClr val="bg1"/>
                          </a:solidFill>
                        </a:rPr>
                        <a:t>PASS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384048">
                <a:tc>
                  <a:txBody>
                    <a:bodyPr/>
                    <a:lstStyle/>
                    <a:p>
                      <a:pPr marL="0" indent="0">
                        <a:buNone/>
                      </a:pPr>
                      <a:r>
                        <a:rPr lang="en-US" sz="1400" dirty="0">
                          <a:solidFill>
                            <a:schemeClr val="tx1"/>
                          </a:solidFill>
                        </a:rPr>
                        <a:t>FactProcurement</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1,300</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ctr">
                        <a:buNone/>
                      </a:pPr>
                      <a:r>
                        <a:rPr lang="en-US" sz="1400" b="1" dirty="0">
                          <a:solidFill>
                            <a:schemeClr val="bg1"/>
                          </a:solidFill>
                        </a:rPr>
                        <a:t>PASS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384048">
                <a:tc>
                  <a:txBody>
                    <a:bodyPr/>
                    <a:lstStyle/>
                    <a:p>
                      <a:pPr marL="0" indent="0">
                        <a:buNone/>
                      </a:pPr>
                      <a:r>
                        <a:rPr lang="en-US" sz="1400" dirty="0">
                          <a:solidFill>
                            <a:schemeClr val="tx1"/>
                          </a:solidFill>
                        </a:rPr>
                        <a:t>FactFinance</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1,000</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ctr">
                        <a:buNone/>
                      </a:pPr>
                      <a:r>
                        <a:rPr lang="en-US" sz="1400" b="1" dirty="0">
                          <a:solidFill>
                            <a:schemeClr val="bg1"/>
                          </a:solidFill>
                        </a:rPr>
                        <a:t>PASS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r h="384048">
                <a:tc>
                  <a:txBody>
                    <a:bodyPr/>
                    <a:lstStyle/>
                    <a:p>
                      <a:pPr marL="0" indent="0">
                        <a:buNone/>
                      </a:pPr>
                      <a:r>
                        <a:rPr lang="en-US" sz="1400" dirty="0">
                          <a:solidFill>
                            <a:schemeClr val="tx1"/>
                          </a:solidFill>
                        </a:rPr>
                        <a:t>FactInventoryDemand</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12,000</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ctr">
                        <a:buNone/>
                      </a:pPr>
                      <a:r>
                        <a:rPr lang="en-US" sz="1400" b="1" dirty="0">
                          <a:solidFill>
                            <a:schemeClr val="bg1"/>
                          </a:solidFill>
                        </a:rPr>
                        <a:t>PASS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accent1"/>
                    </a:solidFill>
                  </a:tcPr>
                </a:tc>
                <a:extLst>
                  <a:ext uri="{0D108BD9-81ED-4DB2-BD59-A6C34878D82A}">
                    <a16:rowId xmlns:a16="http://schemas.microsoft.com/office/drawing/2014/main" val="10005"/>
                  </a:ext>
                </a:extLst>
              </a:tr>
              <a:tr h="384048">
                <a:tc>
                  <a:txBody>
                    <a:bodyPr/>
                    <a:lstStyle/>
                    <a:p>
                      <a:pPr marL="0" indent="0">
                        <a:buNone/>
                      </a:pPr>
                      <a:r>
                        <a:rPr lang="en-US" sz="1400" dirty="0">
                          <a:solidFill>
                            <a:schemeClr val="tx1"/>
                          </a:solidFill>
                        </a:rPr>
                        <a:t>FactWarehouseSnapshot</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3,204</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ctr">
                        <a:buNone/>
                      </a:pPr>
                      <a:r>
                        <a:rPr lang="en-US" sz="1400" b="1" dirty="0">
                          <a:solidFill>
                            <a:schemeClr val="bg1"/>
                          </a:solidFill>
                        </a:rPr>
                        <a:t>PASS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accent1"/>
                    </a:solidFill>
                  </a:tcPr>
                </a:tc>
                <a:extLst>
                  <a:ext uri="{0D108BD9-81ED-4DB2-BD59-A6C34878D82A}">
                    <a16:rowId xmlns:a16="http://schemas.microsoft.com/office/drawing/2014/main" val="10006"/>
                  </a:ext>
                </a:extLst>
              </a:tr>
              <a:tr h="384048">
                <a:tc>
                  <a:txBody>
                    <a:bodyPr/>
                    <a:lstStyle/>
                    <a:p>
                      <a:pPr marL="0" indent="0">
                        <a:buNone/>
                      </a:pPr>
                      <a:r>
                        <a:rPr lang="en-US" sz="1400" dirty="0">
                          <a:solidFill>
                            <a:schemeClr val="tx1"/>
                          </a:solidFill>
                        </a:rPr>
                        <a:t>FactManufacturing</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1,000</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ctr">
                        <a:buNone/>
                      </a:pPr>
                      <a:r>
                        <a:rPr lang="en-US" sz="1400" b="1" dirty="0">
                          <a:solidFill>
                            <a:schemeClr val="bg1"/>
                          </a:solidFill>
                        </a:rPr>
                        <a:t>PASS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accent1"/>
                    </a:solidFill>
                  </a:tcPr>
                </a:tc>
                <a:extLst>
                  <a:ext uri="{0D108BD9-81ED-4DB2-BD59-A6C34878D82A}">
                    <a16:rowId xmlns:a16="http://schemas.microsoft.com/office/drawing/2014/main" val="10007"/>
                  </a:ext>
                </a:extLst>
              </a:tr>
            </a:tbl>
          </a:graphicData>
        </a:graphic>
      </p:graphicFrame>
      <p:sp>
        <p:nvSpPr>
          <p:cNvPr id="6" name="Text 1"/>
          <p:cNvSpPr txBox="1"/>
          <p:nvPr/>
        </p:nvSpPr>
        <p:spPr>
          <a:xfrm>
            <a:off x="6245352" y="4526280"/>
            <a:ext cx="5394960" cy="457200"/>
          </a:xfrm>
          <a:prstGeom prst="rect">
            <a:avLst/>
          </a:prstGeom>
          <a:noFill/>
          <a:ln/>
        </p:spPr>
        <p:txBody>
          <a:bodyPr wrap="square" lIns="0" tIns="0" rIns="0" bIns="0" rtlCol="0" anchor="t"/>
          <a:lstStyle/>
          <a:p>
            <a:pPr marL="0" indent="0">
              <a:buNone/>
            </a:pPr>
            <a:r>
              <a:rPr lang="en-US" sz="1400" dirty="0">
                <a:solidFill>
                  <a:schemeClr val="tx2"/>
                </a:solidFill>
              </a:rPr>
              <a:t>Each table: row count and one numeric total compared with the cleaned CSV files.</a:t>
            </a:r>
            <a:endParaRPr lang="en-US" sz="1400" dirty="0"/>
          </a:p>
        </p:txBody>
      </p:sp>
      <p:sp>
        <p:nvSpPr>
          <p:cNvPr id="7" name="Demo bar"/>
          <p:cNvSpPr/>
          <p:nvPr/>
        </p:nvSpPr>
        <p:spPr>
          <a:xfrm>
            <a:off x="548640" y="5212080"/>
            <a:ext cx="11091672" cy="1051560"/>
          </a:xfrm>
          <a:prstGeom prst="rect">
            <a:avLst/>
          </a:prstGeom>
          <a:solidFill>
            <a:schemeClr val="tx1"/>
          </a:solidFill>
          <a:ln w="12700">
            <a:solidFill>
              <a:schemeClr val="bg2"/>
            </a:solidFill>
            <a:prstDash val="solid"/>
          </a:ln>
        </p:spPr>
      </p:sp>
      <p:pic>
        <p:nvPicPr>
          <p:cNvPr id="8" name="Image 0" descr="preencoded.png"/>
          <p:cNvPicPr>
            <a:picLocks noChangeAspect="1"/>
          </p:cNvPicPr>
          <p:nvPr/>
        </p:nvPicPr>
        <p:blipFill>
          <a:blip r:embed="rId3"/>
          <a:stretch>
            <a:fillRect/>
          </a:stretch>
        </p:blipFill>
        <p:spPr>
          <a:xfrm>
            <a:off x="777240" y="5509260"/>
            <a:ext cx="457200" cy="457200"/>
          </a:xfrm>
          <a:prstGeom prst="rect">
            <a:avLst/>
          </a:prstGeom>
        </p:spPr>
      </p:pic>
      <p:sp>
        <p:nvSpPr>
          <p:cNvPr id="9" name="Text 3"/>
          <p:cNvSpPr txBox="1"/>
          <p:nvPr/>
        </p:nvSpPr>
        <p:spPr>
          <a:xfrm>
            <a:off x="1417320" y="5212080"/>
            <a:ext cx="2788920" cy="1051560"/>
          </a:xfrm>
          <a:prstGeom prst="rect">
            <a:avLst/>
          </a:prstGeom>
          <a:noFill/>
          <a:ln/>
        </p:spPr>
        <p:txBody>
          <a:bodyPr wrap="square" lIns="0" tIns="0" rIns="0" bIns="0" rtlCol="0" anchor="ctr"/>
          <a:lstStyle/>
          <a:p>
            <a:pPr marL="0" indent="0">
              <a:buNone/>
            </a:pPr>
            <a:r>
              <a:rPr lang="en-US" sz="1400" dirty="0">
                <a:solidFill>
                  <a:schemeClr val="bg1"/>
                </a:solidFill>
              </a:rPr>
              <a:t>pgAdmin, database uc15_dw</a:t>
            </a:r>
            <a:endParaRPr lang="en-US" sz="1400" dirty="0"/>
          </a:p>
        </p:txBody>
      </p:sp>
      <p:pic>
        <p:nvPicPr>
          <p:cNvPr id="10" name="Image 1" descr="preencoded.png"/>
          <p:cNvPicPr>
            <a:picLocks noChangeAspect="1"/>
          </p:cNvPicPr>
          <p:nvPr/>
        </p:nvPicPr>
        <p:blipFill>
          <a:blip r:embed="rId4"/>
          <a:stretch>
            <a:fillRect/>
          </a:stretch>
        </p:blipFill>
        <p:spPr>
          <a:xfrm>
            <a:off x="4434840" y="5509260"/>
            <a:ext cx="457200" cy="457200"/>
          </a:xfrm>
          <a:prstGeom prst="rect">
            <a:avLst/>
          </a:prstGeom>
        </p:spPr>
      </p:pic>
      <p:sp>
        <p:nvSpPr>
          <p:cNvPr id="11" name="Text 4"/>
          <p:cNvSpPr txBox="1"/>
          <p:nvPr/>
        </p:nvSpPr>
        <p:spPr>
          <a:xfrm>
            <a:off x="5074920" y="5212080"/>
            <a:ext cx="2788920" cy="1051560"/>
          </a:xfrm>
          <a:prstGeom prst="rect">
            <a:avLst/>
          </a:prstGeom>
          <a:noFill/>
          <a:ln/>
        </p:spPr>
        <p:txBody>
          <a:bodyPr wrap="square" lIns="0" tIns="0" rIns="0" bIns="0" rtlCol="0" anchor="ctr"/>
          <a:lstStyle/>
          <a:p>
            <a:pPr marL="0" indent="0">
              <a:buNone/>
            </a:pPr>
            <a:r>
              <a:rPr lang="en-US" sz="1400" dirty="0">
                <a:solidFill>
                  <a:schemeClr val="bg1"/>
                </a:solidFill>
              </a:rPr>
              <a:t>Run 05_reconciliation_checks.sql (F5)</a:t>
            </a:r>
            <a:endParaRPr lang="en-US" sz="1400" dirty="0"/>
          </a:p>
        </p:txBody>
      </p:sp>
      <p:pic>
        <p:nvPicPr>
          <p:cNvPr id="12" name="Image 2" descr="preencoded.png"/>
          <p:cNvPicPr>
            <a:picLocks noChangeAspect="1"/>
          </p:cNvPicPr>
          <p:nvPr/>
        </p:nvPicPr>
        <p:blipFill>
          <a:blip r:embed="rId5"/>
          <a:stretch>
            <a:fillRect/>
          </a:stretch>
        </p:blipFill>
        <p:spPr>
          <a:xfrm>
            <a:off x="8092440" y="5509260"/>
            <a:ext cx="457200" cy="457200"/>
          </a:xfrm>
          <a:prstGeom prst="rect">
            <a:avLst/>
          </a:prstGeom>
        </p:spPr>
      </p:pic>
      <p:sp>
        <p:nvSpPr>
          <p:cNvPr id="13" name="Text 5"/>
          <p:cNvSpPr txBox="1"/>
          <p:nvPr/>
        </p:nvSpPr>
        <p:spPr>
          <a:xfrm>
            <a:off x="8732520" y="5212080"/>
            <a:ext cx="2788920" cy="1051560"/>
          </a:xfrm>
          <a:prstGeom prst="rect">
            <a:avLst/>
          </a:prstGeom>
          <a:noFill/>
          <a:ln/>
        </p:spPr>
        <p:txBody>
          <a:bodyPr wrap="square" lIns="0" tIns="0" rIns="0" bIns="0" rtlCol="0" anchor="ctr"/>
          <a:lstStyle/>
          <a:p>
            <a:pPr marL="0" indent="0">
              <a:buNone/>
            </a:pPr>
            <a:r>
              <a:rPr lang="en-US" sz="1400" dirty="0">
                <a:solidFill>
                  <a:schemeClr val="bg1"/>
                </a:solidFill>
              </a:rPr>
              <a:t>15 rows, all PASS</a:t>
            </a:r>
            <a:endParaRPr lang="en-US" sz="1400" dirty="0"/>
          </a:p>
        </p:txBody>
      </p:sp>
      <p:sp>
        <p:nvSpPr>
          <p:cNvPr id="2"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365760"/>
            <a:ext cx="10149840" cy="777240"/>
          </a:xfrm>
          <a:prstGeom prst="rect">
            <a:avLst/>
          </a:prstGeom>
          <a:noFill/>
          <a:ln/>
        </p:spPr>
        <p:txBody>
          <a:bodyPr wrap="square" lIns="0" tIns="0" rIns="0" bIns="0" rtlCol="0" anchor="ctr"/>
          <a:lstStyle/>
          <a:p>
            <a:pPr marL="0" indent="0" algn="l">
              <a:buNone/>
            </a:pPr>
            <a:r>
              <a:rPr lang="en-US" sz="3600" b="1" dirty="0">
                <a:solidFill>
                  <a:schemeClr val="tx1"/>
                </a:solidFill>
              </a:rPr>
              <a:t>Enterprise reporting with SQL</a:t>
            </a:r>
            <a:endParaRPr lang="en-US" sz="3600" dirty="0"/>
          </a:p>
        </p:txBody>
      </p:sp>
      <p:sp>
        <p:nvSpPr>
          <p:cNvPr id="4" name="Text 1"/>
          <p:cNvSpPr txBox="1"/>
          <p:nvPr/>
        </p:nvSpPr>
        <p:spPr>
          <a:xfrm>
            <a:off x="548640" y="1371600"/>
            <a:ext cx="5120640" cy="365760"/>
          </a:xfrm>
          <a:prstGeom prst="rect">
            <a:avLst/>
          </a:prstGeom>
          <a:noFill/>
          <a:ln/>
        </p:spPr>
        <p:txBody>
          <a:bodyPr wrap="square" lIns="0" tIns="0" rIns="0" bIns="0" rtlCol="0" anchor="t"/>
          <a:lstStyle/>
          <a:p>
            <a:pPr marL="0" indent="0">
              <a:buNone/>
            </a:pPr>
            <a:r>
              <a:rPr lang="en-US" sz="1600" b="1" dirty="0">
                <a:solidFill>
                  <a:schemeClr val="accent1"/>
                </a:solidFill>
              </a:rPr>
              <a:t>23 queries in sql/04_enterprise_reporting_queries.sql</a:t>
            </a:r>
            <a:endParaRPr lang="en-US" sz="1600" dirty="0"/>
          </a:p>
        </p:txBody>
      </p:sp>
      <p:sp>
        <p:nvSpPr>
          <p:cNvPr id="5" name="Query card"/>
          <p:cNvSpPr/>
          <p:nvPr/>
        </p:nvSpPr>
        <p:spPr>
          <a:xfrm>
            <a:off x="548640" y="1828800"/>
            <a:ext cx="5120640" cy="475488"/>
          </a:xfrm>
          <a:prstGeom prst="rect">
            <a:avLst/>
          </a:prstGeom>
          <a:solidFill>
            <a:schemeClr val="bg2"/>
          </a:solidFill>
          <a:ln w="12700">
            <a:solidFill>
              <a:schemeClr val="bg2"/>
            </a:solidFill>
            <a:prstDash val="solid"/>
          </a:ln>
        </p:spPr>
      </p:sp>
      <p:sp>
        <p:nvSpPr>
          <p:cNvPr id="6" name="Text 3"/>
          <p:cNvSpPr txBox="1"/>
          <p:nvPr/>
        </p:nvSpPr>
        <p:spPr>
          <a:xfrm>
            <a:off x="731520" y="1828800"/>
            <a:ext cx="1463040" cy="475488"/>
          </a:xfrm>
          <a:prstGeom prst="rect">
            <a:avLst/>
          </a:prstGeom>
          <a:noFill/>
          <a:ln/>
        </p:spPr>
        <p:txBody>
          <a:bodyPr wrap="square" lIns="0" tIns="0" rIns="0" bIns="0" rtlCol="0" anchor="ctr"/>
          <a:lstStyle/>
          <a:p>
            <a:pPr marL="0" indent="0">
              <a:buNone/>
            </a:pPr>
            <a:r>
              <a:rPr lang="en-US" sz="1400" b="1" dirty="0">
                <a:solidFill>
                  <a:schemeClr val="tx1"/>
                </a:solidFill>
              </a:rPr>
              <a:t>Sales</a:t>
            </a:r>
            <a:endParaRPr lang="en-US" sz="1400" dirty="0"/>
          </a:p>
        </p:txBody>
      </p:sp>
      <p:sp>
        <p:nvSpPr>
          <p:cNvPr id="7" name="Text 4"/>
          <p:cNvSpPr txBox="1"/>
          <p:nvPr/>
        </p:nvSpPr>
        <p:spPr>
          <a:xfrm>
            <a:off x="2194560" y="1828800"/>
            <a:ext cx="3383280" cy="475488"/>
          </a:xfrm>
          <a:prstGeom prst="rect">
            <a:avLst/>
          </a:prstGeom>
          <a:noFill/>
          <a:ln/>
        </p:spPr>
        <p:txBody>
          <a:bodyPr wrap="square" lIns="0" tIns="0" rIns="0" bIns="0" rtlCol="0" anchor="ctr"/>
          <a:lstStyle/>
          <a:p>
            <a:pPr marL="0" indent="0">
              <a:buNone/>
            </a:pPr>
            <a:r>
              <a:rPr lang="en-US" sz="1400" dirty="0">
                <a:solidFill>
                  <a:schemeClr val="tx1"/>
                </a:solidFill>
              </a:rPr>
              <a:t>by month, category, age band, top orders</a:t>
            </a:r>
            <a:endParaRPr lang="en-US" sz="1400" dirty="0"/>
          </a:p>
        </p:txBody>
      </p:sp>
      <p:sp>
        <p:nvSpPr>
          <p:cNvPr id="8" name="Query card"/>
          <p:cNvSpPr/>
          <p:nvPr/>
        </p:nvSpPr>
        <p:spPr>
          <a:xfrm>
            <a:off x="548640" y="2377440"/>
            <a:ext cx="5120640" cy="475488"/>
          </a:xfrm>
          <a:prstGeom prst="rect">
            <a:avLst/>
          </a:prstGeom>
          <a:solidFill>
            <a:schemeClr val="bg2"/>
          </a:solidFill>
          <a:ln w="12700">
            <a:solidFill>
              <a:schemeClr val="bg2"/>
            </a:solidFill>
            <a:prstDash val="solid"/>
          </a:ln>
        </p:spPr>
      </p:sp>
      <p:sp>
        <p:nvSpPr>
          <p:cNvPr id="9" name="Text 6"/>
          <p:cNvSpPr txBox="1"/>
          <p:nvPr/>
        </p:nvSpPr>
        <p:spPr>
          <a:xfrm>
            <a:off x="731520" y="2377440"/>
            <a:ext cx="1463040" cy="475488"/>
          </a:xfrm>
          <a:prstGeom prst="rect">
            <a:avLst/>
          </a:prstGeom>
          <a:noFill/>
          <a:ln/>
        </p:spPr>
        <p:txBody>
          <a:bodyPr wrap="square" lIns="0" tIns="0" rIns="0" bIns="0" rtlCol="0" anchor="ctr"/>
          <a:lstStyle/>
          <a:p>
            <a:pPr marL="0" indent="0">
              <a:buNone/>
            </a:pPr>
            <a:r>
              <a:rPr lang="en-US" sz="1400" b="1" dirty="0">
                <a:solidFill>
                  <a:schemeClr val="tx1"/>
                </a:solidFill>
              </a:rPr>
              <a:t>Procurement</a:t>
            </a:r>
            <a:endParaRPr lang="en-US" sz="1400" dirty="0"/>
          </a:p>
        </p:txBody>
      </p:sp>
      <p:sp>
        <p:nvSpPr>
          <p:cNvPr id="10" name="Text 7"/>
          <p:cNvSpPr txBox="1"/>
          <p:nvPr/>
        </p:nvSpPr>
        <p:spPr>
          <a:xfrm>
            <a:off x="2194560" y="2377440"/>
            <a:ext cx="3383280" cy="475488"/>
          </a:xfrm>
          <a:prstGeom prst="rect">
            <a:avLst/>
          </a:prstGeom>
          <a:noFill/>
          <a:ln/>
        </p:spPr>
        <p:txBody>
          <a:bodyPr wrap="square" lIns="0" tIns="0" rIns="0" bIns="0" rtlCol="0" anchor="ctr"/>
          <a:lstStyle/>
          <a:p>
            <a:pPr marL="0" indent="0">
              <a:buNone/>
            </a:pPr>
            <a:r>
              <a:rPr lang="en-US" sz="1400" dirty="0">
                <a:solidFill>
                  <a:schemeClr val="tx1"/>
                </a:solidFill>
              </a:rPr>
              <a:t>by supplier, month, item, status</a:t>
            </a:r>
            <a:endParaRPr lang="en-US" sz="1400" dirty="0"/>
          </a:p>
        </p:txBody>
      </p:sp>
      <p:sp>
        <p:nvSpPr>
          <p:cNvPr id="11" name="Query card"/>
          <p:cNvSpPr/>
          <p:nvPr/>
        </p:nvSpPr>
        <p:spPr>
          <a:xfrm>
            <a:off x="548640" y="2926080"/>
            <a:ext cx="5120640" cy="475488"/>
          </a:xfrm>
          <a:prstGeom prst="rect">
            <a:avLst/>
          </a:prstGeom>
          <a:solidFill>
            <a:schemeClr val="bg2"/>
          </a:solidFill>
          <a:ln w="12700">
            <a:solidFill>
              <a:schemeClr val="bg2"/>
            </a:solidFill>
            <a:prstDash val="solid"/>
          </a:ln>
        </p:spPr>
      </p:sp>
      <p:sp>
        <p:nvSpPr>
          <p:cNvPr id="12" name="Text 9"/>
          <p:cNvSpPr txBox="1"/>
          <p:nvPr/>
        </p:nvSpPr>
        <p:spPr>
          <a:xfrm>
            <a:off x="731520" y="2926080"/>
            <a:ext cx="1463040" cy="475488"/>
          </a:xfrm>
          <a:prstGeom prst="rect">
            <a:avLst/>
          </a:prstGeom>
          <a:noFill/>
          <a:ln/>
        </p:spPr>
        <p:txBody>
          <a:bodyPr wrap="square" lIns="0" tIns="0" rIns="0" bIns="0" rtlCol="0" anchor="ctr"/>
          <a:lstStyle/>
          <a:p>
            <a:pPr marL="0" indent="0">
              <a:buNone/>
            </a:pPr>
            <a:r>
              <a:rPr lang="en-US" sz="1400" b="1" dirty="0">
                <a:solidFill>
                  <a:schemeClr val="tx1"/>
                </a:solidFill>
              </a:rPr>
              <a:t>Inventory</a:t>
            </a:r>
            <a:endParaRPr lang="en-US" sz="1400" dirty="0"/>
          </a:p>
        </p:txBody>
      </p:sp>
      <p:sp>
        <p:nvSpPr>
          <p:cNvPr id="13" name="Text 10"/>
          <p:cNvSpPr txBox="1"/>
          <p:nvPr/>
        </p:nvSpPr>
        <p:spPr>
          <a:xfrm>
            <a:off x="2194560" y="2926080"/>
            <a:ext cx="3383280" cy="475488"/>
          </a:xfrm>
          <a:prstGeom prst="rect">
            <a:avLst/>
          </a:prstGeom>
          <a:noFill/>
          <a:ln/>
        </p:spPr>
        <p:txBody>
          <a:bodyPr wrap="square" lIns="0" tIns="0" rIns="0" bIns="0" rtlCol="0" anchor="ctr"/>
          <a:lstStyle/>
          <a:p>
            <a:pPr marL="0" indent="0">
              <a:buNone/>
            </a:pPr>
            <a:r>
              <a:rPr lang="en-US" sz="1400" dirty="0">
                <a:solidFill>
                  <a:schemeClr val="tx1"/>
                </a:solidFill>
              </a:rPr>
              <a:t>demand by category, season, top items</a:t>
            </a:r>
            <a:endParaRPr lang="en-US" sz="1400" dirty="0"/>
          </a:p>
        </p:txBody>
      </p:sp>
      <p:sp>
        <p:nvSpPr>
          <p:cNvPr id="14" name="Query card"/>
          <p:cNvSpPr/>
          <p:nvPr/>
        </p:nvSpPr>
        <p:spPr>
          <a:xfrm>
            <a:off x="548640" y="3474720"/>
            <a:ext cx="5120640" cy="475488"/>
          </a:xfrm>
          <a:prstGeom prst="rect">
            <a:avLst/>
          </a:prstGeom>
          <a:solidFill>
            <a:schemeClr val="bg2"/>
          </a:solidFill>
          <a:ln w="12700">
            <a:solidFill>
              <a:schemeClr val="bg2"/>
            </a:solidFill>
            <a:prstDash val="solid"/>
          </a:ln>
        </p:spPr>
      </p:sp>
      <p:sp>
        <p:nvSpPr>
          <p:cNvPr id="15" name="Text 12"/>
          <p:cNvSpPr txBox="1"/>
          <p:nvPr/>
        </p:nvSpPr>
        <p:spPr>
          <a:xfrm>
            <a:off x="731520" y="3474720"/>
            <a:ext cx="1463040" cy="475488"/>
          </a:xfrm>
          <a:prstGeom prst="rect">
            <a:avLst/>
          </a:prstGeom>
          <a:noFill/>
          <a:ln/>
        </p:spPr>
        <p:txBody>
          <a:bodyPr wrap="square" lIns="0" tIns="0" rIns="0" bIns="0" rtlCol="0" anchor="ctr"/>
          <a:lstStyle/>
          <a:p>
            <a:pPr marL="0" indent="0">
              <a:buNone/>
            </a:pPr>
            <a:r>
              <a:rPr lang="en-US" sz="1400" b="1" dirty="0">
                <a:solidFill>
                  <a:schemeClr val="tx1"/>
                </a:solidFill>
              </a:rPr>
              <a:t>Warehouse</a:t>
            </a:r>
            <a:endParaRPr lang="en-US" sz="1400" dirty="0"/>
          </a:p>
        </p:txBody>
      </p:sp>
      <p:sp>
        <p:nvSpPr>
          <p:cNvPr id="16" name="Text 13"/>
          <p:cNvSpPr txBox="1"/>
          <p:nvPr/>
        </p:nvSpPr>
        <p:spPr>
          <a:xfrm>
            <a:off x="2194560" y="3474720"/>
            <a:ext cx="3383280" cy="475488"/>
          </a:xfrm>
          <a:prstGeom prst="rect">
            <a:avLst/>
          </a:prstGeom>
          <a:noFill/>
          <a:ln/>
        </p:spPr>
        <p:txBody>
          <a:bodyPr wrap="square" lIns="0" tIns="0" rIns="0" bIns="0" rtlCol="0" anchor="ctr"/>
          <a:lstStyle/>
          <a:p>
            <a:pPr marL="0" indent="0">
              <a:buNone/>
            </a:pPr>
            <a:r>
              <a:rPr lang="en-US" sz="1400" dirty="0">
                <a:solidFill>
                  <a:schemeClr val="tx1"/>
                </a:solidFill>
              </a:rPr>
              <a:t>stock and turnover, stockouts, zones</a:t>
            </a:r>
            <a:endParaRPr lang="en-US" sz="1400" dirty="0"/>
          </a:p>
        </p:txBody>
      </p:sp>
      <p:sp>
        <p:nvSpPr>
          <p:cNvPr id="17" name="Query card"/>
          <p:cNvSpPr/>
          <p:nvPr/>
        </p:nvSpPr>
        <p:spPr>
          <a:xfrm>
            <a:off x="548640" y="4023360"/>
            <a:ext cx="5120640" cy="475488"/>
          </a:xfrm>
          <a:prstGeom prst="rect">
            <a:avLst/>
          </a:prstGeom>
          <a:solidFill>
            <a:schemeClr val="bg2"/>
          </a:solidFill>
          <a:ln w="12700">
            <a:solidFill>
              <a:schemeClr val="bg2"/>
            </a:solidFill>
            <a:prstDash val="solid"/>
          </a:ln>
        </p:spPr>
      </p:sp>
      <p:sp>
        <p:nvSpPr>
          <p:cNvPr id="18" name="Text 15"/>
          <p:cNvSpPr txBox="1"/>
          <p:nvPr/>
        </p:nvSpPr>
        <p:spPr>
          <a:xfrm>
            <a:off x="731520" y="4023360"/>
            <a:ext cx="1463040" cy="475488"/>
          </a:xfrm>
          <a:prstGeom prst="rect">
            <a:avLst/>
          </a:prstGeom>
          <a:noFill/>
          <a:ln/>
        </p:spPr>
        <p:txBody>
          <a:bodyPr wrap="square" lIns="0" tIns="0" rIns="0" bIns="0" rtlCol="0" anchor="ctr"/>
          <a:lstStyle/>
          <a:p>
            <a:pPr marL="0" indent="0">
              <a:buNone/>
            </a:pPr>
            <a:r>
              <a:rPr lang="en-US" sz="1400" b="1" dirty="0">
                <a:solidFill>
                  <a:schemeClr val="tx1"/>
                </a:solidFill>
              </a:rPr>
              <a:t>Finance</a:t>
            </a:r>
            <a:endParaRPr lang="en-US" sz="1400" dirty="0"/>
          </a:p>
        </p:txBody>
      </p:sp>
      <p:sp>
        <p:nvSpPr>
          <p:cNvPr id="19" name="Text 16"/>
          <p:cNvSpPr txBox="1"/>
          <p:nvPr/>
        </p:nvSpPr>
        <p:spPr>
          <a:xfrm>
            <a:off x="2194560" y="4023360"/>
            <a:ext cx="3383280" cy="475488"/>
          </a:xfrm>
          <a:prstGeom prst="rect">
            <a:avLst/>
          </a:prstGeom>
          <a:noFill/>
          <a:ln/>
        </p:spPr>
        <p:txBody>
          <a:bodyPr wrap="square" lIns="0" tIns="0" rIns="0" bIns="0" rtlCol="0" anchor="ctr"/>
          <a:lstStyle/>
          <a:p>
            <a:pPr marL="0" indent="0">
              <a:buNone/>
            </a:pPr>
            <a:r>
              <a:rPr lang="en-US" sz="1400" dirty="0">
                <a:solidFill>
                  <a:schemeClr val="tx1"/>
                </a:solidFill>
              </a:rPr>
              <a:t>by account type, trend, receivables aging</a:t>
            </a:r>
            <a:endParaRPr lang="en-US" sz="1400" dirty="0"/>
          </a:p>
        </p:txBody>
      </p:sp>
      <p:sp>
        <p:nvSpPr>
          <p:cNvPr id="20" name="Query card"/>
          <p:cNvSpPr/>
          <p:nvPr/>
        </p:nvSpPr>
        <p:spPr>
          <a:xfrm>
            <a:off x="548640" y="4572000"/>
            <a:ext cx="5120640" cy="475488"/>
          </a:xfrm>
          <a:prstGeom prst="rect">
            <a:avLst/>
          </a:prstGeom>
          <a:solidFill>
            <a:schemeClr val="bg2"/>
          </a:solidFill>
          <a:ln w="12700">
            <a:solidFill>
              <a:schemeClr val="bg2"/>
            </a:solidFill>
            <a:prstDash val="solid"/>
          </a:ln>
        </p:spPr>
      </p:sp>
      <p:sp>
        <p:nvSpPr>
          <p:cNvPr id="21" name="Text 18"/>
          <p:cNvSpPr txBox="1"/>
          <p:nvPr/>
        </p:nvSpPr>
        <p:spPr>
          <a:xfrm>
            <a:off x="731520" y="4572000"/>
            <a:ext cx="1463040" cy="475488"/>
          </a:xfrm>
          <a:prstGeom prst="rect">
            <a:avLst/>
          </a:prstGeom>
          <a:noFill/>
          <a:ln/>
        </p:spPr>
        <p:txBody>
          <a:bodyPr wrap="square" lIns="0" tIns="0" rIns="0" bIns="0" rtlCol="0" anchor="ctr"/>
          <a:lstStyle/>
          <a:p>
            <a:pPr marL="0" indent="0">
              <a:buNone/>
            </a:pPr>
            <a:r>
              <a:rPr lang="en-US" sz="1400" b="1" dirty="0">
                <a:solidFill>
                  <a:schemeClr val="tx1"/>
                </a:solidFill>
              </a:rPr>
              <a:t>Manufacturing</a:t>
            </a:r>
            <a:endParaRPr lang="en-US" sz="1400" dirty="0"/>
          </a:p>
        </p:txBody>
      </p:sp>
      <p:sp>
        <p:nvSpPr>
          <p:cNvPr id="22" name="Text 19"/>
          <p:cNvSpPr txBox="1"/>
          <p:nvPr/>
        </p:nvSpPr>
        <p:spPr>
          <a:xfrm>
            <a:off x="2194560" y="4572000"/>
            <a:ext cx="3383280" cy="475488"/>
          </a:xfrm>
          <a:prstGeom prst="rect">
            <a:avLst/>
          </a:prstGeom>
          <a:noFill/>
          <a:ln/>
        </p:spPr>
        <p:txBody>
          <a:bodyPr wrap="square" lIns="0" tIns="0" rIns="0" bIns="0" rtlCol="0" anchor="ctr"/>
          <a:lstStyle/>
          <a:p>
            <a:pPr marL="0" indent="0">
              <a:buNone/>
            </a:pPr>
            <a:r>
              <a:rPr lang="en-US" sz="1400" dirty="0">
                <a:solidFill>
                  <a:schemeClr val="tx1"/>
                </a:solidFill>
              </a:rPr>
              <a:t>machines, status, energy and material</a:t>
            </a:r>
            <a:endParaRPr lang="en-US" sz="1400" dirty="0"/>
          </a:p>
        </p:txBody>
      </p:sp>
      <p:graphicFrame>
        <p:nvGraphicFramePr>
          <p:cNvPr id="23" name="Chart 0"/>
          <p:cNvGraphicFramePr/>
          <p:nvPr/>
        </p:nvGraphicFramePr>
        <p:xfrm>
          <a:off x="5943600" y="1371600"/>
          <a:ext cx="5696712" cy="3703320"/>
        </p:xfrm>
        <a:graphic>
          <a:graphicData uri="http://schemas.openxmlformats.org/drawingml/2006/chart">
            <c:chart xmlns:c="http://schemas.openxmlformats.org/drawingml/2006/chart" xmlns:r="http://schemas.openxmlformats.org/officeDocument/2006/relationships" r:id="rId3"/>
          </a:graphicData>
        </a:graphic>
      </p:graphicFrame>
      <p:sp>
        <p:nvSpPr>
          <p:cNvPr id="24" name="Demo bar"/>
          <p:cNvSpPr/>
          <p:nvPr/>
        </p:nvSpPr>
        <p:spPr>
          <a:xfrm>
            <a:off x="548640" y="5212080"/>
            <a:ext cx="11091672" cy="1051560"/>
          </a:xfrm>
          <a:prstGeom prst="rect">
            <a:avLst/>
          </a:prstGeom>
          <a:solidFill>
            <a:schemeClr val="tx1"/>
          </a:solidFill>
          <a:ln w="12700">
            <a:solidFill>
              <a:schemeClr val="bg2"/>
            </a:solidFill>
            <a:prstDash val="solid"/>
          </a:ln>
        </p:spPr>
      </p:sp>
      <p:pic>
        <p:nvPicPr>
          <p:cNvPr id="25" name="Image 0" descr="preencoded.png"/>
          <p:cNvPicPr>
            <a:picLocks noChangeAspect="1"/>
          </p:cNvPicPr>
          <p:nvPr/>
        </p:nvPicPr>
        <p:blipFill>
          <a:blip r:embed="rId4"/>
          <a:stretch>
            <a:fillRect/>
          </a:stretch>
        </p:blipFill>
        <p:spPr>
          <a:xfrm>
            <a:off x="777240" y="5509260"/>
            <a:ext cx="457200" cy="457200"/>
          </a:xfrm>
          <a:prstGeom prst="rect">
            <a:avLst/>
          </a:prstGeom>
        </p:spPr>
      </p:pic>
      <p:sp>
        <p:nvSpPr>
          <p:cNvPr id="26" name="Text 21"/>
          <p:cNvSpPr txBox="1"/>
          <p:nvPr/>
        </p:nvSpPr>
        <p:spPr>
          <a:xfrm>
            <a:off x="1417320" y="5212080"/>
            <a:ext cx="2788920" cy="1051560"/>
          </a:xfrm>
          <a:prstGeom prst="rect">
            <a:avLst/>
          </a:prstGeom>
          <a:noFill/>
          <a:ln/>
        </p:spPr>
        <p:txBody>
          <a:bodyPr wrap="square" lIns="0" tIns="0" rIns="0" bIns="0" rtlCol="0" anchor="ctr"/>
          <a:lstStyle/>
          <a:p>
            <a:pPr marL="0" indent="0">
              <a:buNone/>
            </a:pPr>
            <a:r>
              <a:rPr lang="en-US" sz="1400" dirty="0">
                <a:solidFill>
                  <a:schemeClr val="bg1"/>
                </a:solidFill>
              </a:rPr>
              <a:t>pgAdmin: the 04 reporting queries file</a:t>
            </a:r>
            <a:endParaRPr lang="en-US" sz="1400" dirty="0"/>
          </a:p>
        </p:txBody>
      </p:sp>
      <p:pic>
        <p:nvPicPr>
          <p:cNvPr id="27" name="Image 1" descr="preencoded.png"/>
          <p:cNvPicPr>
            <a:picLocks noChangeAspect="1"/>
          </p:cNvPicPr>
          <p:nvPr/>
        </p:nvPicPr>
        <p:blipFill>
          <a:blip r:embed="rId5"/>
          <a:stretch>
            <a:fillRect/>
          </a:stretch>
        </p:blipFill>
        <p:spPr>
          <a:xfrm>
            <a:off x="4434840" y="5509260"/>
            <a:ext cx="457200" cy="457200"/>
          </a:xfrm>
          <a:prstGeom prst="rect">
            <a:avLst/>
          </a:prstGeom>
        </p:spPr>
      </p:pic>
      <p:sp>
        <p:nvSpPr>
          <p:cNvPr id="28" name="Text 22"/>
          <p:cNvSpPr txBox="1"/>
          <p:nvPr/>
        </p:nvSpPr>
        <p:spPr>
          <a:xfrm>
            <a:off x="5074920" y="5212080"/>
            <a:ext cx="2788920" cy="1051560"/>
          </a:xfrm>
          <a:prstGeom prst="rect">
            <a:avLst/>
          </a:prstGeom>
          <a:noFill/>
          <a:ln/>
        </p:spPr>
        <p:txBody>
          <a:bodyPr wrap="square" lIns="0" tIns="0" rIns="0" bIns="0" rtlCol="0" anchor="ctr"/>
          <a:lstStyle/>
          <a:p>
            <a:pPr marL="0" indent="0">
              <a:buNone/>
            </a:pPr>
            <a:r>
              <a:rPr lang="en-US" sz="1400" dirty="0">
                <a:solidFill>
                  <a:schemeClr val="bg1"/>
                </a:solidFill>
              </a:rPr>
              <a:t>Select one query, press F5</a:t>
            </a:r>
            <a:endParaRPr lang="en-US" sz="1400" dirty="0"/>
          </a:p>
        </p:txBody>
      </p:sp>
      <p:pic>
        <p:nvPicPr>
          <p:cNvPr id="29" name="Image 2" descr="preencoded.png"/>
          <p:cNvPicPr>
            <a:picLocks noChangeAspect="1"/>
          </p:cNvPicPr>
          <p:nvPr/>
        </p:nvPicPr>
        <p:blipFill>
          <a:blip r:embed="rId6"/>
          <a:stretch>
            <a:fillRect/>
          </a:stretch>
        </p:blipFill>
        <p:spPr>
          <a:xfrm>
            <a:off x="8092440" y="5509260"/>
            <a:ext cx="457200" cy="457200"/>
          </a:xfrm>
          <a:prstGeom prst="rect">
            <a:avLst/>
          </a:prstGeom>
        </p:spPr>
      </p:pic>
      <p:sp>
        <p:nvSpPr>
          <p:cNvPr id="30" name="Text 23"/>
          <p:cNvSpPr txBox="1"/>
          <p:nvPr/>
        </p:nvSpPr>
        <p:spPr>
          <a:xfrm>
            <a:off x="8732520" y="5212080"/>
            <a:ext cx="2788920" cy="1051560"/>
          </a:xfrm>
          <a:prstGeom prst="rect">
            <a:avLst/>
          </a:prstGeom>
          <a:noFill/>
          <a:ln/>
        </p:spPr>
        <p:txBody>
          <a:bodyPr wrap="square" lIns="0" tIns="0" rIns="0" bIns="0" rtlCol="0" anchor="ctr"/>
          <a:lstStyle/>
          <a:p>
            <a:pPr marL="0" indent="0">
              <a:buNone/>
            </a:pPr>
            <a:r>
              <a:rPr lang="en-US" sz="1400" dirty="0">
                <a:solidFill>
                  <a:schemeClr val="bg1"/>
                </a:solidFill>
              </a:rPr>
              <a:t>Sales by month, spend by supplier</a:t>
            </a:r>
            <a:endParaRPr lang="en-US" sz="1400" dirty="0"/>
          </a:p>
        </p:txBody>
      </p:sp>
      <p:sp>
        <p:nvSpPr>
          <p:cNvPr id="2"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365760"/>
            <a:ext cx="10149840" cy="777240"/>
          </a:xfrm>
          <a:prstGeom prst="rect">
            <a:avLst/>
          </a:prstGeom>
          <a:noFill/>
          <a:ln/>
        </p:spPr>
        <p:txBody>
          <a:bodyPr wrap="square" lIns="0" tIns="0" rIns="0" bIns="0" rtlCol="0" anchor="ctr"/>
          <a:lstStyle/>
          <a:p>
            <a:pPr marL="0" indent="0" algn="l">
              <a:buNone/>
            </a:pPr>
            <a:r>
              <a:rPr lang="en-US" sz="3600" b="1" dirty="0">
                <a:solidFill>
                  <a:schemeClr val="tx1"/>
                </a:solidFill>
              </a:rPr>
              <a:t>Real-time: a live REST API</a:t>
            </a:r>
            <a:endParaRPr lang="en-US" sz="3600" dirty="0"/>
          </a:p>
        </p:txBody>
      </p:sp>
      <p:sp>
        <p:nvSpPr>
          <p:cNvPr id="4" name="Step box"/>
          <p:cNvSpPr/>
          <p:nvPr/>
        </p:nvSpPr>
        <p:spPr>
          <a:xfrm>
            <a:off x="548640" y="1417320"/>
            <a:ext cx="2011680" cy="1188720"/>
          </a:xfrm>
          <a:prstGeom prst="rect">
            <a:avLst/>
          </a:prstGeom>
          <a:solidFill>
            <a:srgbClr val="24424D"/>
          </a:solidFill>
          <a:ln w="12700">
            <a:solidFill>
              <a:srgbClr val="24424D"/>
            </a:solidFill>
            <a:prstDash val="solid"/>
          </a:ln>
        </p:spPr>
      </p:sp>
      <p:sp>
        <p:nvSpPr>
          <p:cNvPr id="5" name="Text 2"/>
          <p:cNvSpPr txBox="1"/>
          <p:nvPr/>
        </p:nvSpPr>
        <p:spPr>
          <a:xfrm>
            <a:off x="685800" y="1536192"/>
            <a:ext cx="1737360" cy="365760"/>
          </a:xfrm>
          <a:prstGeom prst="rect">
            <a:avLst/>
          </a:prstGeom>
          <a:noFill/>
          <a:ln/>
        </p:spPr>
        <p:txBody>
          <a:bodyPr wrap="square" lIns="0" tIns="0" rIns="0" bIns="0" rtlCol="0" anchor="t"/>
          <a:lstStyle/>
          <a:p>
            <a:pPr marL="0" indent="0">
              <a:buNone/>
            </a:pPr>
            <a:r>
              <a:rPr lang="en-US" sz="1600" b="1" dirty="0">
                <a:solidFill>
                  <a:schemeClr val="bg1"/>
                </a:solidFill>
              </a:rPr>
              <a:t>Coinbase API</a:t>
            </a:r>
            <a:endParaRPr lang="en-US" sz="1600" dirty="0"/>
          </a:p>
        </p:txBody>
      </p:sp>
      <p:sp>
        <p:nvSpPr>
          <p:cNvPr id="6" name="Text 3"/>
          <p:cNvSpPr txBox="1"/>
          <p:nvPr/>
        </p:nvSpPr>
        <p:spPr>
          <a:xfrm>
            <a:off x="685800" y="1938528"/>
            <a:ext cx="1737360" cy="594360"/>
          </a:xfrm>
          <a:prstGeom prst="rect">
            <a:avLst/>
          </a:prstGeom>
          <a:noFill/>
          <a:ln/>
        </p:spPr>
        <p:txBody>
          <a:bodyPr wrap="square" lIns="0" tIns="0" rIns="0" bIns="0" rtlCol="0" anchor="t"/>
          <a:lstStyle/>
          <a:p>
            <a:pPr marL="0" indent="0">
              <a:buNone/>
            </a:pPr>
            <a:r>
              <a:rPr lang="en-US" sz="1400" dirty="0">
                <a:solidFill>
                  <a:schemeClr val="bg1"/>
                </a:solidFill>
              </a:rPr>
              <a:t>Public prices over HTTP</a:t>
            </a:r>
            <a:endParaRPr lang="en-US" sz="1400" dirty="0"/>
          </a:p>
        </p:txBody>
      </p:sp>
      <p:sp>
        <p:nvSpPr>
          <p:cNvPr id="7" name="Shape 4"/>
          <p:cNvSpPr/>
          <p:nvPr/>
        </p:nvSpPr>
        <p:spPr>
          <a:xfrm>
            <a:off x="2560320" y="2011680"/>
            <a:ext cx="256032" cy="0"/>
          </a:xfrm>
          <a:prstGeom prst="line">
            <a:avLst/>
          </a:prstGeom>
          <a:noFill/>
          <a:ln w="25400">
            <a:solidFill>
              <a:srgbClr val="1B2A34"/>
            </a:solidFill>
            <a:prstDash val="solid"/>
            <a:tailEnd type="triangle"/>
          </a:ln>
        </p:spPr>
      </p:sp>
      <p:sp>
        <p:nvSpPr>
          <p:cNvPr id="8" name="Step box"/>
          <p:cNvSpPr/>
          <p:nvPr/>
        </p:nvSpPr>
        <p:spPr>
          <a:xfrm>
            <a:off x="2816352" y="1417320"/>
            <a:ext cx="2011680" cy="1188720"/>
          </a:xfrm>
          <a:prstGeom prst="rect">
            <a:avLst/>
          </a:prstGeom>
          <a:solidFill>
            <a:srgbClr val="24424D"/>
          </a:solidFill>
          <a:ln w="12700">
            <a:solidFill>
              <a:srgbClr val="24424D"/>
            </a:solidFill>
            <a:prstDash val="solid"/>
          </a:ln>
        </p:spPr>
      </p:sp>
      <p:sp>
        <p:nvSpPr>
          <p:cNvPr id="9" name="Text 6"/>
          <p:cNvSpPr txBox="1"/>
          <p:nvPr/>
        </p:nvSpPr>
        <p:spPr>
          <a:xfrm>
            <a:off x="2953512" y="1536192"/>
            <a:ext cx="1737360" cy="365760"/>
          </a:xfrm>
          <a:prstGeom prst="rect">
            <a:avLst/>
          </a:prstGeom>
          <a:noFill/>
          <a:ln/>
        </p:spPr>
        <p:txBody>
          <a:bodyPr wrap="square" lIns="0" tIns="0" rIns="0" bIns="0" rtlCol="0" anchor="t"/>
          <a:lstStyle/>
          <a:p>
            <a:pPr marL="0" indent="0">
              <a:buNone/>
            </a:pPr>
            <a:r>
              <a:rPr lang="en-US" sz="1600" b="1" dirty="0">
                <a:solidFill>
                  <a:schemeClr val="bg1"/>
                </a:solidFill>
              </a:rPr>
              <a:t>Poller</a:t>
            </a:r>
            <a:endParaRPr lang="en-US" sz="1600" dirty="0"/>
          </a:p>
        </p:txBody>
      </p:sp>
      <p:sp>
        <p:nvSpPr>
          <p:cNvPr id="10" name="Text 7"/>
          <p:cNvSpPr txBox="1"/>
          <p:nvPr/>
        </p:nvSpPr>
        <p:spPr>
          <a:xfrm>
            <a:off x="2953512" y="1938528"/>
            <a:ext cx="1737360" cy="594360"/>
          </a:xfrm>
          <a:prstGeom prst="rect">
            <a:avLst/>
          </a:prstGeom>
          <a:noFill/>
          <a:ln/>
        </p:spPr>
        <p:txBody>
          <a:bodyPr wrap="square" lIns="0" tIns="0" rIns="0" bIns="0" rtlCol="0" anchor="t"/>
          <a:lstStyle/>
          <a:p>
            <a:pPr marL="0" indent="0">
              <a:buNone/>
            </a:pPr>
            <a:r>
              <a:rPr lang="en-US" sz="1400" dirty="0">
                <a:solidFill>
                  <a:schemeClr val="bg1"/>
                </a:solidFill>
              </a:rPr>
              <a:t>Reads every 5 seconds</a:t>
            </a:r>
            <a:endParaRPr lang="en-US" sz="1400" dirty="0"/>
          </a:p>
        </p:txBody>
      </p:sp>
      <p:sp>
        <p:nvSpPr>
          <p:cNvPr id="11" name="Shape 8"/>
          <p:cNvSpPr/>
          <p:nvPr/>
        </p:nvSpPr>
        <p:spPr>
          <a:xfrm>
            <a:off x="4828032" y="2011680"/>
            <a:ext cx="256032" cy="0"/>
          </a:xfrm>
          <a:prstGeom prst="line">
            <a:avLst/>
          </a:prstGeom>
          <a:noFill/>
          <a:ln w="25400">
            <a:solidFill>
              <a:srgbClr val="1B2A34"/>
            </a:solidFill>
            <a:prstDash val="solid"/>
            <a:tailEnd type="triangle"/>
          </a:ln>
        </p:spPr>
      </p:sp>
      <p:sp>
        <p:nvSpPr>
          <p:cNvPr id="12" name="Step box"/>
          <p:cNvSpPr/>
          <p:nvPr/>
        </p:nvSpPr>
        <p:spPr>
          <a:xfrm>
            <a:off x="5084064" y="1417320"/>
            <a:ext cx="2011680" cy="1188720"/>
          </a:xfrm>
          <a:prstGeom prst="rect">
            <a:avLst/>
          </a:prstGeom>
          <a:solidFill>
            <a:srgbClr val="24424D"/>
          </a:solidFill>
          <a:ln w="12700">
            <a:solidFill>
              <a:srgbClr val="24424D"/>
            </a:solidFill>
            <a:prstDash val="solid"/>
          </a:ln>
        </p:spPr>
      </p:sp>
      <p:sp>
        <p:nvSpPr>
          <p:cNvPr id="13" name="Text 10"/>
          <p:cNvSpPr txBox="1"/>
          <p:nvPr/>
        </p:nvSpPr>
        <p:spPr>
          <a:xfrm>
            <a:off x="5221224" y="1536192"/>
            <a:ext cx="1737360" cy="365760"/>
          </a:xfrm>
          <a:prstGeom prst="rect">
            <a:avLst/>
          </a:prstGeom>
          <a:noFill/>
          <a:ln/>
        </p:spPr>
        <p:txBody>
          <a:bodyPr wrap="square" lIns="0" tIns="0" rIns="0" bIns="0" rtlCol="0" anchor="t"/>
          <a:lstStyle/>
          <a:p>
            <a:pPr marL="0" indent="0">
              <a:buNone/>
            </a:pPr>
            <a:r>
              <a:rPr lang="en-US" sz="1600" b="1" dirty="0">
                <a:solidFill>
                  <a:schemeClr val="bg1"/>
                </a:solidFill>
              </a:rPr>
              <a:t>Validate</a:t>
            </a:r>
            <a:endParaRPr lang="en-US" sz="1600" dirty="0"/>
          </a:p>
        </p:txBody>
      </p:sp>
      <p:sp>
        <p:nvSpPr>
          <p:cNvPr id="14" name="Text 11"/>
          <p:cNvSpPr txBox="1"/>
          <p:nvPr/>
        </p:nvSpPr>
        <p:spPr>
          <a:xfrm>
            <a:off x="5221224" y="1938528"/>
            <a:ext cx="1737360" cy="594360"/>
          </a:xfrm>
          <a:prstGeom prst="rect">
            <a:avLst/>
          </a:prstGeom>
          <a:noFill/>
          <a:ln/>
        </p:spPr>
        <p:txBody>
          <a:bodyPr wrap="square" lIns="0" tIns="0" rIns="0" bIns="0" rtlCol="0" anchor="t"/>
          <a:lstStyle/>
          <a:p>
            <a:pPr marL="0" indent="0">
              <a:buNone/>
            </a:pPr>
            <a:r>
              <a:rPr lang="en-US" sz="1400" dirty="0">
                <a:solidFill>
                  <a:schemeClr val="bg1"/>
                </a:solidFill>
              </a:rPr>
              <a:t>Rejects bad readings</a:t>
            </a:r>
            <a:endParaRPr lang="en-US" sz="1400" dirty="0"/>
          </a:p>
        </p:txBody>
      </p:sp>
      <p:sp>
        <p:nvSpPr>
          <p:cNvPr id="15" name="Shape 12"/>
          <p:cNvSpPr/>
          <p:nvPr/>
        </p:nvSpPr>
        <p:spPr>
          <a:xfrm>
            <a:off x="7095744" y="2011680"/>
            <a:ext cx="256032" cy="0"/>
          </a:xfrm>
          <a:prstGeom prst="line">
            <a:avLst/>
          </a:prstGeom>
          <a:noFill/>
          <a:ln w="25400">
            <a:solidFill>
              <a:srgbClr val="1B2A34"/>
            </a:solidFill>
            <a:prstDash val="solid"/>
            <a:tailEnd type="triangle"/>
          </a:ln>
        </p:spPr>
      </p:sp>
      <p:sp>
        <p:nvSpPr>
          <p:cNvPr id="16" name="Step box"/>
          <p:cNvSpPr/>
          <p:nvPr/>
        </p:nvSpPr>
        <p:spPr>
          <a:xfrm>
            <a:off x="7351776" y="1417320"/>
            <a:ext cx="2011680" cy="1188720"/>
          </a:xfrm>
          <a:prstGeom prst="rect">
            <a:avLst/>
          </a:prstGeom>
          <a:solidFill>
            <a:srgbClr val="24424D"/>
          </a:solidFill>
          <a:ln w="12700">
            <a:solidFill>
              <a:srgbClr val="24424D"/>
            </a:solidFill>
            <a:prstDash val="solid"/>
          </a:ln>
        </p:spPr>
      </p:sp>
      <p:sp>
        <p:nvSpPr>
          <p:cNvPr id="17" name="Text 14"/>
          <p:cNvSpPr txBox="1"/>
          <p:nvPr/>
        </p:nvSpPr>
        <p:spPr>
          <a:xfrm>
            <a:off x="7488936" y="1536192"/>
            <a:ext cx="1737360" cy="365760"/>
          </a:xfrm>
          <a:prstGeom prst="rect">
            <a:avLst/>
          </a:prstGeom>
          <a:noFill/>
          <a:ln/>
        </p:spPr>
        <p:txBody>
          <a:bodyPr wrap="square" lIns="0" tIns="0" rIns="0" bIns="0" rtlCol="0" anchor="t"/>
          <a:lstStyle/>
          <a:p>
            <a:pPr marL="0" indent="0">
              <a:buNone/>
            </a:pPr>
            <a:r>
              <a:rPr lang="en-US" sz="1600" b="1" dirty="0">
                <a:solidFill>
                  <a:schemeClr val="bg1"/>
                </a:solidFill>
              </a:rPr>
              <a:t>realtime_demo</a:t>
            </a:r>
            <a:endParaRPr lang="en-US" sz="1600" dirty="0"/>
          </a:p>
        </p:txBody>
      </p:sp>
      <p:sp>
        <p:nvSpPr>
          <p:cNvPr id="18" name="Text 15"/>
          <p:cNvSpPr txBox="1"/>
          <p:nvPr/>
        </p:nvSpPr>
        <p:spPr>
          <a:xfrm>
            <a:off x="7488936" y="1938528"/>
            <a:ext cx="1737360" cy="594360"/>
          </a:xfrm>
          <a:prstGeom prst="rect">
            <a:avLst/>
          </a:prstGeom>
          <a:noFill/>
          <a:ln/>
        </p:spPr>
        <p:txBody>
          <a:bodyPr wrap="square" lIns="0" tIns="0" rIns="0" bIns="0" rtlCol="0" anchor="t"/>
          <a:lstStyle/>
          <a:p>
            <a:pPr marL="0" indent="0">
              <a:buNone/>
            </a:pPr>
            <a:r>
              <a:rPr lang="en-US" sz="1400" dirty="0">
                <a:solidFill>
                  <a:schemeClr val="bg1"/>
                </a:solidFill>
              </a:rPr>
              <a:t>Its own database</a:t>
            </a:r>
            <a:endParaRPr lang="en-US" sz="1400" dirty="0"/>
          </a:p>
        </p:txBody>
      </p:sp>
      <p:sp>
        <p:nvSpPr>
          <p:cNvPr id="19" name="Shape 16"/>
          <p:cNvSpPr/>
          <p:nvPr/>
        </p:nvSpPr>
        <p:spPr>
          <a:xfrm>
            <a:off x="9363456" y="2011680"/>
            <a:ext cx="256032" cy="0"/>
          </a:xfrm>
          <a:prstGeom prst="line">
            <a:avLst/>
          </a:prstGeom>
          <a:noFill/>
          <a:ln w="25400">
            <a:solidFill>
              <a:srgbClr val="1B2A34"/>
            </a:solidFill>
            <a:prstDash val="solid"/>
            <a:tailEnd type="triangle"/>
          </a:ln>
        </p:spPr>
      </p:sp>
      <p:sp>
        <p:nvSpPr>
          <p:cNvPr id="20" name="Step box"/>
          <p:cNvSpPr/>
          <p:nvPr/>
        </p:nvSpPr>
        <p:spPr>
          <a:xfrm>
            <a:off x="9619488" y="1417320"/>
            <a:ext cx="2011680" cy="1188720"/>
          </a:xfrm>
          <a:prstGeom prst="rect">
            <a:avLst/>
          </a:prstGeom>
          <a:solidFill>
            <a:srgbClr val="0F766E"/>
          </a:solidFill>
          <a:ln w="12700">
            <a:solidFill>
              <a:srgbClr val="24424D"/>
            </a:solidFill>
            <a:prstDash val="solid"/>
          </a:ln>
        </p:spPr>
      </p:sp>
      <p:sp>
        <p:nvSpPr>
          <p:cNvPr id="21" name="Text 18"/>
          <p:cNvSpPr txBox="1"/>
          <p:nvPr/>
        </p:nvSpPr>
        <p:spPr>
          <a:xfrm>
            <a:off x="9756648" y="1536192"/>
            <a:ext cx="1737360" cy="365760"/>
          </a:xfrm>
          <a:prstGeom prst="rect">
            <a:avLst/>
          </a:prstGeom>
          <a:noFill/>
          <a:ln/>
        </p:spPr>
        <p:txBody>
          <a:bodyPr wrap="square" lIns="0" tIns="0" rIns="0" bIns="0" rtlCol="0" anchor="t"/>
          <a:lstStyle/>
          <a:p>
            <a:pPr marL="0" indent="0">
              <a:buNone/>
            </a:pPr>
            <a:r>
              <a:rPr lang="en-US" sz="1600" b="1" dirty="0">
                <a:solidFill>
                  <a:schemeClr val="bg1"/>
                </a:solidFill>
              </a:rPr>
              <a:t>Analysis</a:t>
            </a:r>
            <a:endParaRPr lang="en-US" sz="1600" dirty="0"/>
          </a:p>
        </p:txBody>
      </p:sp>
      <p:sp>
        <p:nvSpPr>
          <p:cNvPr id="22" name="Text 19"/>
          <p:cNvSpPr txBox="1"/>
          <p:nvPr/>
        </p:nvSpPr>
        <p:spPr>
          <a:xfrm>
            <a:off x="9756648" y="1938528"/>
            <a:ext cx="1737360" cy="594360"/>
          </a:xfrm>
          <a:prstGeom prst="rect">
            <a:avLst/>
          </a:prstGeom>
          <a:noFill/>
          <a:ln/>
        </p:spPr>
        <p:txBody>
          <a:bodyPr wrap="square" lIns="0" tIns="0" rIns="0" bIns="0" rtlCol="0" anchor="t"/>
          <a:lstStyle/>
          <a:p>
            <a:pPr marL="0" indent="0">
              <a:buNone/>
            </a:pPr>
            <a:r>
              <a:rPr lang="en-US" sz="1400" dirty="0">
                <a:solidFill>
                  <a:schemeClr val="bg1"/>
                </a:solidFill>
              </a:rPr>
              <a:t>Candles, average, volatility</a:t>
            </a:r>
            <a:endParaRPr lang="en-US" sz="1400" dirty="0"/>
          </a:p>
        </p:txBody>
      </p:sp>
      <p:sp>
        <p:nvSpPr>
          <p:cNvPr id="23" name="Real-time card"/>
          <p:cNvSpPr/>
          <p:nvPr/>
        </p:nvSpPr>
        <p:spPr>
          <a:xfrm>
            <a:off x="548640" y="2926080"/>
            <a:ext cx="3520440" cy="2011680"/>
          </a:xfrm>
          <a:prstGeom prst="rect">
            <a:avLst/>
          </a:prstGeom>
          <a:solidFill>
            <a:schemeClr val="bg2"/>
          </a:solidFill>
          <a:ln w="12700">
            <a:solidFill>
              <a:schemeClr val="bg2"/>
            </a:solidFill>
            <a:prstDash val="solid"/>
          </a:ln>
        </p:spPr>
      </p:sp>
      <p:sp>
        <p:nvSpPr>
          <p:cNvPr id="24" name="Text 21"/>
          <p:cNvSpPr txBox="1"/>
          <p:nvPr/>
        </p:nvSpPr>
        <p:spPr>
          <a:xfrm>
            <a:off x="777240" y="3108960"/>
            <a:ext cx="3108960" cy="457200"/>
          </a:xfrm>
          <a:prstGeom prst="rect">
            <a:avLst/>
          </a:prstGeom>
          <a:noFill/>
          <a:ln/>
        </p:spPr>
        <p:txBody>
          <a:bodyPr wrap="square" lIns="0" tIns="0" rIns="0" bIns="0" rtlCol="0" anchor="t"/>
          <a:lstStyle/>
          <a:p>
            <a:pPr marL="0" indent="0">
              <a:buNone/>
            </a:pPr>
            <a:r>
              <a:rPr lang="en-US" sz="2400" b="1" dirty="0">
                <a:solidFill>
                  <a:schemeClr val="accent1"/>
                </a:solidFill>
              </a:rPr>
              <a:t>346 readings</a:t>
            </a:r>
            <a:endParaRPr lang="en-US" sz="2400" dirty="0"/>
          </a:p>
        </p:txBody>
      </p:sp>
      <p:sp>
        <p:nvSpPr>
          <p:cNvPr id="25" name="Text 22"/>
          <p:cNvSpPr txBox="1"/>
          <p:nvPr/>
        </p:nvSpPr>
        <p:spPr>
          <a:xfrm>
            <a:off x="777240" y="3703320"/>
            <a:ext cx="3108960" cy="1097280"/>
          </a:xfrm>
          <a:prstGeom prst="rect">
            <a:avLst/>
          </a:prstGeom>
          <a:noFill/>
          <a:ln/>
        </p:spPr>
        <p:txBody>
          <a:bodyPr wrap="square" lIns="0" tIns="0" rIns="0" bIns="0" rtlCol="0" anchor="t"/>
          <a:lstStyle/>
          <a:p>
            <a:pPr marL="0" indent="0">
              <a:buNone/>
            </a:pPr>
            <a:r>
              <a:rPr lang="en-US" sz="1400" dirty="0">
                <a:solidFill>
                  <a:schemeClr val="tx1"/>
                </a:solidFill>
              </a:rPr>
              <a:t>BTC-USD and ETH-USD in about 16 minutes, with no errors</a:t>
            </a:r>
            <a:endParaRPr lang="en-US" sz="1400" dirty="0"/>
          </a:p>
        </p:txBody>
      </p:sp>
      <p:sp>
        <p:nvSpPr>
          <p:cNvPr id="26" name="Real-time card"/>
          <p:cNvSpPr/>
          <p:nvPr/>
        </p:nvSpPr>
        <p:spPr>
          <a:xfrm>
            <a:off x="4334256" y="2926080"/>
            <a:ext cx="3520440" cy="2011680"/>
          </a:xfrm>
          <a:prstGeom prst="rect">
            <a:avLst/>
          </a:prstGeom>
          <a:solidFill>
            <a:schemeClr val="bg2"/>
          </a:solidFill>
          <a:ln w="12700">
            <a:solidFill>
              <a:schemeClr val="bg2"/>
            </a:solidFill>
            <a:prstDash val="solid"/>
          </a:ln>
        </p:spPr>
      </p:sp>
      <p:sp>
        <p:nvSpPr>
          <p:cNvPr id="27" name="Text 24"/>
          <p:cNvSpPr txBox="1"/>
          <p:nvPr/>
        </p:nvSpPr>
        <p:spPr>
          <a:xfrm>
            <a:off x="4562856" y="3108960"/>
            <a:ext cx="3108960" cy="457200"/>
          </a:xfrm>
          <a:prstGeom prst="rect">
            <a:avLst/>
          </a:prstGeom>
          <a:noFill/>
          <a:ln/>
        </p:spPr>
        <p:txBody>
          <a:bodyPr wrap="square" lIns="0" tIns="0" rIns="0" bIns="0" rtlCol="0" anchor="t"/>
          <a:lstStyle/>
          <a:p>
            <a:pPr marL="0" indent="0">
              <a:buNone/>
            </a:pPr>
            <a:r>
              <a:rPr lang="en-US" sz="2400" b="1" dirty="0">
                <a:solidFill>
                  <a:schemeClr val="accent1"/>
                </a:solidFill>
              </a:rPr>
              <a:t>382 ms</a:t>
            </a:r>
            <a:endParaRPr lang="en-US" sz="2400" dirty="0"/>
          </a:p>
        </p:txBody>
      </p:sp>
      <p:sp>
        <p:nvSpPr>
          <p:cNvPr id="28" name="Text 25"/>
          <p:cNvSpPr txBox="1"/>
          <p:nvPr/>
        </p:nvSpPr>
        <p:spPr>
          <a:xfrm>
            <a:off x="4562856" y="3703320"/>
            <a:ext cx="3108960" cy="1097280"/>
          </a:xfrm>
          <a:prstGeom prst="rect">
            <a:avLst/>
          </a:prstGeom>
          <a:noFill/>
          <a:ln/>
        </p:spPr>
        <p:txBody>
          <a:bodyPr wrap="square" lIns="0" tIns="0" rIns="0" bIns="0" rtlCol="0" anchor="t"/>
          <a:lstStyle/>
          <a:p>
            <a:pPr marL="0" indent="0">
              <a:buNone/>
            </a:pPr>
            <a:r>
              <a:rPr lang="en-US" sz="1400" dirty="0">
                <a:solidFill>
                  <a:schemeClr val="tx1"/>
                </a:solidFill>
              </a:rPr>
              <a:t>Average API response time. The slowest call took 3,717 ms</a:t>
            </a:r>
            <a:endParaRPr lang="en-US" sz="1400" dirty="0"/>
          </a:p>
        </p:txBody>
      </p:sp>
      <p:sp>
        <p:nvSpPr>
          <p:cNvPr id="29" name="Real-time card"/>
          <p:cNvSpPr/>
          <p:nvPr/>
        </p:nvSpPr>
        <p:spPr>
          <a:xfrm>
            <a:off x="8119872" y="2926080"/>
            <a:ext cx="3520440" cy="2011680"/>
          </a:xfrm>
          <a:prstGeom prst="rect">
            <a:avLst/>
          </a:prstGeom>
          <a:solidFill>
            <a:schemeClr val="bg2"/>
          </a:solidFill>
          <a:ln w="12700">
            <a:solidFill>
              <a:schemeClr val="bg2"/>
            </a:solidFill>
            <a:prstDash val="solid"/>
          </a:ln>
        </p:spPr>
      </p:sp>
      <p:sp>
        <p:nvSpPr>
          <p:cNvPr id="30" name="Text 27"/>
          <p:cNvSpPr txBox="1"/>
          <p:nvPr/>
        </p:nvSpPr>
        <p:spPr>
          <a:xfrm>
            <a:off x="8348472" y="3108960"/>
            <a:ext cx="3108960" cy="457200"/>
          </a:xfrm>
          <a:prstGeom prst="rect">
            <a:avLst/>
          </a:prstGeom>
          <a:noFill/>
          <a:ln/>
        </p:spPr>
        <p:txBody>
          <a:bodyPr wrap="square" lIns="0" tIns="0" rIns="0" bIns="0" rtlCol="0" anchor="t"/>
          <a:lstStyle/>
          <a:p>
            <a:pPr marL="0" indent="0">
              <a:buNone/>
            </a:pPr>
            <a:r>
              <a:rPr lang="en-US" sz="2400" b="1" dirty="0">
                <a:solidFill>
                  <a:schemeClr val="accent1"/>
                </a:solidFill>
              </a:rPr>
              <a:t>What we derive</a:t>
            </a:r>
            <a:endParaRPr lang="en-US" sz="2400" dirty="0"/>
          </a:p>
        </p:txBody>
      </p:sp>
      <p:sp>
        <p:nvSpPr>
          <p:cNvPr id="31" name="Text 28"/>
          <p:cNvSpPr txBox="1"/>
          <p:nvPr/>
        </p:nvSpPr>
        <p:spPr>
          <a:xfrm>
            <a:off x="8348472" y="3703320"/>
            <a:ext cx="3108960" cy="1097280"/>
          </a:xfrm>
          <a:prstGeom prst="rect">
            <a:avLst/>
          </a:prstGeom>
          <a:noFill/>
          <a:ln/>
        </p:spPr>
        <p:txBody>
          <a:bodyPr wrap="square" lIns="0" tIns="0" rIns="0" bIns="0" rtlCol="0" anchor="t"/>
          <a:lstStyle/>
          <a:p>
            <a:pPr marL="0" indent="0">
              <a:buNone/>
            </a:pPr>
            <a:r>
              <a:rPr lang="en-US" sz="1400" dirty="0">
                <a:solidFill>
                  <a:schemeClr val="tx1"/>
                </a:solidFill>
              </a:rPr>
              <a:t>Change since start, one-minute candles, moving average, volatility, biggest jumps</a:t>
            </a:r>
            <a:endParaRPr lang="en-US" sz="1400" dirty="0"/>
          </a:p>
        </p:txBody>
      </p:sp>
      <p:sp>
        <p:nvSpPr>
          <p:cNvPr id="32" name="Demo bar"/>
          <p:cNvSpPr/>
          <p:nvPr/>
        </p:nvSpPr>
        <p:spPr>
          <a:xfrm>
            <a:off x="548640" y="5212080"/>
            <a:ext cx="11091672" cy="1051560"/>
          </a:xfrm>
          <a:prstGeom prst="rect">
            <a:avLst/>
          </a:prstGeom>
          <a:solidFill>
            <a:schemeClr val="tx1"/>
          </a:solidFill>
          <a:ln w="12700">
            <a:solidFill>
              <a:schemeClr val="bg2"/>
            </a:solidFill>
            <a:prstDash val="solid"/>
          </a:ln>
        </p:spPr>
      </p:sp>
      <p:pic>
        <p:nvPicPr>
          <p:cNvPr id="33" name="Image 0" descr="preencoded.png"/>
          <p:cNvPicPr>
            <a:picLocks noChangeAspect="1"/>
          </p:cNvPicPr>
          <p:nvPr/>
        </p:nvPicPr>
        <p:blipFill>
          <a:blip r:embed="rId3"/>
          <a:stretch>
            <a:fillRect/>
          </a:stretch>
        </p:blipFill>
        <p:spPr>
          <a:xfrm>
            <a:off x="777240" y="5509260"/>
            <a:ext cx="457200" cy="457200"/>
          </a:xfrm>
          <a:prstGeom prst="rect">
            <a:avLst/>
          </a:prstGeom>
        </p:spPr>
      </p:pic>
      <p:sp>
        <p:nvSpPr>
          <p:cNvPr id="34" name="Text 30"/>
          <p:cNvSpPr txBox="1"/>
          <p:nvPr/>
        </p:nvSpPr>
        <p:spPr>
          <a:xfrm>
            <a:off x="1417320" y="5212080"/>
            <a:ext cx="2788920" cy="1051560"/>
          </a:xfrm>
          <a:prstGeom prst="rect">
            <a:avLst/>
          </a:prstGeom>
          <a:noFill/>
          <a:ln/>
        </p:spPr>
        <p:txBody>
          <a:bodyPr wrap="square" lIns="0" tIns="0" rIns="0" bIns="0" rtlCol="0" anchor="ctr"/>
          <a:lstStyle/>
          <a:p>
            <a:pPr marL="0" indent="0">
              <a:buNone/>
            </a:pPr>
            <a:r>
              <a:rPr lang="en-US" sz="1400" dirty="0">
                <a:solidFill>
                  <a:schemeClr val="bg1"/>
                </a:solidFill>
              </a:rPr>
              <a:t>Terminal in realtime_rest_demo/</a:t>
            </a:r>
            <a:endParaRPr lang="en-US" sz="1400" dirty="0"/>
          </a:p>
        </p:txBody>
      </p:sp>
      <p:pic>
        <p:nvPicPr>
          <p:cNvPr id="35" name="Image 1" descr="preencoded.png"/>
          <p:cNvPicPr>
            <a:picLocks noChangeAspect="1"/>
          </p:cNvPicPr>
          <p:nvPr/>
        </p:nvPicPr>
        <p:blipFill>
          <a:blip r:embed="rId4"/>
          <a:stretch>
            <a:fillRect/>
          </a:stretch>
        </p:blipFill>
        <p:spPr>
          <a:xfrm>
            <a:off x="4434840" y="5509260"/>
            <a:ext cx="457200" cy="457200"/>
          </a:xfrm>
          <a:prstGeom prst="rect">
            <a:avLst/>
          </a:prstGeom>
        </p:spPr>
      </p:pic>
      <p:sp>
        <p:nvSpPr>
          <p:cNvPr id="36" name="Text 31"/>
          <p:cNvSpPr txBox="1"/>
          <p:nvPr/>
        </p:nvSpPr>
        <p:spPr>
          <a:xfrm>
            <a:off x="5074920" y="5212080"/>
            <a:ext cx="2788920" cy="1051560"/>
          </a:xfrm>
          <a:prstGeom prst="rect">
            <a:avLst/>
          </a:prstGeom>
          <a:noFill/>
          <a:ln/>
        </p:spPr>
        <p:txBody>
          <a:bodyPr wrap="square" lIns="0" tIns="0" rIns="0" bIns="0" rtlCol="0" anchor="ctr"/>
          <a:lstStyle/>
          <a:p>
            <a:pPr marL="0" indent="0">
              <a:buNone/>
            </a:pPr>
            <a:r>
              <a:rPr lang="en-US" sz="1400" dirty="0">
                <a:solidFill>
                  <a:schemeClr val="bg1"/>
                </a:solidFill>
              </a:rPr>
              <a:t>Run ingest_rest_api.py, then live_queries.sql</a:t>
            </a:r>
            <a:endParaRPr lang="en-US" sz="1400" dirty="0"/>
          </a:p>
        </p:txBody>
      </p:sp>
      <p:pic>
        <p:nvPicPr>
          <p:cNvPr id="37" name="Image 2" descr="preencoded.png"/>
          <p:cNvPicPr>
            <a:picLocks noChangeAspect="1"/>
          </p:cNvPicPr>
          <p:nvPr/>
        </p:nvPicPr>
        <p:blipFill>
          <a:blip r:embed="rId5"/>
          <a:stretch>
            <a:fillRect/>
          </a:stretch>
        </p:blipFill>
        <p:spPr>
          <a:xfrm>
            <a:off x="8092440" y="5509260"/>
            <a:ext cx="457200" cy="457200"/>
          </a:xfrm>
          <a:prstGeom prst="rect">
            <a:avLst/>
          </a:prstGeom>
        </p:spPr>
      </p:pic>
      <p:sp>
        <p:nvSpPr>
          <p:cNvPr id="38" name="Text 32"/>
          <p:cNvSpPr txBox="1"/>
          <p:nvPr/>
        </p:nvSpPr>
        <p:spPr>
          <a:xfrm>
            <a:off x="8732520" y="5212080"/>
            <a:ext cx="2788920" cy="1051560"/>
          </a:xfrm>
          <a:prstGeom prst="rect">
            <a:avLst/>
          </a:prstGeom>
          <a:noFill/>
          <a:ln/>
        </p:spPr>
        <p:txBody>
          <a:bodyPr wrap="square" lIns="0" tIns="0" rIns="0" bIns="0" rtlCol="0" anchor="ctr"/>
          <a:lstStyle/>
          <a:p>
            <a:pPr marL="0" indent="0">
              <a:buNone/>
            </a:pPr>
            <a:r>
              <a:rPr lang="en-US" sz="1400" dirty="0">
                <a:solidFill>
                  <a:schemeClr val="bg1"/>
                </a:solidFill>
              </a:rPr>
              <a:t>Prices arrive every 5 seconds; queries update</a:t>
            </a:r>
            <a:endParaRPr lang="en-US" sz="1400" dirty="0"/>
          </a:p>
        </p:txBody>
      </p:sp>
      <p:sp>
        <p:nvSpPr>
          <p:cNvPr id="2"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365760"/>
            <a:ext cx="10149840" cy="777240"/>
          </a:xfrm>
          <a:prstGeom prst="rect">
            <a:avLst/>
          </a:prstGeom>
          <a:noFill/>
          <a:ln/>
        </p:spPr>
        <p:txBody>
          <a:bodyPr wrap="square" lIns="0" tIns="0" rIns="0" bIns="0" rtlCol="0" anchor="ctr"/>
          <a:lstStyle/>
          <a:p>
            <a:pPr marL="0" indent="0" algn="l">
              <a:buNone/>
            </a:pPr>
            <a:r>
              <a:rPr lang="en-US" sz="3600" b="1" dirty="0">
                <a:solidFill>
                  <a:schemeClr val="tx1"/>
                </a:solidFill>
              </a:rPr>
              <a:t>Business analytics enablement</a:t>
            </a:r>
            <a:endParaRPr lang="en-US" sz="36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4608576"/>
        </p:xfrm>
        <a:graphic>
          <a:graphicData uri="http://schemas.openxmlformats.org/drawingml/2006/table">
            <a:tbl>
              <a:tblPr/>
              <a:tblGrid>
                <a:gridCol w="4754880">
                  <a:extLst>
                    <a:ext uri="{9D8B030D-6E8A-4147-A177-3AD203B41FA5}">
                      <a16:colId xmlns:a16="http://schemas.microsoft.com/office/drawing/2014/main" val="20000"/>
                    </a:ext>
                  </a:extLst>
                </a:gridCol>
                <a:gridCol w="6336792">
                  <a:extLst>
                    <a:ext uri="{9D8B030D-6E8A-4147-A177-3AD203B41FA5}">
                      <a16:colId xmlns:a16="http://schemas.microsoft.com/office/drawing/2014/main" val="20001"/>
                    </a:ext>
                  </a:extLst>
                </a:gridCol>
              </a:tblGrid>
              <a:tr h="658368">
                <a:tc>
                  <a:txBody>
                    <a:bodyPr/>
                    <a:lstStyle/>
                    <a:p>
                      <a:pPr marL="0" indent="0">
                        <a:buNone/>
                      </a:pPr>
                      <a:r>
                        <a:rPr lang="en-US" sz="1600" b="1" dirty="0">
                          <a:solidFill>
                            <a:schemeClr val="bg1"/>
                          </a:solidFill>
                        </a:rPr>
                        <a:t>The use case says analytics teams can…</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buNone/>
                      </a:pPr>
                      <a:r>
                        <a:rPr lang="en-US" sz="1600" b="1" dirty="0">
                          <a:solidFill>
                            <a:schemeClr val="bg1"/>
                          </a:solidFill>
                        </a:rPr>
                        <a:t>Supported by</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58368">
                <a:tc>
                  <a:txBody>
                    <a:bodyPr/>
                    <a:lstStyle/>
                    <a:p>
                      <a:pPr marL="0" indent="0">
                        <a:buNone/>
                      </a:pPr>
                      <a:r>
                        <a:rPr lang="en-US" sz="1600" dirty="0">
                          <a:solidFill>
                            <a:schemeClr val="tx1"/>
                          </a:solidFill>
                        </a:rPr>
                        <a:t>Analyze enterprise operational performance</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FactManufacturing: time, energy and status by machine</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1"/>
                  </a:ext>
                </a:extLst>
              </a:tr>
              <a:tr h="658368">
                <a:tc>
                  <a:txBody>
                    <a:bodyPr/>
                    <a:lstStyle/>
                    <a:p>
                      <a:pPr marL="0" indent="0">
                        <a:buNone/>
                      </a:pPr>
                      <a:r>
                        <a:rPr lang="en-US" sz="1600" dirty="0">
                          <a:solidFill>
                            <a:schemeClr val="tx1"/>
                          </a:solidFill>
                        </a:rPr>
                        <a:t>Monitor procurement, inventory and warehouse</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Spend by supplier, demand by month, stock and stockouts by zone</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2"/>
                  </a:ext>
                </a:extLst>
              </a:tr>
              <a:tr h="658368">
                <a:tc>
                  <a:txBody>
                    <a:bodyPr/>
                    <a:lstStyle/>
                    <a:p>
                      <a:pPr marL="0" indent="0">
                        <a:buNone/>
                      </a:pPr>
                      <a:r>
                        <a:rPr lang="en-US" sz="1600" dirty="0">
                          <a:solidFill>
                            <a:schemeClr val="tx1"/>
                          </a:solidFill>
                        </a:rPr>
                        <a:t>Evaluate sales and revenue performance</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Sales by month, category and age band, plus the real-time feed</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3"/>
                  </a:ext>
                </a:extLst>
              </a:tr>
              <a:tr h="658368">
                <a:tc>
                  <a:txBody>
                    <a:bodyPr/>
                    <a:lstStyle/>
                    <a:p>
                      <a:pPr marL="0" indent="0">
                        <a:buNone/>
                      </a:pPr>
                      <a:r>
                        <a:rPr lang="en-US" sz="1600" dirty="0">
                          <a:solidFill>
                            <a:schemeClr val="tx1"/>
                          </a:solidFill>
                        </a:rPr>
                        <a:t>Analyze financial transactions and resource use</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Finance by account type; receivables overdue by region</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4"/>
                  </a:ext>
                </a:extLst>
              </a:tr>
              <a:tr h="658368">
                <a:tc>
                  <a:txBody>
                    <a:bodyPr/>
                    <a:lstStyle/>
                    <a:p>
                      <a:pPr marL="0" indent="0">
                        <a:buNone/>
                      </a:pPr>
                      <a:r>
                        <a:rPr lang="en-US" sz="1600" dirty="0">
                          <a:solidFill>
                            <a:schemeClr val="tx1"/>
                          </a:solidFill>
                        </a:rPr>
                        <a:t>Support cross-functional reporting</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Sales against procurement by month, where periods overlap</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5"/>
                  </a:ext>
                </a:extLst>
              </a:tr>
              <a:tr h="658368">
                <a:tc>
                  <a:txBody>
                    <a:bodyPr/>
                    <a:lstStyle/>
                    <a:p>
                      <a:pPr marL="0" indent="0">
                        <a:buNone/>
                      </a:pPr>
                      <a:r>
                        <a:rPr lang="en-US" sz="1600" dirty="0">
                          <a:solidFill>
                            <a:schemeClr val="tx1"/>
                          </a:solidFill>
                        </a:rPr>
                        <a:t>Generate executive ERP dashboards</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11 dashboard views, a 9-page design and two Tableau dashboards</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365760"/>
            <a:ext cx="10149840" cy="777240"/>
          </a:xfrm>
          <a:prstGeom prst="rect">
            <a:avLst/>
          </a:prstGeom>
          <a:noFill/>
          <a:ln/>
        </p:spPr>
        <p:txBody>
          <a:bodyPr wrap="square" lIns="0" tIns="0" rIns="0" bIns="0" rtlCol="0" anchor="ctr"/>
          <a:lstStyle/>
          <a:p>
            <a:pPr marL="0" indent="0" algn="l">
              <a:buNone/>
            </a:pPr>
            <a:r>
              <a:rPr lang="en-US" sz="3600" b="1" dirty="0">
                <a:solidFill>
                  <a:schemeClr val="tx1"/>
                </a:solidFill>
              </a:rPr>
              <a:t>Deliverables</a:t>
            </a:r>
            <a:endParaRPr lang="en-US" sz="3600" dirty="0"/>
          </a:p>
        </p:txBody>
      </p:sp>
      <p:sp>
        <p:nvSpPr>
          <p:cNvPr id="4" name="Deliverable card"/>
          <p:cNvSpPr/>
          <p:nvPr/>
        </p:nvSpPr>
        <p:spPr>
          <a:xfrm>
            <a:off x="548640" y="1463040"/>
            <a:ext cx="3520440" cy="2194560"/>
          </a:xfrm>
          <a:prstGeom prst="rect">
            <a:avLst/>
          </a:prstGeom>
          <a:solidFill>
            <a:schemeClr val="bg2"/>
          </a:solidFill>
          <a:ln w="12700">
            <a:solidFill>
              <a:schemeClr val="bg2"/>
            </a:solidFill>
            <a:prstDash val="solid"/>
          </a:ln>
        </p:spPr>
      </p:sp>
      <p:sp>
        <p:nvSpPr>
          <p:cNvPr id="5" name="Shape 2"/>
          <p:cNvSpPr/>
          <p:nvPr/>
        </p:nvSpPr>
        <p:spPr>
          <a:xfrm>
            <a:off x="822960" y="1737360"/>
            <a:ext cx="731520" cy="731520"/>
          </a:xfrm>
          <a:prstGeom prst="ellipse">
            <a:avLst/>
          </a:prstGeom>
          <a:solidFill>
            <a:srgbClr val="0F766E"/>
          </a:solidFill>
          <a:ln w="12700">
            <a:solidFill>
              <a:srgbClr val="0F766E"/>
            </a:solidFill>
            <a:prstDash val="solid"/>
          </a:ln>
        </p:spPr>
      </p:sp>
      <p:pic>
        <p:nvPicPr>
          <p:cNvPr id="6" name="Image 0" descr="preencoded.png"/>
          <p:cNvPicPr>
            <a:picLocks noChangeAspect="1"/>
          </p:cNvPicPr>
          <p:nvPr/>
        </p:nvPicPr>
        <p:blipFill>
          <a:blip r:embed="rId3"/>
          <a:stretch>
            <a:fillRect/>
          </a:stretch>
        </p:blipFill>
        <p:spPr>
          <a:xfrm>
            <a:off x="1013155" y="1927555"/>
            <a:ext cx="351130" cy="351130"/>
          </a:xfrm>
          <a:prstGeom prst="rect">
            <a:avLst/>
          </a:prstGeom>
        </p:spPr>
      </p:pic>
      <p:sp>
        <p:nvSpPr>
          <p:cNvPr id="7" name="Text 3"/>
          <p:cNvSpPr txBox="1"/>
          <p:nvPr/>
        </p:nvSpPr>
        <p:spPr>
          <a:xfrm>
            <a:off x="822960" y="2651760"/>
            <a:ext cx="3017520" cy="365760"/>
          </a:xfrm>
          <a:prstGeom prst="rect">
            <a:avLst/>
          </a:prstGeom>
          <a:noFill/>
          <a:ln/>
        </p:spPr>
        <p:txBody>
          <a:bodyPr wrap="square" lIns="0" tIns="0" rIns="0" bIns="0" rtlCol="0" anchor="t"/>
          <a:lstStyle/>
          <a:p>
            <a:pPr marL="0" indent="0">
              <a:buNone/>
            </a:pPr>
            <a:r>
              <a:rPr lang="en-US" sz="1800" b="1" dirty="0">
                <a:solidFill>
                  <a:schemeClr val="tx1"/>
                </a:solidFill>
              </a:rPr>
              <a:t>Data Profiling Report</a:t>
            </a:r>
            <a:endParaRPr lang="en-US" sz="1800" dirty="0"/>
          </a:p>
        </p:txBody>
      </p:sp>
      <p:sp>
        <p:nvSpPr>
          <p:cNvPr id="8" name="Text 4"/>
          <p:cNvSpPr txBox="1"/>
          <p:nvPr/>
        </p:nvSpPr>
        <p:spPr>
          <a:xfrm>
            <a:off x="822960" y="3063240"/>
            <a:ext cx="3017520" cy="502920"/>
          </a:xfrm>
          <a:prstGeom prst="rect">
            <a:avLst/>
          </a:prstGeom>
          <a:noFill/>
          <a:ln/>
        </p:spPr>
        <p:txBody>
          <a:bodyPr wrap="square" lIns="0" tIns="0" rIns="0" bIns="0" rtlCol="0" anchor="t"/>
          <a:lstStyle/>
          <a:p>
            <a:pPr marL="0" indent="0">
              <a:buNone/>
            </a:pPr>
            <a:r>
              <a:rPr lang="en-US" sz="1400" dirty="0">
                <a:solidFill>
                  <a:schemeClr val="tx2"/>
                </a:solidFill>
              </a:rPr>
              <a:t>docs/Data_Profiling_Report.md and 2 notebooks</a:t>
            </a:r>
            <a:endParaRPr lang="en-US" sz="1400" dirty="0"/>
          </a:p>
        </p:txBody>
      </p:sp>
      <p:sp>
        <p:nvSpPr>
          <p:cNvPr id="9" name="Deliverable card"/>
          <p:cNvSpPr/>
          <p:nvPr/>
        </p:nvSpPr>
        <p:spPr>
          <a:xfrm>
            <a:off x="4334256" y="1463040"/>
            <a:ext cx="3520440" cy="2194560"/>
          </a:xfrm>
          <a:prstGeom prst="rect">
            <a:avLst/>
          </a:prstGeom>
          <a:solidFill>
            <a:schemeClr val="bg2"/>
          </a:solidFill>
          <a:ln w="12700">
            <a:solidFill>
              <a:schemeClr val="bg2"/>
            </a:solidFill>
            <a:prstDash val="solid"/>
          </a:ln>
        </p:spPr>
      </p:sp>
      <p:sp>
        <p:nvSpPr>
          <p:cNvPr id="10" name="Shape 6"/>
          <p:cNvSpPr/>
          <p:nvPr/>
        </p:nvSpPr>
        <p:spPr>
          <a:xfrm>
            <a:off x="4608576" y="1737360"/>
            <a:ext cx="731520" cy="731520"/>
          </a:xfrm>
          <a:prstGeom prst="ellipse">
            <a:avLst/>
          </a:prstGeom>
          <a:solidFill>
            <a:srgbClr val="0F766E"/>
          </a:solidFill>
          <a:ln w="12700">
            <a:solidFill>
              <a:srgbClr val="0F766E"/>
            </a:solidFill>
            <a:prstDash val="solid"/>
          </a:ln>
        </p:spPr>
      </p:sp>
      <p:pic>
        <p:nvPicPr>
          <p:cNvPr id="11" name="Image 1" descr="preencoded.png"/>
          <p:cNvPicPr>
            <a:picLocks noChangeAspect="1"/>
          </p:cNvPicPr>
          <p:nvPr/>
        </p:nvPicPr>
        <p:blipFill>
          <a:blip r:embed="rId4"/>
          <a:stretch>
            <a:fillRect/>
          </a:stretch>
        </p:blipFill>
        <p:spPr>
          <a:xfrm>
            <a:off x="4798771" y="1927555"/>
            <a:ext cx="351130" cy="351130"/>
          </a:xfrm>
          <a:prstGeom prst="rect">
            <a:avLst/>
          </a:prstGeom>
        </p:spPr>
      </p:pic>
      <p:sp>
        <p:nvSpPr>
          <p:cNvPr id="12" name="Text 7"/>
          <p:cNvSpPr txBox="1"/>
          <p:nvPr/>
        </p:nvSpPr>
        <p:spPr>
          <a:xfrm>
            <a:off x="4608576" y="2651760"/>
            <a:ext cx="3017520" cy="365760"/>
          </a:xfrm>
          <a:prstGeom prst="rect">
            <a:avLst/>
          </a:prstGeom>
          <a:noFill/>
          <a:ln/>
        </p:spPr>
        <p:txBody>
          <a:bodyPr wrap="square" lIns="0" tIns="0" rIns="0" bIns="0" rtlCol="0" anchor="t"/>
          <a:lstStyle/>
          <a:p>
            <a:pPr marL="0" indent="0">
              <a:buNone/>
            </a:pPr>
            <a:r>
              <a:rPr lang="en-US" sz="1800" b="1" dirty="0">
                <a:solidFill>
                  <a:schemeClr val="tx1"/>
                </a:solidFill>
              </a:rPr>
              <a:t>Data Quality Report</a:t>
            </a:r>
            <a:endParaRPr lang="en-US" sz="1800" dirty="0"/>
          </a:p>
        </p:txBody>
      </p:sp>
      <p:sp>
        <p:nvSpPr>
          <p:cNvPr id="13" name="Text 8"/>
          <p:cNvSpPr txBox="1"/>
          <p:nvPr/>
        </p:nvSpPr>
        <p:spPr>
          <a:xfrm>
            <a:off x="4608576" y="3063240"/>
            <a:ext cx="3017520" cy="502920"/>
          </a:xfrm>
          <a:prstGeom prst="rect">
            <a:avLst/>
          </a:prstGeom>
          <a:noFill/>
          <a:ln/>
        </p:spPr>
        <p:txBody>
          <a:bodyPr wrap="square" lIns="0" tIns="0" rIns="0" bIns="0" rtlCol="0" anchor="t"/>
          <a:lstStyle/>
          <a:p>
            <a:pPr marL="0" indent="0">
              <a:buNone/>
            </a:pPr>
            <a:r>
              <a:rPr lang="en-US" sz="1400" dirty="0">
                <a:solidFill>
                  <a:schemeClr val="tx2"/>
                </a:solidFill>
              </a:rPr>
              <a:t>docs/Data_Quality_Report.md with 11 findings</a:t>
            </a:r>
            <a:endParaRPr lang="en-US" sz="1400" dirty="0"/>
          </a:p>
        </p:txBody>
      </p:sp>
      <p:sp>
        <p:nvSpPr>
          <p:cNvPr id="14" name="Deliverable card"/>
          <p:cNvSpPr/>
          <p:nvPr/>
        </p:nvSpPr>
        <p:spPr>
          <a:xfrm>
            <a:off x="8119872" y="1463040"/>
            <a:ext cx="3520440" cy="2194560"/>
          </a:xfrm>
          <a:prstGeom prst="rect">
            <a:avLst/>
          </a:prstGeom>
          <a:solidFill>
            <a:schemeClr val="bg2"/>
          </a:solidFill>
          <a:ln w="12700">
            <a:solidFill>
              <a:schemeClr val="bg2"/>
            </a:solidFill>
            <a:prstDash val="solid"/>
          </a:ln>
        </p:spPr>
      </p:sp>
      <p:sp>
        <p:nvSpPr>
          <p:cNvPr id="15" name="Shape 10"/>
          <p:cNvSpPr/>
          <p:nvPr/>
        </p:nvSpPr>
        <p:spPr>
          <a:xfrm>
            <a:off x="8394192" y="1737360"/>
            <a:ext cx="731520" cy="731520"/>
          </a:xfrm>
          <a:prstGeom prst="ellipse">
            <a:avLst/>
          </a:prstGeom>
          <a:solidFill>
            <a:srgbClr val="0F766E"/>
          </a:solidFill>
          <a:ln w="12700">
            <a:solidFill>
              <a:srgbClr val="0F766E"/>
            </a:solidFill>
            <a:prstDash val="solid"/>
          </a:ln>
        </p:spPr>
      </p:sp>
      <p:pic>
        <p:nvPicPr>
          <p:cNvPr id="16" name="Image 2" descr="preencoded.png"/>
          <p:cNvPicPr>
            <a:picLocks noChangeAspect="1"/>
          </p:cNvPicPr>
          <p:nvPr/>
        </p:nvPicPr>
        <p:blipFill>
          <a:blip r:embed="rId5"/>
          <a:stretch>
            <a:fillRect/>
          </a:stretch>
        </p:blipFill>
        <p:spPr>
          <a:xfrm>
            <a:off x="8584387" y="1927555"/>
            <a:ext cx="351130" cy="351130"/>
          </a:xfrm>
          <a:prstGeom prst="rect">
            <a:avLst/>
          </a:prstGeom>
        </p:spPr>
      </p:pic>
      <p:sp>
        <p:nvSpPr>
          <p:cNvPr id="17" name="Text 11"/>
          <p:cNvSpPr txBox="1"/>
          <p:nvPr/>
        </p:nvSpPr>
        <p:spPr>
          <a:xfrm>
            <a:off x="8394192" y="2651760"/>
            <a:ext cx="3017520" cy="365760"/>
          </a:xfrm>
          <a:prstGeom prst="rect">
            <a:avLst/>
          </a:prstGeom>
          <a:noFill/>
          <a:ln/>
        </p:spPr>
        <p:txBody>
          <a:bodyPr wrap="square" lIns="0" tIns="0" rIns="0" bIns="0" rtlCol="0" anchor="t"/>
          <a:lstStyle/>
          <a:p>
            <a:pPr marL="0" indent="0">
              <a:buNone/>
            </a:pPr>
            <a:r>
              <a:rPr lang="en-US" sz="1800" b="1" dirty="0">
                <a:solidFill>
                  <a:schemeClr val="tx1"/>
                </a:solidFill>
              </a:rPr>
              <a:t>Star Schema</a:t>
            </a:r>
            <a:endParaRPr lang="en-US" sz="1800" dirty="0"/>
          </a:p>
        </p:txBody>
      </p:sp>
      <p:sp>
        <p:nvSpPr>
          <p:cNvPr id="18" name="Text 12"/>
          <p:cNvSpPr txBox="1"/>
          <p:nvPr/>
        </p:nvSpPr>
        <p:spPr>
          <a:xfrm>
            <a:off x="8394192" y="3063240"/>
            <a:ext cx="3017520" cy="502920"/>
          </a:xfrm>
          <a:prstGeom prst="rect">
            <a:avLst/>
          </a:prstGeom>
          <a:noFill/>
          <a:ln/>
        </p:spPr>
        <p:txBody>
          <a:bodyPr wrap="square" lIns="0" tIns="0" rIns="0" bIns="0" rtlCol="0" anchor="t"/>
          <a:lstStyle/>
          <a:p>
            <a:pPr marL="0" indent="0">
              <a:buNone/>
            </a:pPr>
            <a:r>
              <a:rPr lang="en-US" sz="1400" dirty="0">
                <a:solidFill>
                  <a:schemeClr val="tx2"/>
                </a:solidFill>
              </a:rPr>
              <a:t>15 tables, ERD saved in docs/</a:t>
            </a:r>
            <a:endParaRPr lang="en-US" sz="1400" dirty="0"/>
          </a:p>
        </p:txBody>
      </p:sp>
      <p:sp>
        <p:nvSpPr>
          <p:cNvPr id="19" name="Deliverable card"/>
          <p:cNvSpPr/>
          <p:nvPr/>
        </p:nvSpPr>
        <p:spPr>
          <a:xfrm>
            <a:off x="548640" y="3886200"/>
            <a:ext cx="3520440" cy="2194560"/>
          </a:xfrm>
          <a:prstGeom prst="rect">
            <a:avLst/>
          </a:prstGeom>
          <a:solidFill>
            <a:schemeClr val="bg2"/>
          </a:solidFill>
          <a:ln w="12700">
            <a:solidFill>
              <a:schemeClr val="bg2"/>
            </a:solidFill>
            <a:prstDash val="solid"/>
          </a:ln>
        </p:spPr>
      </p:sp>
      <p:sp>
        <p:nvSpPr>
          <p:cNvPr id="20" name="Shape 14"/>
          <p:cNvSpPr/>
          <p:nvPr/>
        </p:nvSpPr>
        <p:spPr>
          <a:xfrm>
            <a:off x="822960" y="4160520"/>
            <a:ext cx="731520" cy="731520"/>
          </a:xfrm>
          <a:prstGeom prst="ellipse">
            <a:avLst/>
          </a:prstGeom>
          <a:solidFill>
            <a:srgbClr val="0F766E"/>
          </a:solidFill>
          <a:ln w="12700">
            <a:solidFill>
              <a:srgbClr val="0F766E"/>
            </a:solidFill>
            <a:prstDash val="solid"/>
          </a:ln>
        </p:spPr>
      </p:sp>
      <p:pic>
        <p:nvPicPr>
          <p:cNvPr id="21" name="Image 3" descr="preencoded.png"/>
          <p:cNvPicPr>
            <a:picLocks noChangeAspect="1"/>
          </p:cNvPicPr>
          <p:nvPr/>
        </p:nvPicPr>
        <p:blipFill>
          <a:blip r:embed="rId6"/>
          <a:stretch>
            <a:fillRect/>
          </a:stretch>
        </p:blipFill>
        <p:spPr>
          <a:xfrm>
            <a:off x="1013155" y="4350715"/>
            <a:ext cx="351130" cy="351130"/>
          </a:xfrm>
          <a:prstGeom prst="rect">
            <a:avLst/>
          </a:prstGeom>
        </p:spPr>
      </p:pic>
      <p:sp>
        <p:nvSpPr>
          <p:cNvPr id="22" name="Text 15"/>
          <p:cNvSpPr txBox="1"/>
          <p:nvPr/>
        </p:nvSpPr>
        <p:spPr>
          <a:xfrm>
            <a:off x="822960" y="5074920"/>
            <a:ext cx="3017520" cy="365760"/>
          </a:xfrm>
          <a:prstGeom prst="rect">
            <a:avLst/>
          </a:prstGeom>
          <a:noFill/>
          <a:ln/>
        </p:spPr>
        <p:txBody>
          <a:bodyPr wrap="square" lIns="0" tIns="0" rIns="0" bIns="0" rtlCol="0" anchor="t"/>
          <a:lstStyle/>
          <a:p>
            <a:pPr marL="0" indent="0">
              <a:buNone/>
            </a:pPr>
            <a:r>
              <a:rPr lang="en-US" sz="1800" b="1" dirty="0">
                <a:solidFill>
                  <a:schemeClr val="tx1"/>
                </a:solidFill>
              </a:rPr>
              <a:t>PostgreSQL Data Warehouse</a:t>
            </a:r>
            <a:endParaRPr lang="en-US" sz="1800" dirty="0"/>
          </a:p>
        </p:txBody>
      </p:sp>
      <p:sp>
        <p:nvSpPr>
          <p:cNvPr id="23" name="Text 16"/>
          <p:cNvSpPr txBox="1"/>
          <p:nvPr/>
        </p:nvSpPr>
        <p:spPr>
          <a:xfrm>
            <a:off x="822960" y="5486400"/>
            <a:ext cx="3017520" cy="502920"/>
          </a:xfrm>
          <a:prstGeom prst="rect">
            <a:avLst/>
          </a:prstGeom>
          <a:noFill/>
          <a:ln/>
        </p:spPr>
        <p:txBody>
          <a:bodyPr wrap="square" lIns="0" tIns="0" rIns="0" bIns="0" rtlCol="0" anchor="t"/>
          <a:lstStyle/>
          <a:p>
            <a:pPr marL="0" indent="0">
              <a:buNone/>
            </a:pPr>
            <a:r>
              <a:rPr lang="en-US" sz="1400" dirty="0">
                <a:solidFill>
                  <a:schemeClr val="tx2"/>
                </a:solidFill>
              </a:rPr>
              <a:t>uc15_dw loaded and reconciled</a:t>
            </a:r>
            <a:endParaRPr lang="en-US" sz="1400" dirty="0"/>
          </a:p>
        </p:txBody>
      </p:sp>
      <p:sp>
        <p:nvSpPr>
          <p:cNvPr id="24" name="Deliverable card"/>
          <p:cNvSpPr/>
          <p:nvPr/>
        </p:nvSpPr>
        <p:spPr>
          <a:xfrm>
            <a:off x="4334256" y="3886200"/>
            <a:ext cx="3520440" cy="2194560"/>
          </a:xfrm>
          <a:prstGeom prst="rect">
            <a:avLst/>
          </a:prstGeom>
          <a:solidFill>
            <a:schemeClr val="bg2"/>
          </a:solidFill>
          <a:ln w="12700">
            <a:solidFill>
              <a:schemeClr val="bg2"/>
            </a:solidFill>
            <a:prstDash val="solid"/>
          </a:ln>
        </p:spPr>
      </p:sp>
      <p:sp>
        <p:nvSpPr>
          <p:cNvPr id="25" name="Shape 18"/>
          <p:cNvSpPr/>
          <p:nvPr/>
        </p:nvSpPr>
        <p:spPr>
          <a:xfrm>
            <a:off x="4608576" y="4160520"/>
            <a:ext cx="731520" cy="731520"/>
          </a:xfrm>
          <a:prstGeom prst="ellipse">
            <a:avLst/>
          </a:prstGeom>
          <a:solidFill>
            <a:srgbClr val="0F766E"/>
          </a:solidFill>
          <a:ln w="12700">
            <a:solidFill>
              <a:srgbClr val="0F766E"/>
            </a:solidFill>
            <a:prstDash val="solid"/>
          </a:ln>
        </p:spPr>
      </p:sp>
      <p:pic>
        <p:nvPicPr>
          <p:cNvPr id="26" name="Image 4" descr="preencoded.png"/>
          <p:cNvPicPr>
            <a:picLocks noChangeAspect="1"/>
          </p:cNvPicPr>
          <p:nvPr/>
        </p:nvPicPr>
        <p:blipFill>
          <a:blip r:embed="rId7"/>
          <a:stretch>
            <a:fillRect/>
          </a:stretch>
        </p:blipFill>
        <p:spPr>
          <a:xfrm>
            <a:off x="4798771" y="4350715"/>
            <a:ext cx="351130" cy="351130"/>
          </a:xfrm>
          <a:prstGeom prst="rect">
            <a:avLst/>
          </a:prstGeom>
        </p:spPr>
      </p:pic>
      <p:sp>
        <p:nvSpPr>
          <p:cNvPr id="27" name="Text 19"/>
          <p:cNvSpPr txBox="1"/>
          <p:nvPr/>
        </p:nvSpPr>
        <p:spPr>
          <a:xfrm>
            <a:off x="4608576" y="5074920"/>
            <a:ext cx="3017520" cy="365760"/>
          </a:xfrm>
          <a:prstGeom prst="rect">
            <a:avLst/>
          </a:prstGeom>
          <a:noFill/>
          <a:ln/>
        </p:spPr>
        <p:txBody>
          <a:bodyPr wrap="square" lIns="0" tIns="0" rIns="0" bIns="0" rtlCol="0" anchor="t"/>
          <a:lstStyle/>
          <a:p>
            <a:pPr marL="0" indent="0">
              <a:buNone/>
            </a:pPr>
            <a:r>
              <a:rPr lang="en-US" sz="1800" b="1" dirty="0">
                <a:solidFill>
                  <a:schemeClr val="tx1"/>
                </a:solidFill>
              </a:rPr>
              <a:t>SQL Scripts</a:t>
            </a:r>
            <a:endParaRPr lang="en-US" sz="1800" dirty="0"/>
          </a:p>
        </p:txBody>
      </p:sp>
      <p:sp>
        <p:nvSpPr>
          <p:cNvPr id="28" name="Text 20"/>
          <p:cNvSpPr txBox="1"/>
          <p:nvPr/>
        </p:nvSpPr>
        <p:spPr>
          <a:xfrm>
            <a:off x="4608576" y="5486400"/>
            <a:ext cx="3017520" cy="502920"/>
          </a:xfrm>
          <a:prstGeom prst="rect">
            <a:avLst/>
          </a:prstGeom>
          <a:noFill/>
          <a:ln/>
        </p:spPr>
        <p:txBody>
          <a:bodyPr wrap="square" lIns="0" tIns="0" rIns="0" bIns="0" rtlCol="0" anchor="t"/>
          <a:lstStyle/>
          <a:p>
            <a:pPr marL="0" indent="0">
              <a:buNone/>
            </a:pPr>
            <a:r>
              <a:rPr lang="en-US" sz="1400" dirty="0">
                <a:solidFill>
                  <a:schemeClr val="tx2"/>
                </a:solidFill>
              </a:rPr>
              <a:t>Create, reset, 23 queries, checks, real time</a:t>
            </a:r>
            <a:endParaRPr lang="en-US" sz="1400" dirty="0"/>
          </a:p>
        </p:txBody>
      </p:sp>
      <p:sp>
        <p:nvSpPr>
          <p:cNvPr id="29" name="Deliverable card"/>
          <p:cNvSpPr/>
          <p:nvPr/>
        </p:nvSpPr>
        <p:spPr>
          <a:xfrm>
            <a:off x="8119872" y="3886200"/>
            <a:ext cx="3520440" cy="2194560"/>
          </a:xfrm>
          <a:prstGeom prst="rect">
            <a:avLst/>
          </a:prstGeom>
          <a:solidFill>
            <a:schemeClr val="bg2"/>
          </a:solidFill>
          <a:ln w="12700">
            <a:solidFill>
              <a:schemeClr val="bg2"/>
            </a:solidFill>
            <a:prstDash val="solid"/>
          </a:ln>
        </p:spPr>
      </p:sp>
      <p:sp>
        <p:nvSpPr>
          <p:cNvPr id="30" name="Shape 22"/>
          <p:cNvSpPr/>
          <p:nvPr/>
        </p:nvSpPr>
        <p:spPr>
          <a:xfrm>
            <a:off x="8394192" y="4160520"/>
            <a:ext cx="731520" cy="731520"/>
          </a:xfrm>
          <a:prstGeom prst="ellipse">
            <a:avLst/>
          </a:prstGeom>
          <a:solidFill>
            <a:srgbClr val="0F766E"/>
          </a:solidFill>
          <a:ln w="12700">
            <a:solidFill>
              <a:srgbClr val="0F766E"/>
            </a:solidFill>
            <a:prstDash val="solid"/>
          </a:ln>
        </p:spPr>
      </p:sp>
      <p:pic>
        <p:nvPicPr>
          <p:cNvPr id="31" name="Image 5" descr="preencoded.png"/>
          <p:cNvPicPr>
            <a:picLocks noChangeAspect="1"/>
          </p:cNvPicPr>
          <p:nvPr/>
        </p:nvPicPr>
        <p:blipFill>
          <a:blip r:embed="rId8"/>
          <a:stretch>
            <a:fillRect/>
          </a:stretch>
        </p:blipFill>
        <p:spPr>
          <a:xfrm>
            <a:off x="8584387" y="4350715"/>
            <a:ext cx="351130" cy="351130"/>
          </a:xfrm>
          <a:prstGeom prst="rect">
            <a:avLst/>
          </a:prstGeom>
        </p:spPr>
      </p:pic>
      <p:sp>
        <p:nvSpPr>
          <p:cNvPr id="32" name="Text 23"/>
          <p:cNvSpPr txBox="1"/>
          <p:nvPr/>
        </p:nvSpPr>
        <p:spPr>
          <a:xfrm>
            <a:off x="8394192" y="5074920"/>
            <a:ext cx="3017520" cy="365760"/>
          </a:xfrm>
          <a:prstGeom prst="rect">
            <a:avLst/>
          </a:prstGeom>
          <a:noFill/>
          <a:ln/>
        </p:spPr>
        <p:txBody>
          <a:bodyPr wrap="square" lIns="0" tIns="0" rIns="0" bIns="0" rtlCol="0" anchor="t"/>
          <a:lstStyle/>
          <a:p>
            <a:pPr marL="0" indent="0">
              <a:buNone/>
            </a:pPr>
            <a:r>
              <a:rPr lang="en-US" sz="1800" b="1" dirty="0">
                <a:solidFill>
                  <a:schemeClr val="tx1"/>
                </a:solidFill>
              </a:rPr>
              <a:t>Git Repository Updates</a:t>
            </a:r>
            <a:endParaRPr lang="en-US" sz="1800" dirty="0"/>
          </a:p>
        </p:txBody>
      </p:sp>
      <p:sp>
        <p:nvSpPr>
          <p:cNvPr id="33" name="Text 24"/>
          <p:cNvSpPr txBox="1"/>
          <p:nvPr/>
        </p:nvSpPr>
        <p:spPr>
          <a:xfrm>
            <a:off x="8394192" y="5486400"/>
            <a:ext cx="3017520" cy="502920"/>
          </a:xfrm>
          <a:prstGeom prst="rect">
            <a:avLst/>
          </a:prstGeom>
          <a:noFill/>
          <a:ln/>
        </p:spPr>
        <p:txBody>
          <a:bodyPr wrap="square" lIns="0" tIns="0" rIns="0" bIns="0" rtlCol="0" anchor="t"/>
          <a:lstStyle/>
          <a:p>
            <a:pPr marL="0" indent="0">
              <a:buNone/>
            </a:pPr>
            <a:r>
              <a:rPr lang="en-US" sz="1400" dirty="0">
                <a:solidFill>
                  <a:schemeClr val="tx2"/>
                </a:solidFill>
              </a:rPr>
              <a:t>Commit history on GitHub main</a:t>
            </a:r>
            <a:endParaRPr lang="en-US" sz="1400" dirty="0"/>
          </a:p>
        </p:txBody>
      </p:sp>
      <p:sp>
        <p:nvSpPr>
          <p:cNvPr id="2"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365760"/>
            <a:ext cx="10149840" cy="777240"/>
          </a:xfrm>
          <a:prstGeom prst="rect">
            <a:avLst/>
          </a:prstGeom>
          <a:noFill/>
          <a:ln/>
        </p:spPr>
        <p:txBody>
          <a:bodyPr wrap="square" lIns="0" tIns="0" rIns="0" bIns="0" rtlCol="0" anchor="ctr"/>
          <a:lstStyle/>
          <a:p>
            <a:pPr marL="0" indent="0" algn="l">
              <a:buNone/>
            </a:pPr>
            <a:r>
              <a:rPr lang="en-US" sz="3600" b="1" dirty="0">
                <a:solidFill>
                  <a:schemeClr val="tx1"/>
                </a:solidFill>
              </a:rPr>
              <a:t>Sprint 3: what we delivered</a:t>
            </a:r>
            <a:endParaRPr lang="en-US" sz="3600" dirty="0"/>
          </a:p>
        </p:txBody>
      </p:sp>
      <p:sp>
        <p:nvSpPr>
          <p:cNvPr id="4" name="Sprint 3 card"/>
          <p:cNvSpPr/>
          <p:nvPr/>
        </p:nvSpPr>
        <p:spPr>
          <a:xfrm>
            <a:off x="548640" y="1463040"/>
            <a:ext cx="2651760" cy="1783080"/>
          </a:xfrm>
          <a:prstGeom prst="rect">
            <a:avLst/>
          </a:prstGeom>
          <a:solidFill>
            <a:schemeClr val="bg2"/>
          </a:solidFill>
          <a:ln w="12700">
            <a:solidFill>
              <a:schemeClr val="bg2"/>
            </a:solidFill>
            <a:prstDash val="solid"/>
          </a:ln>
        </p:spPr>
      </p:sp>
      <p:sp>
        <p:nvSpPr>
          <p:cNvPr id="5" name="Shape 2"/>
          <p:cNvSpPr/>
          <p:nvPr/>
        </p:nvSpPr>
        <p:spPr>
          <a:xfrm>
            <a:off x="777240" y="1691640"/>
            <a:ext cx="640080" cy="640080"/>
          </a:xfrm>
          <a:prstGeom prst="ellipse">
            <a:avLst/>
          </a:prstGeom>
          <a:solidFill>
            <a:srgbClr val="24424D"/>
          </a:solidFill>
          <a:ln w="12700">
            <a:solidFill>
              <a:srgbClr val="24424D"/>
            </a:solidFill>
            <a:prstDash val="solid"/>
          </a:ln>
        </p:spPr>
      </p:sp>
      <p:pic>
        <p:nvPicPr>
          <p:cNvPr id="6" name="Image 0" descr="preencoded.png"/>
          <p:cNvPicPr>
            <a:picLocks noChangeAspect="1"/>
          </p:cNvPicPr>
          <p:nvPr/>
        </p:nvPicPr>
        <p:blipFill>
          <a:blip r:embed="rId3"/>
          <a:stretch>
            <a:fillRect/>
          </a:stretch>
        </p:blipFill>
        <p:spPr>
          <a:xfrm>
            <a:off x="943661" y="1858061"/>
            <a:ext cx="307238" cy="307238"/>
          </a:xfrm>
          <a:prstGeom prst="rect">
            <a:avLst/>
          </a:prstGeom>
        </p:spPr>
      </p:pic>
      <p:sp>
        <p:nvSpPr>
          <p:cNvPr id="7" name="Text 3"/>
          <p:cNvSpPr txBox="1"/>
          <p:nvPr/>
        </p:nvSpPr>
        <p:spPr>
          <a:xfrm>
            <a:off x="777240" y="2468880"/>
            <a:ext cx="2240280" cy="685800"/>
          </a:xfrm>
          <a:prstGeom prst="rect">
            <a:avLst/>
          </a:prstGeom>
          <a:noFill/>
          <a:ln/>
        </p:spPr>
        <p:txBody>
          <a:bodyPr wrap="square" lIns="0" tIns="0" rIns="0" bIns="0" rtlCol="0" anchor="t"/>
          <a:lstStyle/>
          <a:p>
            <a:pPr marL="0" indent="0">
              <a:buNone/>
            </a:pPr>
            <a:r>
              <a:rPr lang="en-US" sz="1600" b="1" dirty="0">
                <a:solidFill>
                  <a:schemeClr val="tx1"/>
                </a:solidFill>
              </a:rPr>
              <a:t>Source-to-target mapping of 141 columns</a:t>
            </a:r>
            <a:endParaRPr lang="en-US" sz="1600" dirty="0"/>
          </a:p>
        </p:txBody>
      </p:sp>
      <p:sp>
        <p:nvSpPr>
          <p:cNvPr id="8" name="Sprint 3 card"/>
          <p:cNvSpPr/>
          <p:nvPr/>
        </p:nvSpPr>
        <p:spPr>
          <a:xfrm>
            <a:off x="3362249" y="1463040"/>
            <a:ext cx="2651760" cy="1783080"/>
          </a:xfrm>
          <a:prstGeom prst="rect">
            <a:avLst/>
          </a:prstGeom>
          <a:solidFill>
            <a:schemeClr val="bg2"/>
          </a:solidFill>
          <a:ln w="12700">
            <a:solidFill>
              <a:schemeClr val="bg2"/>
            </a:solidFill>
            <a:prstDash val="solid"/>
          </a:ln>
        </p:spPr>
      </p:sp>
      <p:sp>
        <p:nvSpPr>
          <p:cNvPr id="9" name="Shape 5"/>
          <p:cNvSpPr/>
          <p:nvPr/>
        </p:nvSpPr>
        <p:spPr>
          <a:xfrm>
            <a:off x="3590849" y="1691640"/>
            <a:ext cx="640080" cy="640080"/>
          </a:xfrm>
          <a:prstGeom prst="ellipse">
            <a:avLst/>
          </a:prstGeom>
          <a:solidFill>
            <a:srgbClr val="24424D"/>
          </a:solidFill>
          <a:ln w="12700">
            <a:solidFill>
              <a:srgbClr val="24424D"/>
            </a:solidFill>
            <a:prstDash val="solid"/>
          </a:ln>
        </p:spPr>
      </p:sp>
      <p:pic>
        <p:nvPicPr>
          <p:cNvPr id="10" name="Image 1" descr="preencoded.png"/>
          <p:cNvPicPr>
            <a:picLocks noChangeAspect="1"/>
          </p:cNvPicPr>
          <p:nvPr/>
        </p:nvPicPr>
        <p:blipFill>
          <a:blip r:embed="rId4"/>
          <a:stretch>
            <a:fillRect/>
          </a:stretch>
        </p:blipFill>
        <p:spPr>
          <a:xfrm>
            <a:off x="3757270" y="1858061"/>
            <a:ext cx="307238" cy="307238"/>
          </a:xfrm>
          <a:prstGeom prst="rect">
            <a:avLst/>
          </a:prstGeom>
        </p:spPr>
      </p:pic>
      <p:sp>
        <p:nvSpPr>
          <p:cNvPr id="11" name="Text 6"/>
          <p:cNvSpPr txBox="1"/>
          <p:nvPr/>
        </p:nvSpPr>
        <p:spPr>
          <a:xfrm>
            <a:off x="3590849" y="2468880"/>
            <a:ext cx="2240280" cy="685800"/>
          </a:xfrm>
          <a:prstGeom prst="rect">
            <a:avLst/>
          </a:prstGeom>
          <a:noFill/>
          <a:ln/>
        </p:spPr>
        <p:txBody>
          <a:bodyPr wrap="square" lIns="0" tIns="0" rIns="0" bIns="0" rtlCol="0" anchor="t"/>
          <a:lstStyle/>
          <a:p>
            <a:pPr marL="0" indent="0">
              <a:buNone/>
            </a:pPr>
            <a:r>
              <a:rPr lang="en-US" sz="1600" b="1" dirty="0">
                <a:solidFill>
                  <a:schemeClr val="tx1"/>
                </a:solidFill>
              </a:rPr>
              <a:t>Data lineage document and diagram</a:t>
            </a:r>
            <a:endParaRPr lang="en-US" sz="1600" dirty="0"/>
          </a:p>
        </p:txBody>
      </p:sp>
      <p:sp>
        <p:nvSpPr>
          <p:cNvPr id="12" name="Sprint 3 card"/>
          <p:cNvSpPr/>
          <p:nvPr/>
        </p:nvSpPr>
        <p:spPr>
          <a:xfrm>
            <a:off x="6175858" y="1463040"/>
            <a:ext cx="2651760" cy="1783080"/>
          </a:xfrm>
          <a:prstGeom prst="rect">
            <a:avLst/>
          </a:prstGeom>
          <a:solidFill>
            <a:schemeClr val="bg2"/>
          </a:solidFill>
          <a:ln w="12700">
            <a:solidFill>
              <a:schemeClr val="bg2"/>
            </a:solidFill>
            <a:prstDash val="solid"/>
          </a:ln>
        </p:spPr>
      </p:sp>
      <p:sp>
        <p:nvSpPr>
          <p:cNvPr id="13" name="Shape 8"/>
          <p:cNvSpPr/>
          <p:nvPr/>
        </p:nvSpPr>
        <p:spPr>
          <a:xfrm>
            <a:off x="6404458" y="1691640"/>
            <a:ext cx="640080" cy="640080"/>
          </a:xfrm>
          <a:prstGeom prst="ellipse">
            <a:avLst/>
          </a:prstGeom>
          <a:solidFill>
            <a:srgbClr val="24424D"/>
          </a:solidFill>
          <a:ln w="12700">
            <a:solidFill>
              <a:srgbClr val="24424D"/>
            </a:solidFill>
            <a:prstDash val="solid"/>
          </a:ln>
        </p:spPr>
      </p:sp>
      <p:pic>
        <p:nvPicPr>
          <p:cNvPr id="14" name="Image 2" descr="preencoded.png"/>
          <p:cNvPicPr>
            <a:picLocks noChangeAspect="1"/>
          </p:cNvPicPr>
          <p:nvPr/>
        </p:nvPicPr>
        <p:blipFill>
          <a:blip r:embed="rId5"/>
          <a:stretch>
            <a:fillRect/>
          </a:stretch>
        </p:blipFill>
        <p:spPr>
          <a:xfrm>
            <a:off x="6570878" y="1858061"/>
            <a:ext cx="307238" cy="307238"/>
          </a:xfrm>
          <a:prstGeom prst="rect">
            <a:avLst/>
          </a:prstGeom>
        </p:spPr>
      </p:pic>
      <p:sp>
        <p:nvSpPr>
          <p:cNvPr id="15" name="Text 9"/>
          <p:cNvSpPr txBox="1"/>
          <p:nvPr/>
        </p:nvSpPr>
        <p:spPr>
          <a:xfrm>
            <a:off x="6404458" y="2468880"/>
            <a:ext cx="2240280" cy="685800"/>
          </a:xfrm>
          <a:prstGeom prst="rect">
            <a:avLst/>
          </a:prstGeom>
          <a:noFill/>
          <a:ln/>
        </p:spPr>
        <p:txBody>
          <a:bodyPr wrap="square" lIns="0" tIns="0" rIns="0" bIns="0" rtlCol="0" anchor="t"/>
          <a:lstStyle/>
          <a:p>
            <a:pPr marL="0" indent="0">
              <a:buNone/>
            </a:pPr>
            <a:r>
              <a:rPr lang="en-US" sz="1600" b="1" dirty="0">
                <a:solidFill>
                  <a:schemeClr val="tx1"/>
                </a:solidFill>
              </a:rPr>
              <a:t>Business glossary of 79 terms</a:t>
            </a:r>
            <a:endParaRPr lang="en-US" sz="1600" dirty="0"/>
          </a:p>
        </p:txBody>
      </p:sp>
      <p:sp>
        <p:nvSpPr>
          <p:cNvPr id="16" name="Sprint 3 card"/>
          <p:cNvSpPr/>
          <p:nvPr/>
        </p:nvSpPr>
        <p:spPr>
          <a:xfrm>
            <a:off x="8989466" y="1463040"/>
            <a:ext cx="2651760" cy="1783080"/>
          </a:xfrm>
          <a:prstGeom prst="rect">
            <a:avLst/>
          </a:prstGeom>
          <a:solidFill>
            <a:schemeClr val="bg2"/>
          </a:solidFill>
          <a:ln w="12700">
            <a:solidFill>
              <a:schemeClr val="bg2"/>
            </a:solidFill>
            <a:prstDash val="solid"/>
          </a:ln>
        </p:spPr>
      </p:sp>
      <p:sp>
        <p:nvSpPr>
          <p:cNvPr id="17" name="Shape 11"/>
          <p:cNvSpPr/>
          <p:nvPr/>
        </p:nvSpPr>
        <p:spPr>
          <a:xfrm>
            <a:off x="9218066" y="1691640"/>
            <a:ext cx="640080" cy="640080"/>
          </a:xfrm>
          <a:prstGeom prst="ellipse">
            <a:avLst/>
          </a:prstGeom>
          <a:solidFill>
            <a:srgbClr val="24424D"/>
          </a:solidFill>
          <a:ln w="12700">
            <a:solidFill>
              <a:srgbClr val="24424D"/>
            </a:solidFill>
            <a:prstDash val="solid"/>
          </a:ln>
        </p:spPr>
      </p:sp>
      <p:pic>
        <p:nvPicPr>
          <p:cNvPr id="18" name="Image 3" descr="preencoded.png"/>
          <p:cNvPicPr>
            <a:picLocks noChangeAspect="1"/>
          </p:cNvPicPr>
          <p:nvPr/>
        </p:nvPicPr>
        <p:blipFill>
          <a:blip r:embed="rId6"/>
          <a:stretch>
            <a:fillRect/>
          </a:stretch>
        </p:blipFill>
        <p:spPr>
          <a:xfrm>
            <a:off x="9384487" y="1858061"/>
            <a:ext cx="307238" cy="307238"/>
          </a:xfrm>
          <a:prstGeom prst="rect">
            <a:avLst/>
          </a:prstGeom>
        </p:spPr>
      </p:pic>
      <p:sp>
        <p:nvSpPr>
          <p:cNvPr id="19" name="Text 12"/>
          <p:cNvSpPr txBox="1"/>
          <p:nvPr/>
        </p:nvSpPr>
        <p:spPr>
          <a:xfrm>
            <a:off x="9218066" y="2468880"/>
            <a:ext cx="2240280" cy="685800"/>
          </a:xfrm>
          <a:prstGeom prst="rect">
            <a:avLst/>
          </a:prstGeom>
          <a:noFill/>
          <a:ln/>
        </p:spPr>
        <p:txBody>
          <a:bodyPr wrap="square" lIns="0" tIns="0" rIns="0" bIns="0" rtlCol="0" anchor="t"/>
          <a:lstStyle/>
          <a:p>
            <a:pPr marL="0" indent="0">
              <a:buNone/>
            </a:pPr>
            <a:r>
              <a:rPr lang="en-US" sz="1600" b="1" dirty="0">
                <a:solidFill>
                  <a:schemeClr val="tx1"/>
                </a:solidFill>
              </a:rPr>
              <a:t>Pentaho load job and end-to-end job</a:t>
            </a:r>
            <a:endParaRPr lang="en-US" sz="1600" dirty="0"/>
          </a:p>
        </p:txBody>
      </p:sp>
      <p:sp>
        <p:nvSpPr>
          <p:cNvPr id="20" name="Sprint 3 card"/>
          <p:cNvSpPr/>
          <p:nvPr/>
        </p:nvSpPr>
        <p:spPr>
          <a:xfrm>
            <a:off x="548640" y="3474720"/>
            <a:ext cx="2651760" cy="1783080"/>
          </a:xfrm>
          <a:prstGeom prst="rect">
            <a:avLst/>
          </a:prstGeom>
          <a:solidFill>
            <a:schemeClr val="bg2"/>
          </a:solidFill>
          <a:ln w="12700">
            <a:solidFill>
              <a:schemeClr val="bg2"/>
            </a:solidFill>
            <a:prstDash val="solid"/>
          </a:ln>
        </p:spPr>
      </p:sp>
      <p:sp>
        <p:nvSpPr>
          <p:cNvPr id="21" name="Shape 14"/>
          <p:cNvSpPr/>
          <p:nvPr/>
        </p:nvSpPr>
        <p:spPr>
          <a:xfrm>
            <a:off x="777240" y="3703320"/>
            <a:ext cx="640080" cy="640080"/>
          </a:xfrm>
          <a:prstGeom prst="ellipse">
            <a:avLst/>
          </a:prstGeom>
          <a:solidFill>
            <a:srgbClr val="24424D"/>
          </a:solidFill>
          <a:ln w="12700">
            <a:solidFill>
              <a:srgbClr val="24424D"/>
            </a:solidFill>
            <a:prstDash val="solid"/>
          </a:ln>
        </p:spPr>
      </p:sp>
      <p:pic>
        <p:nvPicPr>
          <p:cNvPr id="22" name="Image 4" descr="preencoded.png"/>
          <p:cNvPicPr>
            <a:picLocks noChangeAspect="1"/>
          </p:cNvPicPr>
          <p:nvPr/>
        </p:nvPicPr>
        <p:blipFill>
          <a:blip r:embed="rId7"/>
          <a:stretch>
            <a:fillRect/>
          </a:stretch>
        </p:blipFill>
        <p:spPr>
          <a:xfrm>
            <a:off x="943661" y="3869741"/>
            <a:ext cx="307238" cy="307238"/>
          </a:xfrm>
          <a:prstGeom prst="rect">
            <a:avLst/>
          </a:prstGeom>
        </p:spPr>
      </p:pic>
      <p:sp>
        <p:nvSpPr>
          <p:cNvPr id="23" name="Text 15"/>
          <p:cNvSpPr txBox="1"/>
          <p:nvPr/>
        </p:nvSpPr>
        <p:spPr>
          <a:xfrm>
            <a:off x="777240" y="4480560"/>
            <a:ext cx="2240280" cy="685800"/>
          </a:xfrm>
          <a:prstGeom prst="rect">
            <a:avLst/>
          </a:prstGeom>
          <a:noFill/>
          <a:ln/>
        </p:spPr>
        <p:txBody>
          <a:bodyPr wrap="square" lIns="0" tIns="0" rIns="0" bIns="0" rtlCol="0" anchor="t"/>
          <a:lstStyle/>
          <a:p>
            <a:pPr marL="0" indent="0">
              <a:buNone/>
            </a:pPr>
            <a:r>
              <a:rPr lang="en-US" sz="1600" b="1" dirty="0">
                <a:solidFill>
                  <a:schemeClr val="tx1"/>
                </a:solidFill>
              </a:rPr>
              <a:t>Reconciliation across all layers</a:t>
            </a:r>
            <a:endParaRPr lang="en-US" sz="1600" dirty="0"/>
          </a:p>
        </p:txBody>
      </p:sp>
      <p:sp>
        <p:nvSpPr>
          <p:cNvPr id="24" name="Sprint 3 card"/>
          <p:cNvSpPr/>
          <p:nvPr/>
        </p:nvSpPr>
        <p:spPr>
          <a:xfrm>
            <a:off x="3362249" y="3474720"/>
            <a:ext cx="2651760" cy="1783080"/>
          </a:xfrm>
          <a:prstGeom prst="rect">
            <a:avLst/>
          </a:prstGeom>
          <a:solidFill>
            <a:schemeClr val="bg2"/>
          </a:solidFill>
          <a:ln w="12700">
            <a:solidFill>
              <a:schemeClr val="bg2"/>
            </a:solidFill>
            <a:prstDash val="solid"/>
          </a:ln>
        </p:spPr>
      </p:sp>
      <p:sp>
        <p:nvSpPr>
          <p:cNvPr id="25" name="Shape 17"/>
          <p:cNvSpPr/>
          <p:nvPr/>
        </p:nvSpPr>
        <p:spPr>
          <a:xfrm>
            <a:off x="3590849" y="3703320"/>
            <a:ext cx="640080" cy="640080"/>
          </a:xfrm>
          <a:prstGeom prst="ellipse">
            <a:avLst/>
          </a:prstGeom>
          <a:solidFill>
            <a:srgbClr val="24424D"/>
          </a:solidFill>
          <a:ln w="12700">
            <a:solidFill>
              <a:srgbClr val="24424D"/>
            </a:solidFill>
            <a:prstDash val="solid"/>
          </a:ln>
        </p:spPr>
      </p:sp>
      <p:pic>
        <p:nvPicPr>
          <p:cNvPr id="26" name="Image 5" descr="preencoded.png"/>
          <p:cNvPicPr>
            <a:picLocks noChangeAspect="1"/>
          </p:cNvPicPr>
          <p:nvPr/>
        </p:nvPicPr>
        <p:blipFill>
          <a:blip r:embed="rId8"/>
          <a:stretch>
            <a:fillRect/>
          </a:stretch>
        </p:blipFill>
        <p:spPr>
          <a:xfrm>
            <a:off x="3757270" y="3869741"/>
            <a:ext cx="307238" cy="307238"/>
          </a:xfrm>
          <a:prstGeom prst="rect">
            <a:avLst/>
          </a:prstGeom>
        </p:spPr>
      </p:pic>
      <p:sp>
        <p:nvSpPr>
          <p:cNvPr id="27" name="Text 18"/>
          <p:cNvSpPr txBox="1"/>
          <p:nvPr/>
        </p:nvSpPr>
        <p:spPr>
          <a:xfrm>
            <a:off x="3590849" y="4480560"/>
            <a:ext cx="2240280" cy="685800"/>
          </a:xfrm>
          <a:prstGeom prst="rect">
            <a:avLst/>
          </a:prstGeom>
          <a:noFill/>
          <a:ln/>
        </p:spPr>
        <p:txBody>
          <a:bodyPr wrap="square" lIns="0" tIns="0" rIns="0" bIns="0" rtlCol="0" anchor="t"/>
          <a:lstStyle/>
          <a:p>
            <a:pPr marL="0" indent="0">
              <a:buNone/>
            </a:pPr>
            <a:r>
              <a:rPr lang="en-US" sz="1600" b="1" dirty="0">
                <a:solidFill>
                  <a:schemeClr val="tx1"/>
                </a:solidFill>
              </a:rPr>
              <a:t>Dashboard views and Tableau dashboards</a:t>
            </a:r>
            <a:endParaRPr lang="en-US" sz="1600" dirty="0"/>
          </a:p>
        </p:txBody>
      </p:sp>
      <p:sp>
        <p:nvSpPr>
          <p:cNvPr id="28" name="Sprint 3 card"/>
          <p:cNvSpPr/>
          <p:nvPr/>
        </p:nvSpPr>
        <p:spPr>
          <a:xfrm>
            <a:off x="6175858" y="3474720"/>
            <a:ext cx="2651760" cy="1783080"/>
          </a:xfrm>
          <a:prstGeom prst="rect">
            <a:avLst/>
          </a:prstGeom>
          <a:solidFill>
            <a:schemeClr val="bg2"/>
          </a:solidFill>
          <a:ln w="12700">
            <a:solidFill>
              <a:schemeClr val="bg2"/>
            </a:solidFill>
            <a:prstDash val="solid"/>
          </a:ln>
        </p:spPr>
      </p:sp>
      <p:sp>
        <p:nvSpPr>
          <p:cNvPr id="29" name="Shape 20"/>
          <p:cNvSpPr/>
          <p:nvPr/>
        </p:nvSpPr>
        <p:spPr>
          <a:xfrm>
            <a:off x="6404458" y="3703320"/>
            <a:ext cx="640080" cy="640080"/>
          </a:xfrm>
          <a:prstGeom prst="ellipse">
            <a:avLst/>
          </a:prstGeom>
          <a:solidFill>
            <a:srgbClr val="24424D"/>
          </a:solidFill>
          <a:ln w="12700">
            <a:solidFill>
              <a:srgbClr val="24424D"/>
            </a:solidFill>
            <a:prstDash val="solid"/>
          </a:ln>
        </p:spPr>
      </p:sp>
      <p:pic>
        <p:nvPicPr>
          <p:cNvPr id="30" name="Image 6" descr="preencoded.png"/>
          <p:cNvPicPr>
            <a:picLocks noChangeAspect="1"/>
          </p:cNvPicPr>
          <p:nvPr/>
        </p:nvPicPr>
        <p:blipFill>
          <a:blip r:embed="rId9"/>
          <a:stretch>
            <a:fillRect/>
          </a:stretch>
        </p:blipFill>
        <p:spPr>
          <a:xfrm>
            <a:off x="6570878" y="3869741"/>
            <a:ext cx="307238" cy="307238"/>
          </a:xfrm>
          <a:prstGeom prst="rect">
            <a:avLst/>
          </a:prstGeom>
        </p:spPr>
      </p:pic>
      <p:sp>
        <p:nvSpPr>
          <p:cNvPr id="31" name="Text 21"/>
          <p:cNvSpPr txBox="1"/>
          <p:nvPr/>
        </p:nvSpPr>
        <p:spPr>
          <a:xfrm>
            <a:off x="6404458" y="4480560"/>
            <a:ext cx="2240280" cy="685800"/>
          </a:xfrm>
          <a:prstGeom prst="rect">
            <a:avLst/>
          </a:prstGeom>
          <a:noFill/>
          <a:ln/>
        </p:spPr>
        <p:txBody>
          <a:bodyPr wrap="square" lIns="0" tIns="0" rIns="0" bIns="0" rtlCol="0" anchor="t"/>
          <a:lstStyle/>
          <a:p>
            <a:pPr marL="0" indent="0">
              <a:buNone/>
            </a:pPr>
            <a:r>
              <a:rPr lang="en-US" sz="1600" b="1" dirty="0">
                <a:solidFill>
                  <a:schemeClr val="tx1"/>
                </a:solidFill>
              </a:rPr>
              <a:t>Release tag v1.0, the last step</a:t>
            </a:r>
            <a:endParaRPr lang="en-US" sz="1600" dirty="0"/>
          </a:p>
        </p:txBody>
      </p:sp>
      <p:sp>
        <p:nvSpPr>
          <p:cNvPr id="32" name="Sprint 3 card"/>
          <p:cNvSpPr/>
          <p:nvPr/>
        </p:nvSpPr>
        <p:spPr>
          <a:xfrm>
            <a:off x="8989466" y="3474720"/>
            <a:ext cx="2651760" cy="1783080"/>
          </a:xfrm>
          <a:prstGeom prst="rect">
            <a:avLst/>
          </a:prstGeom>
          <a:solidFill>
            <a:schemeClr val="bg2"/>
          </a:solidFill>
          <a:ln w="12700">
            <a:solidFill>
              <a:schemeClr val="bg2"/>
            </a:solidFill>
            <a:prstDash val="solid"/>
          </a:ln>
        </p:spPr>
      </p:sp>
      <p:sp>
        <p:nvSpPr>
          <p:cNvPr id="33" name="Shape 23"/>
          <p:cNvSpPr/>
          <p:nvPr/>
        </p:nvSpPr>
        <p:spPr>
          <a:xfrm>
            <a:off x="9218066" y="3703320"/>
            <a:ext cx="640080" cy="640080"/>
          </a:xfrm>
          <a:prstGeom prst="ellipse">
            <a:avLst/>
          </a:prstGeom>
          <a:solidFill>
            <a:srgbClr val="24424D"/>
          </a:solidFill>
          <a:ln w="12700">
            <a:solidFill>
              <a:srgbClr val="24424D"/>
            </a:solidFill>
            <a:prstDash val="solid"/>
          </a:ln>
        </p:spPr>
      </p:sp>
      <p:pic>
        <p:nvPicPr>
          <p:cNvPr id="34" name="Image 7" descr="preencoded.png"/>
          <p:cNvPicPr>
            <a:picLocks noChangeAspect="1"/>
          </p:cNvPicPr>
          <p:nvPr/>
        </p:nvPicPr>
        <p:blipFill>
          <a:blip r:embed="rId10"/>
          <a:stretch>
            <a:fillRect/>
          </a:stretch>
        </p:blipFill>
        <p:spPr>
          <a:xfrm>
            <a:off x="9384487" y="3869741"/>
            <a:ext cx="307238" cy="307238"/>
          </a:xfrm>
          <a:prstGeom prst="rect">
            <a:avLst/>
          </a:prstGeom>
        </p:spPr>
      </p:pic>
      <p:sp>
        <p:nvSpPr>
          <p:cNvPr id="35" name="Text 24"/>
          <p:cNvSpPr txBox="1"/>
          <p:nvPr/>
        </p:nvSpPr>
        <p:spPr>
          <a:xfrm>
            <a:off x="9218066" y="4480560"/>
            <a:ext cx="2240280" cy="685800"/>
          </a:xfrm>
          <a:prstGeom prst="rect">
            <a:avLst/>
          </a:prstGeom>
          <a:noFill/>
          <a:ln/>
        </p:spPr>
        <p:txBody>
          <a:bodyPr wrap="square" lIns="0" tIns="0" rIns="0" bIns="0" rtlCol="0" anchor="t"/>
          <a:lstStyle/>
          <a:p>
            <a:pPr marL="0" indent="0">
              <a:buNone/>
            </a:pPr>
            <a:r>
              <a:rPr lang="en-US" sz="1600" b="1" dirty="0">
                <a:solidFill>
                  <a:schemeClr val="tx1"/>
                </a:solidFill>
              </a:rPr>
              <a:t>Project report, README and setup</a:t>
            </a:r>
            <a:endParaRPr lang="en-US" sz="1600" dirty="0"/>
          </a:p>
        </p:txBody>
      </p:sp>
      <p:sp>
        <p:nvSpPr>
          <p:cNvPr id="36" name="Builds-on card"/>
          <p:cNvSpPr/>
          <p:nvPr/>
        </p:nvSpPr>
        <p:spPr>
          <a:xfrm>
            <a:off x="548640" y="5532120"/>
            <a:ext cx="11091672" cy="640080"/>
          </a:xfrm>
          <a:prstGeom prst="rect">
            <a:avLst/>
          </a:prstGeom>
          <a:solidFill>
            <a:schemeClr val="tx1"/>
          </a:solidFill>
          <a:ln w="12700">
            <a:solidFill>
              <a:schemeClr val="bg2"/>
            </a:solidFill>
            <a:prstDash val="solid"/>
          </a:ln>
        </p:spPr>
      </p:sp>
      <p:sp>
        <p:nvSpPr>
          <p:cNvPr id="37" name="Text 26"/>
          <p:cNvSpPr txBox="1"/>
          <p:nvPr/>
        </p:nvSpPr>
        <p:spPr>
          <a:xfrm>
            <a:off x="822960" y="5532120"/>
            <a:ext cx="10607040" cy="640080"/>
          </a:xfrm>
          <a:prstGeom prst="rect">
            <a:avLst/>
          </a:prstGeom>
          <a:noFill/>
          <a:ln/>
        </p:spPr>
        <p:txBody>
          <a:bodyPr wrap="square" lIns="0" tIns="0" rIns="0" bIns="0" rtlCol="0" anchor="ctr"/>
          <a:lstStyle/>
          <a:p>
            <a:pPr marL="0" indent="0">
              <a:buNone/>
            </a:pPr>
            <a:r>
              <a:rPr lang="en-US" sz="1600" b="1" dirty="0">
                <a:solidFill>
                  <a:schemeClr val="bg1"/>
                </a:solidFill>
              </a:rPr>
              <a:t>Everything is in GitHub, and a rebuild from the repository files reproduces every result.</a:t>
            </a:r>
            <a:endParaRPr lang="en-US" sz="1600" dirty="0"/>
          </a:p>
        </p:txBody>
      </p:sp>
      <p:sp>
        <p:nvSpPr>
          <p:cNvPr id="2"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365760"/>
            <a:ext cx="10149840" cy="777240"/>
          </a:xfrm>
          <a:prstGeom prst="rect">
            <a:avLst/>
          </a:prstGeom>
          <a:noFill/>
          <a:ln/>
        </p:spPr>
        <p:txBody>
          <a:bodyPr wrap="square" lIns="0" tIns="0" rIns="0" bIns="0" rtlCol="0" anchor="ctr"/>
          <a:lstStyle/>
          <a:p>
            <a:pPr marL="0" indent="0" algn="l">
              <a:buNone/>
            </a:pPr>
            <a:r>
              <a:rPr lang="en-US" sz="3600" b="1" dirty="0">
                <a:solidFill>
                  <a:schemeClr val="tx1"/>
                </a:solidFill>
              </a:rPr>
              <a:t>Reconciliation across all layers</a:t>
            </a:r>
            <a:endParaRPr lang="en-US" sz="3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394960" cy="2304288"/>
        </p:xfrm>
        <a:graphic>
          <a:graphicData uri="http://schemas.openxmlformats.org/drawingml/2006/table">
            <a:tbl>
              <a:tblPr/>
              <a:tblGrid>
                <a:gridCol w="164592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tblGrid>
              <a:tr h="384048">
                <a:tc>
                  <a:txBody>
                    <a:bodyPr/>
                    <a:lstStyle/>
                    <a:p>
                      <a:pPr marL="0" indent="0">
                        <a:buNone/>
                      </a:pPr>
                      <a:r>
                        <a:rPr lang="en-US" sz="1400" b="1" dirty="0">
                          <a:solidFill>
                            <a:schemeClr val="bg1"/>
                          </a:solidFill>
                        </a:rPr>
                        <a:t>Dataset</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Raw, cleaned, loaded rows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Result</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84048">
                <a:tc>
                  <a:txBody>
                    <a:bodyPr/>
                    <a:lstStyle/>
                    <a:p>
                      <a:pPr marL="0" indent="0">
                        <a:buNone/>
                      </a:pPr>
                      <a:r>
                        <a:rPr lang="en-US" sz="1400" dirty="0">
                          <a:solidFill>
                            <a:schemeClr val="tx1"/>
                          </a:solidFill>
                        </a:rPr>
                        <a:t>Sales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1,000 · 1,000 · 1,000</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ctr">
                        <a:buNone/>
                      </a:pPr>
                      <a:r>
                        <a:rPr lang="en-US" sz="1400" b="1" dirty="0">
                          <a:solidFill>
                            <a:schemeClr val="bg1"/>
                          </a:solidFill>
                        </a:rPr>
                        <a:t>PASS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384048">
                <a:tc>
                  <a:txBody>
                    <a:bodyPr/>
                    <a:lstStyle/>
                    <a:p>
                      <a:pPr marL="0" indent="0">
                        <a:buNone/>
                      </a:pPr>
                      <a:r>
                        <a:rPr lang="en-US" sz="1400" dirty="0">
                          <a:solidFill>
                            <a:schemeClr val="tx1"/>
                          </a:solidFill>
                        </a:rPr>
                        <a:t>Customer Master</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1,500 · 1,500 · 1,500</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ctr">
                        <a:buNone/>
                      </a:pPr>
                      <a:r>
                        <a:rPr lang="en-US" sz="1400" b="1" dirty="0">
                          <a:solidFill>
                            <a:schemeClr val="bg1"/>
                          </a:solidFill>
                        </a:rPr>
                        <a:t>PASS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384048">
                <a:tc>
                  <a:txBody>
                    <a:bodyPr/>
                    <a:lstStyle/>
                    <a:p>
                      <a:pPr marL="0" indent="0">
                        <a:buNone/>
                      </a:pPr>
                      <a:r>
                        <a:rPr lang="en-US" sz="1400" dirty="0">
                          <a:solidFill>
                            <a:schemeClr val="tx1"/>
                          </a:solidFill>
                        </a:rPr>
                        <a:t>Asset</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1,245 · 1,245 · 1,245</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ctr">
                        <a:buNone/>
                      </a:pPr>
                      <a:r>
                        <a:rPr lang="en-US" sz="1400" b="1" dirty="0">
                          <a:solidFill>
                            <a:schemeClr val="bg1"/>
                          </a:solidFill>
                        </a:rPr>
                        <a:t>PASS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384048">
                <a:tc>
                  <a:txBody>
                    <a:bodyPr/>
                    <a:lstStyle/>
                    <a:p>
                      <a:pPr marL="0" indent="0">
                        <a:buNone/>
                      </a:pPr>
                      <a:r>
                        <a:rPr lang="en-US" sz="1400" dirty="0">
                          <a:solidFill>
                            <a:schemeClr val="tx1"/>
                          </a:solidFill>
                        </a:rPr>
                        <a:t>Account</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45,839 · 45,839 · 45,839</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ctr">
                        <a:buNone/>
                      </a:pPr>
                      <a:r>
                        <a:rPr lang="en-US" sz="1400" b="1" dirty="0">
                          <a:solidFill>
                            <a:schemeClr val="bg1"/>
                          </a:solidFill>
                        </a:rPr>
                        <a:t>PASS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r h="384048">
                <a:tc>
                  <a:txBody>
                    <a:bodyPr/>
                    <a:lstStyle/>
                    <a:p>
                      <a:pPr marL="0" indent="0">
                        <a:buNone/>
                      </a:pPr>
                      <a:r>
                        <a:rPr lang="en-US" sz="1400" dirty="0">
                          <a:solidFill>
                            <a:schemeClr val="tx1"/>
                          </a:solidFill>
                        </a:rPr>
                        <a:t>Procurement</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1,300 · 1,300 · 1,300</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ctr">
                        <a:buNone/>
                      </a:pPr>
                      <a:r>
                        <a:rPr lang="en-US" sz="1400" b="1" dirty="0">
                          <a:solidFill>
                            <a:schemeClr val="bg1"/>
                          </a:solidFill>
                        </a:rPr>
                        <a:t>PASS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accent1"/>
                    </a:solidFill>
                  </a:tcPr>
                </a:tc>
                <a:extLst>
                  <a:ext uri="{0D108BD9-81ED-4DB2-BD59-A6C34878D82A}">
                    <a16:rowId xmlns:a16="http://schemas.microsoft.com/office/drawing/2014/main" val="10005"/>
                  </a:ext>
                </a:extLst>
              </a:tr>
            </a:tbl>
          </a:graphicData>
        </a:graphic>
      </p:graphicFrame>
      <p:graphicFrame>
        <p:nvGraphicFramePr>
          <p:cNvPr id="49" name="Table 1"/>
          <p:cNvGraphicFramePr>
            <a:graphicFrameLocks noGrp="1"/>
          </p:cNvGraphicFramePr>
          <p:nvPr>
            <p:extLst>
              <p:ext uri="{D42A27DB-BD31-4B8C-83A1-F6EECF244321}">
                <p14:modId xmlns:p14="http://schemas.microsoft.com/office/powerpoint/2010/main" val="1579011935"/>
              </p:ext>
            </p:extLst>
          </p:nvPr>
        </p:nvGraphicFramePr>
        <p:xfrm>
          <a:off x="6245352" y="1371600"/>
          <a:ext cx="5394960" cy="2304288"/>
        </p:xfrm>
        <a:graphic>
          <a:graphicData uri="http://schemas.openxmlformats.org/drawingml/2006/table">
            <a:tbl>
              <a:tblPr/>
              <a:tblGrid>
                <a:gridCol w="164592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tblGrid>
              <a:tr h="384048">
                <a:tc>
                  <a:txBody>
                    <a:bodyPr/>
                    <a:lstStyle/>
                    <a:p>
                      <a:pPr marL="0" indent="0">
                        <a:buNone/>
                      </a:pPr>
                      <a:r>
                        <a:rPr lang="en-US" sz="1400" b="1" dirty="0">
                          <a:solidFill>
                            <a:schemeClr val="bg1"/>
                          </a:solidFill>
                        </a:rPr>
                        <a:t>Dataset</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Raw, cleaned, loaded rows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Result</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84048">
                <a:tc>
                  <a:txBody>
                    <a:bodyPr/>
                    <a:lstStyle/>
                    <a:p>
                      <a:pPr marL="0" indent="0">
                        <a:buNone/>
                      </a:pPr>
                      <a:r>
                        <a:rPr lang="en-US" sz="1400" dirty="0">
                          <a:solidFill>
                            <a:schemeClr val="tx1"/>
                          </a:solidFill>
                        </a:rPr>
                        <a:t>Employee</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35 · 35 · 35</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ctr">
                        <a:buNone/>
                      </a:pPr>
                      <a:r>
                        <a:rPr lang="en-US" sz="1400" b="1" dirty="0">
                          <a:solidFill>
                            <a:schemeClr val="bg1"/>
                          </a:solidFill>
                        </a:rPr>
                        <a:t>PASS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384048">
                <a:tc>
                  <a:txBody>
                    <a:bodyPr/>
                    <a:lstStyle/>
                    <a:p>
                      <a:pPr marL="0" indent="0">
                        <a:buNone/>
                      </a:pPr>
                      <a:r>
                        <a:rPr lang="en-US" sz="1400" dirty="0">
                          <a:solidFill>
                            <a:schemeClr val="tx1"/>
                          </a:solidFill>
                        </a:rPr>
                        <a:t>Finance</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1,000 · 1,000 · 1,000</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ctr">
                        <a:buNone/>
                      </a:pPr>
                      <a:r>
                        <a:rPr lang="en-US" sz="1400" b="1" dirty="0">
                          <a:solidFill>
                            <a:schemeClr val="bg1"/>
                          </a:solidFill>
                        </a:rPr>
                        <a:t>PASS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384048">
                <a:tc>
                  <a:txBody>
                    <a:bodyPr/>
                    <a:lstStyle/>
                    <a:p>
                      <a:pPr marL="0" indent="0">
                        <a:buNone/>
                      </a:pPr>
                      <a:r>
                        <a:rPr lang="en-US" sz="1400" dirty="0">
                          <a:solidFill>
                            <a:schemeClr val="tx1"/>
                          </a:solidFill>
                        </a:rPr>
                        <a:t>Inventory</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1,000 · 1,000 · 1,000</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ctr">
                        <a:buNone/>
                      </a:pPr>
                      <a:r>
                        <a:rPr lang="en-US" sz="1400" b="1" dirty="0">
                          <a:solidFill>
                            <a:schemeClr val="bg1"/>
                          </a:solidFill>
                        </a:rPr>
                        <a:t>PASS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384048">
                <a:tc>
                  <a:txBody>
                    <a:bodyPr/>
                    <a:lstStyle/>
                    <a:p>
                      <a:pPr marL="0" indent="0">
                        <a:buNone/>
                      </a:pPr>
                      <a:r>
                        <a:rPr lang="en-US" sz="1400" dirty="0">
                          <a:solidFill>
                            <a:schemeClr val="tx1"/>
                          </a:solidFill>
                        </a:rPr>
                        <a:t>Manufacturing</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1,000 · 1,000 · 1,000</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ctr">
                        <a:buNone/>
                      </a:pPr>
                      <a:r>
                        <a:rPr lang="en-US" sz="1400" b="1" dirty="0">
                          <a:solidFill>
                            <a:schemeClr val="bg1"/>
                          </a:solidFill>
                        </a:rPr>
                        <a:t>PASS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r h="384048">
                <a:tc>
                  <a:txBody>
                    <a:bodyPr/>
                    <a:lstStyle/>
                    <a:p>
                      <a:pPr marL="0" indent="0">
                        <a:buNone/>
                      </a:pPr>
                      <a:r>
                        <a:rPr lang="en-US" sz="1400" dirty="0">
                          <a:solidFill>
                            <a:schemeClr val="tx1"/>
                          </a:solidFill>
                        </a:rPr>
                        <a:t>Warehouse</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r">
                        <a:buNone/>
                      </a:pPr>
                      <a:r>
                        <a:rPr lang="en-US" sz="1400" dirty="0">
                          <a:solidFill>
                            <a:schemeClr val="tx1"/>
                          </a:solidFill>
                        </a:rPr>
                        <a:t>6,408 · 3,204 · 3,204</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ctr">
                        <a:buNone/>
                      </a:pPr>
                      <a:r>
                        <a:rPr lang="en-US" sz="1400" b="1" dirty="0">
                          <a:solidFill>
                            <a:schemeClr val="bg1"/>
                          </a:solidFill>
                        </a:rPr>
                        <a:t>EXPLAINED</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accent1"/>
                    </a:solidFill>
                  </a:tcPr>
                </a:tc>
                <a:extLst>
                  <a:ext uri="{0D108BD9-81ED-4DB2-BD59-A6C34878D82A}">
                    <a16:rowId xmlns:a16="http://schemas.microsoft.com/office/drawing/2014/main" val="10005"/>
                  </a:ext>
                </a:extLst>
              </a:tr>
            </a:tbl>
          </a:graphicData>
        </a:graphic>
      </p:graphicFrame>
      <p:sp>
        <p:nvSpPr>
          <p:cNvPr id="6" name="Text 1"/>
          <p:cNvSpPr txBox="1"/>
          <p:nvPr/>
        </p:nvSpPr>
        <p:spPr>
          <a:xfrm>
            <a:off x="6245352" y="4526280"/>
            <a:ext cx="5394960" cy="457200"/>
          </a:xfrm>
          <a:prstGeom prst="rect">
            <a:avLst/>
          </a:prstGeom>
          <a:noFill/>
          <a:ln/>
        </p:spPr>
        <p:txBody>
          <a:bodyPr wrap="square" lIns="0" tIns="0" rIns="0" bIns="0" rtlCol="0" anchor="t"/>
          <a:lstStyle/>
          <a:p>
            <a:pPr marL="0" indent="0">
              <a:buNone/>
            </a:pPr>
            <a:r>
              <a:rPr lang="en-US" sz="1400" dirty="0">
                <a:solidFill>
                  <a:schemeClr val="tx2"/>
                </a:solidFill>
              </a:rPr>
              <a:t>Raw file, cleaned file and warehouse: row count and one total each. Warehouse: the raw file holds every record twice.</a:t>
            </a:r>
            <a:endParaRPr lang="en-US" sz="1400" dirty="0"/>
          </a:p>
        </p:txBody>
      </p:sp>
      <p:sp>
        <p:nvSpPr>
          <p:cNvPr id="7" name="Demo bar"/>
          <p:cNvSpPr/>
          <p:nvPr/>
        </p:nvSpPr>
        <p:spPr>
          <a:xfrm>
            <a:off x="548640" y="5212080"/>
            <a:ext cx="11091672" cy="1051560"/>
          </a:xfrm>
          <a:prstGeom prst="rect">
            <a:avLst/>
          </a:prstGeom>
          <a:solidFill>
            <a:schemeClr val="tx1"/>
          </a:solidFill>
          <a:ln w="12700">
            <a:solidFill>
              <a:schemeClr val="bg2"/>
            </a:solidFill>
            <a:prstDash val="solid"/>
          </a:ln>
        </p:spPr>
      </p:sp>
      <p:pic>
        <p:nvPicPr>
          <p:cNvPr id="8" name="Image 0" descr="preencoded.png"/>
          <p:cNvPicPr>
            <a:picLocks noChangeAspect="1"/>
          </p:cNvPicPr>
          <p:nvPr/>
        </p:nvPicPr>
        <p:blipFill>
          <a:blip r:embed="rId3"/>
          <a:stretch>
            <a:fillRect/>
          </a:stretch>
        </p:blipFill>
        <p:spPr>
          <a:xfrm>
            <a:off x="777240" y="5509260"/>
            <a:ext cx="457200" cy="457200"/>
          </a:xfrm>
          <a:prstGeom prst="rect">
            <a:avLst/>
          </a:prstGeom>
        </p:spPr>
      </p:pic>
      <p:sp>
        <p:nvSpPr>
          <p:cNvPr id="9" name="Text 3"/>
          <p:cNvSpPr txBox="1"/>
          <p:nvPr/>
        </p:nvSpPr>
        <p:spPr>
          <a:xfrm>
            <a:off x="1417320" y="5212080"/>
            <a:ext cx="2788920" cy="1051560"/>
          </a:xfrm>
          <a:prstGeom prst="rect">
            <a:avLst/>
          </a:prstGeom>
          <a:noFill/>
          <a:ln/>
        </p:spPr>
        <p:txBody>
          <a:bodyPr wrap="square" lIns="0" tIns="0" rIns="0" bIns="0" rtlCol="0" anchor="ctr"/>
          <a:lstStyle/>
          <a:p>
            <a:pPr marL="0" indent="0">
              <a:buNone/>
            </a:pPr>
            <a:r>
              <a:rPr lang="en-US" sz="1400" dirty="0">
                <a:solidFill>
                  <a:schemeClr val="bg1"/>
                </a:solidFill>
              </a:rPr>
              <a:t>Terminal in the python/ folder</a:t>
            </a:r>
            <a:endParaRPr lang="en-US" sz="1400" dirty="0"/>
          </a:p>
        </p:txBody>
      </p:sp>
      <p:pic>
        <p:nvPicPr>
          <p:cNvPr id="10" name="Image 1" descr="preencoded.png"/>
          <p:cNvPicPr>
            <a:picLocks noChangeAspect="1"/>
          </p:cNvPicPr>
          <p:nvPr/>
        </p:nvPicPr>
        <p:blipFill>
          <a:blip r:embed="rId4"/>
          <a:stretch>
            <a:fillRect/>
          </a:stretch>
        </p:blipFill>
        <p:spPr>
          <a:xfrm>
            <a:off x="4434840" y="5509260"/>
            <a:ext cx="457200" cy="457200"/>
          </a:xfrm>
          <a:prstGeom prst="rect">
            <a:avLst/>
          </a:prstGeom>
        </p:spPr>
      </p:pic>
      <p:sp>
        <p:nvSpPr>
          <p:cNvPr id="11" name="Text 4"/>
          <p:cNvSpPr txBox="1"/>
          <p:nvPr/>
        </p:nvSpPr>
        <p:spPr>
          <a:xfrm>
            <a:off x="5074920" y="5212080"/>
            <a:ext cx="2788920" cy="1051560"/>
          </a:xfrm>
          <a:prstGeom prst="rect">
            <a:avLst/>
          </a:prstGeom>
          <a:noFill/>
          <a:ln/>
        </p:spPr>
        <p:txBody>
          <a:bodyPr wrap="square" lIns="0" tIns="0" rIns="0" bIns="0" rtlCol="0" anchor="ctr"/>
          <a:lstStyle/>
          <a:p>
            <a:pPr marL="0" indent="0">
              <a:buNone/>
            </a:pPr>
            <a:r>
              <a:rPr lang="en-US" sz="1400" dirty="0">
                <a:solidFill>
                  <a:schemeClr val="bg1"/>
                </a:solidFill>
              </a:rPr>
              <a:t>Run ERP_Layer_Reconciliation.py</a:t>
            </a:r>
            <a:endParaRPr lang="en-US" sz="1400" dirty="0"/>
          </a:p>
        </p:txBody>
      </p:sp>
      <p:pic>
        <p:nvPicPr>
          <p:cNvPr id="12" name="Image 2" descr="preencoded.png"/>
          <p:cNvPicPr>
            <a:picLocks noChangeAspect="1"/>
          </p:cNvPicPr>
          <p:nvPr/>
        </p:nvPicPr>
        <p:blipFill>
          <a:blip r:embed="rId5"/>
          <a:stretch>
            <a:fillRect/>
          </a:stretch>
        </p:blipFill>
        <p:spPr>
          <a:xfrm>
            <a:off x="8092440" y="5509260"/>
            <a:ext cx="457200" cy="457200"/>
          </a:xfrm>
          <a:prstGeom prst="rect">
            <a:avLst/>
          </a:prstGeom>
        </p:spPr>
      </p:pic>
      <p:sp>
        <p:nvSpPr>
          <p:cNvPr id="13" name="Text 5"/>
          <p:cNvSpPr txBox="1"/>
          <p:nvPr/>
        </p:nvSpPr>
        <p:spPr>
          <a:xfrm>
            <a:off x="8732520" y="5212080"/>
            <a:ext cx="2788920" cy="1051560"/>
          </a:xfrm>
          <a:prstGeom prst="rect">
            <a:avLst/>
          </a:prstGeom>
          <a:noFill/>
          <a:ln/>
        </p:spPr>
        <p:txBody>
          <a:bodyPr wrap="square" lIns="0" tIns="0" rIns="0" bIns="0" rtlCol="0" anchor="ctr"/>
          <a:lstStyle/>
          <a:p>
            <a:pPr marL="0" indent="0">
              <a:buNone/>
            </a:pPr>
            <a:r>
              <a:rPr lang="en-US" sz="1400" dirty="0">
                <a:solidFill>
                  <a:schemeClr val="bg1"/>
                </a:solidFill>
              </a:rPr>
              <a:t>9 PASS, 1 EXPLAINED, 0 DIFFERENT</a:t>
            </a:r>
            <a:endParaRPr lang="en-US" sz="1400" dirty="0"/>
          </a:p>
        </p:txBody>
      </p:sp>
      <p:sp>
        <p:nvSpPr>
          <p:cNvPr id="2"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365760"/>
            <a:ext cx="10149840" cy="777240"/>
          </a:xfrm>
          <a:prstGeom prst="rect">
            <a:avLst/>
          </a:prstGeom>
          <a:noFill/>
          <a:ln/>
        </p:spPr>
        <p:txBody>
          <a:bodyPr wrap="square" lIns="0" tIns="0" rIns="0" bIns="0" rtlCol="0" anchor="ctr"/>
          <a:lstStyle/>
          <a:p>
            <a:pPr marL="0" indent="0" algn="l">
              <a:buNone/>
            </a:pPr>
            <a:r>
              <a:rPr lang="en-US" sz="3600" b="1" dirty="0">
                <a:solidFill>
                  <a:schemeClr val="tx1"/>
                </a:solidFill>
              </a:rPr>
              <a:t>Metadata, glossary and lineage</a:t>
            </a:r>
            <a:endParaRPr lang="en-US" sz="3600" dirty="0"/>
          </a:p>
        </p:txBody>
      </p:sp>
      <p:sp>
        <p:nvSpPr>
          <p:cNvPr id="4" name="Layer box"/>
          <p:cNvSpPr/>
          <p:nvPr/>
        </p:nvSpPr>
        <p:spPr>
          <a:xfrm>
            <a:off x="548640" y="1645920"/>
            <a:ext cx="2011680" cy="1463040"/>
          </a:xfrm>
          <a:prstGeom prst="rect">
            <a:avLst/>
          </a:prstGeom>
          <a:solidFill>
            <a:srgbClr val="24424D"/>
          </a:solidFill>
          <a:ln w="12700">
            <a:solidFill>
              <a:srgbClr val="24424D"/>
            </a:solidFill>
            <a:prstDash val="solid"/>
          </a:ln>
        </p:spPr>
      </p:sp>
      <p:sp>
        <p:nvSpPr>
          <p:cNvPr id="5" name="Text 2"/>
          <p:cNvSpPr txBox="1"/>
          <p:nvPr/>
        </p:nvSpPr>
        <p:spPr>
          <a:xfrm>
            <a:off x="685800" y="1783080"/>
            <a:ext cx="1737360" cy="365760"/>
          </a:xfrm>
          <a:prstGeom prst="rect">
            <a:avLst/>
          </a:prstGeom>
          <a:noFill/>
          <a:ln/>
        </p:spPr>
        <p:txBody>
          <a:bodyPr wrap="square" lIns="0" tIns="0" rIns="0" bIns="0" rtlCol="0" anchor="t"/>
          <a:lstStyle/>
          <a:p>
            <a:pPr marL="0" indent="0">
              <a:buNone/>
            </a:pPr>
            <a:r>
              <a:rPr lang="en-US" sz="2000" b="1" dirty="0">
                <a:solidFill>
                  <a:srgbClr val="FFFFFF"/>
                </a:solidFill>
              </a:rPr>
              <a:t>Mapping</a:t>
            </a:r>
            <a:endParaRPr lang="en-US" sz="2000" dirty="0"/>
          </a:p>
        </p:txBody>
      </p:sp>
      <p:sp>
        <p:nvSpPr>
          <p:cNvPr id="6" name="Text 3"/>
          <p:cNvSpPr txBox="1"/>
          <p:nvPr/>
        </p:nvSpPr>
        <p:spPr>
          <a:xfrm>
            <a:off x="685800" y="2240280"/>
            <a:ext cx="1737360" cy="731520"/>
          </a:xfrm>
          <a:prstGeom prst="rect">
            <a:avLst/>
          </a:prstGeom>
          <a:noFill/>
          <a:ln/>
        </p:spPr>
        <p:txBody>
          <a:bodyPr wrap="square" lIns="0" tIns="0" rIns="0" bIns="0" rtlCol="0" anchor="t"/>
          <a:lstStyle/>
          <a:p>
            <a:pPr marL="0" indent="0">
              <a:buNone/>
            </a:pPr>
            <a:r>
              <a:rPr lang="en-US" sz="1400" dirty="0">
                <a:solidFill>
                  <a:srgbClr val="FFFFFF"/>
                </a:solidFill>
              </a:rPr>
              <a:t>141 columns</a:t>
            </a:r>
            <a:endParaRPr lang="en-US" sz="1400" dirty="0"/>
          </a:p>
        </p:txBody>
      </p:sp>
      <p:sp>
        <p:nvSpPr>
          <p:cNvPr id="7" name="Shape 4"/>
          <p:cNvSpPr/>
          <p:nvPr/>
        </p:nvSpPr>
        <p:spPr>
          <a:xfrm>
            <a:off x="2560320" y="2377440"/>
            <a:ext cx="256032" cy="0"/>
          </a:xfrm>
          <a:prstGeom prst="line">
            <a:avLst/>
          </a:prstGeom>
          <a:noFill/>
          <a:ln w="25400">
            <a:solidFill>
              <a:srgbClr val="1B2A34"/>
            </a:solidFill>
            <a:prstDash val="solid"/>
            <a:tailEnd type="triangle"/>
          </a:ln>
        </p:spPr>
      </p:sp>
      <p:sp>
        <p:nvSpPr>
          <p:cNvPr id="8" name="Text 5"/>
          <p:cNvSpPr txBox="1"/>
          <p:nvPr/>
        </p:nvSpPr>
        <p:spPr>
          <a:xfrm>
            <a:off x="548640" y="3291840"/>
            <a:ext cx="2011680" cy="594360"/>
          </a:xfrm>
          <a:prstGeom prst="rect">
            <a:avLst/>
          </a:prstGeom>
          <a:noFill/>
          <a:ln/>
        </p:spPr>
        <p:txBody>
          <a:bodyPr wrap="square" lIns="0" tIns="0" rIns="0" bIns="0" rtlCol="0" anchor="t"/>
          <a:lstStyle/>
          <a:p>
            <a:pPr marL="0" indent="0">
              <a:buNone/>
            </a:pPr>
            <a:r>
              <a:rPr lang="en-US" sz="1400" dirty="0">
                <a:solidFill>
                  <a:schemeClr val="tx2"/>
                </a:solidFill>
              </a:rPr>
              <a:t>Raw file to table, with the rule</a:t>
            </a:r>
            <a:endParaRPr lang="en-US" sz="1400" dirty="0"/>
          </a:p>
        </p:txBody>
      </p:sp>
      <p:sp>
        <p:nvSpPr>
          <p:cNvPr id="9" name="Text 6"/>
          <p:cNvSpPr txBox="1"/>
          <p:nvPr/>
        </p:nvSpPr>
        <p:spPr>
          <a:xfrm>
            <a:off x="548640" y="3931920"/>
            <a:ext cx="2011680" cy="274320"/>
          </a:xfrm>
          <a:prstGeom prst="rect">
            <a:avLst/>
          </a:prstGeom>
          <a:noFill/>
          <a:ln/>
        </p:spPr>
        <p:txBody>
          <a:bodyPr wrap="square" lIns="0" tIns="0" rIns="0" bIns="0" rtlCol="0" anchor="t"/>
          <a:lstStyle/>
          <a:p>
            <a:pPr marL="0" indent="0">
              <a:buNone/>
            </a:pPr>
            <a:r>
              <a:rPr lang="en-US" sz="1400" b="1" dirty="0">
                <a:solidFill>
                  <a:schemeClr val="tx1"/>
                </a:solidFill>
                <a:latin typeface="Courier New" pitchFamily="34" charset="0"/>
                <a:ea typeface="Courier New" pitchFamily="34" charset="-122"/>
                <a:cs typeface="Courier New" pitchFamily="34" charset="-120"/>
              </a:rPr>
              <a:t>metadata/</a:t>
            </a:r>
            <a:endParaRPr lang="en-US" sz="1400" dirty="0"/>
          </a:p>
        </p:txBody>
      </p:sp>
      <p:sp>
        <p:nvSpPr>
          <p:cNvPr id="10" name="Layer box"/>
          <p:cNvSpPr/>
          <p:nvPr/>
        </p:nvSpPr>
        <p:spPr>
          <a:xfrm>
            <a:off x="2816352" y="1645920"/>
            <a:ext cx="2011680" cy="1463040"/>
          </a:xfrm>
          <a:prstGeom prst="rect">
            <a:avLst/>
          </a:prstGeom>
          <a:solidFill>
            <a:srgbClr val="B87333"/>
          </a:solidFill>
          <a:ln w="12700">
            <a:solidFill>
              <a:srgbClr val="B87333"/>
            </a:solidFill>
            <a:prstDash val="solid"/>
          </a:ln>
        </p:spPr>
      </p:sp>
      <p:sp>
        <p:nvSpPr>
          <p:cNvPr id="11" name="Text 8"/>
          <p:cNvSpPr txBox="1"/>
          <p:nvPr/>
        </p:nvSpPr>
        <p:spPr>
          <a:xfrm>
            <a:off x="2953512" y="1783080"/>
            <a:ext cx="1737360" cy="365760"/>
          </a:xfrm>
          <a:prstGeom prst="rect">
            <a:avLst/>
          </a:prstGeom>
          <a:noFill/>
          <a:ln/>
        </p:spPr>
        <p:txBody>
          <a:bodyPr wrap="square" lIns="0" tIns="0" rIns="0" bIns="0" rtlCol="0" anchor="t"/>
          <a:lstStyle/>
          <a:p>
            <a:pPr marL="0" indent="0">
              <a:buNone/>
            </a:pPr>
            <a:r>
              <a:rPr lang="en-US" sz="2000" b="1" dirty="0">
                <a:solidFill>
                  <a:srgbClr val="FFFFFF"/>
                </a:solidFill>
              </a:rPr>
              <a:t>Metadata</a:t>
            </a:r>
            <a:endParaRPr lang="en-US" sz="2000" dirty="0"/>
          </a:p>
        </p:txBody>
      </p:sp>
      <p:sp>
        <p:nvSpPr>
          <p:cNvPr id="12" name="Text 9"/>
          <p:cNvSpPr txBox="1"/>
          <p:nvPr/>
        </p:nvSpPr>
        <p:spPr>
          <a:xfrm>
            <a:off x="2953512" y="2240280"/>
            <a:ext cx="1737360" cy="731520"/>
          </a:xfrm>
          <a:prstGeom prst="rect">
            <a:avLst/>
          </a:prstGeom>
          <a:noFill/>
          <a:ln/>
        </p:spPr>
        <p:txBody>
          <a:bodyPr wrap="square" lIns="0" tIns="0" rIns="0" bIns="0" rtlCol="0" anchor="t"/>
          <a:lstStyle/>
          <a:p>
            <a:pPr marL="0" indent="0">
              <a:buNone/>
            </a:pPr>
            <a:r>
              <a:rPr lang="en-US" sz="1400" dirty="0">
                <a:solidFill>
                  <a:srgbClr val="FFFFFF"/>
                </a:solidFill>
              </a:rPr>
              <a:t>15 tables</a:t>
            </a:r>
            <a:endParaRPr lang="en-US" sz="1400" dirty="0"/>
          </a:p>
        </p:txBody>
      </p:sp>
      <p:sp>
        <p:nvSpPr>
          <p:cNvPr id="13" name="Shape 10"/>
          <p:cNvSpPr/>
          <p:nvPr/>
        </p:nvSpPr>
        <p:spPr>
          <a:xfrm>
            <a:off x="4828032" y="2377440"/>
            <a:ext cx="256032" cy="0"/>
          </a:xfrm>
          <a:prstGeom prst="line">
            <a:avLst/>
          </a:prstGeom>
          <a:noFill/>
          <a:ln w="25400">
            <a:solidFill>
              <a:srgbClr val="1B2A34"/>
            </a:solidFill>
            <a:prstDash val="solid"/>
            <a:tailEnd type="triangle"/>
          </a:ln>
        </p:spPr>
      </p:sp>
      <p:sp>
        <p:nvSpPr>
          <p:cNvPr id="14" name="Text 11"/>
          <p:cNvSpPr txBox="1"/>
          <p:nvPr/>
        </p:nvSpPr>
        <p:spPr>
          <a:xfrm>
            <a:off x="2816352" y="3291840"/>
            <a:ext cx="2011680" cy="594360"/>
          </a:xfrm>
          <a:prstGeom prst="rect">
            <a:avLst/>
          </a:prstGeom>
          <a:noFill/>
          <a:ln/>
        </p:spPr>
        <p:txBody>
          <a:bodyPr wrap="square" lIns="0" tIns="0" rIns="0" bIns="0" rtlCol="0" anchor="t"/>
          <a:lstStyle/>
          <a:p>
            <a:pPr marL="0" indent="0">
              <a:buNone/>
            </a:pPr>
            <a:r>
              <a:rPr lang="en-US" sz="1400" dirty="0">
                <a:solidFill>
                  <a:schemeClr val="tx2"/>
                </a:solidFill>
              </a:rPr>
              <a:t>Every column, also in PostgreSQL</a:t>
            </a:r>
            <a:endParaRPr lang="en-US" sz="1400" dirty="0"/>
          </a:p>
        </p:txBody>
      </p:sp>
      <p:sp>
        <p:nvSpPr>
          <p:cNvPr id="15" name="Text 12"/>
          <p:cNvSpPr txBox="1"/>
          <p:nvPr/>
        </p:nvSpPr>
        <p:spPr>
          <a:xfrm>
            <a:off x="2816352" y="3931920"/>
            <a:ext cx="2011680" cy="274320"/>
          </a:xfrm>
          <a:prstGeom prst="rect">
            <a:avLst/>
          </a:prstGeom>
          <a:noFill/>
          <a:ln/>
        </p:spPr>
        <p:txBody>
          <a:bodyPr wrap="square" lIns="0" tIns="0" rIns="0" bIns="0" rtlCol="0" anchor="t"/>
          <a:lstStyle/>
          <a:p>
            <a:pPr marL="0" indent="0">
              <a:buNone/>
            </a:pPr>
            <a:r>
              <a:rPr lang="en-US" sz="1400" b="1" dirty="0">
                <a:solidFill>
                  <a:schemeClr val="tx1"/>
                </a:solidFill>
                <a:latin typeface="Courier New" pitchFamily="34" charset="0"/>
                <a:ea typeface="Courier New" pitchFamily="34" charset="-122"/>
                <a:cs typeface="Courier New" pitchFamily="34" charset="-120"/>
              </a:rPr>
              <a:t>metadata/</a:t>
            </a:r>
            <a:endParaRPr lang="en-US" sz="1400" dirty="0"/>
          </a:p>
        </p:txBody>
      </p:sp>
      <p:sp>
        <p:nvSpPr>
          <p:cNvPr id="16" name="Layer box"/>
          <p:cNvSpPr/>
          <p:nvPr/>
        </p:nvSpPr>
        <p:spPr>
          <a:xfrm>
            <a:off x="5084064" y="1645920"/>
            <a:ext cx="2011680" cy="1463040"/>
          </a:xfrm>
          <a:prstGeom prst="rect">
            <a:avLst/>
          </a:prstGeom>
          <a:solidFill>
            <a:srgbClr val="8E99A4"/>
          </a:solidFill>
          <a:ln w="12700">
            <a:solidFill>
              <a:srgbClr val="8E99A4"/>
            </a:solidFill>
            <a:prstDash val="solid"/>
          </a:ln>
        </p:spPr>
      </p:sp>
      <p:sp>
        <p:nvSpPr>
          <p:cNvPr id="17" name="Text 14"/>
          <p:cNvSpPr txBox="1"/>
          <p:nvPr/>
        </p:nvSpPr>
        <p:spPr>
          <a:xfrm>
            <a:off x="5221224" y="1783080"/>
            <a:ext cx="1737360" cy="365760"/>
          </a:xfrm>
          <a:prstGeom prst="rect">
            <a:avLst/>
          </a:prstGeom>
          <a:noFill/>
          <a:ln/>
        </p:spPr>
        <p:txBody>
          <a:bodyPr wrap="square" lIns="0" tIns="0" rIns="0" bIns="0" rtlCol="0" anchor="t"/>
          <a:lstStyle/>
          <a:p>
            <a:pPr marL="0" indent="0">
              <a:buNone/>
            </a:pPr>
            <a:r>
              <a:rPr lang="en-US" sz="2000" b="1" dirty="0">
                <a:solidFill>
                  <a:srgbClr val="1B2A34"/>
                </a:solidFill>
              </a:rPr>
              <a:t>Glossary</a:t>
            </a:r>
            <a:endParaRPr lang="en-US" sz="2000" dirty="0"/>
          </a:p>
        </p:txBody>
      </p:sp>
      <p:sp>
        <p:nvSpPr>
          <p:cNvPr id="18" name="Text 15"/>
          <p:cNvSpPr txBox="1"/>
          <p:nvPr/>
        </p:nvSpPr>
        <p:spPr>
          <a:xfrm>
            <a:off x="5221224" y="2240280"/>
            <a:ext cx="1737360" cy="731520"/>
          </a:xfrm>
          <a:prstGeom prst="rect">
            <a:avLst/>
          </a:prstGeom>
          <a:noFill/>
          <a:ln/>
        </p:spPr>
        <p:txBody>
          <a:bodyPr wrap="square" lIns="0" tIns="0" rIns="0" bIns="0" rtlCol="0" anchor="t"/>
          <a:lstStyle/>
          <a:p>
            <a:pPr marL="0" indent="0">
              <a:buNone/>
            </a:pPr>
            <a:r>
              <a:rPr lang="en-US" sz="1400" dirty="0">
                <a:solidFill>
                  <a:srgbClr val="1B2A34"/>
                </a:solidFill>
              </a:rPr>
              <a:t>79 terms</a:t>
            </a:r>
            <a:endParaRPr lang="en-US" sz="1400" dirty="0"/>
          </a:p>
        </p:txBody>
      </p:sp>
      <p:sp>
        <p:nvSpPr>
          <p:cNvPr id="19" name="Shape 16"/>
          <p:cNvSpPr/>
          <p:nvPr/>
        </p:nvSpPr>
        <p:spPr>
          <a:xfrm>
            <a:off x="7095744" y="2377440"/>
            <a:ext cx="256032" cy="0"/>
          </a:xfrm>
          <a:prstGeom prst="line">
            <a:avLst/>
          </a:prstGeom>
          <a:noFill/>
          <a:ln w="25400">
            <a:solidFill>
              <a:srgbClr val="1B2A34"/>
            </a:solidFill>
            <a:prstDash val="solid"/>
            <a:tailEnd type="triangle"/>
          </a:ln>
        </p:spPr>
      </p:sp>
      <p:sp>
        <p:nvSpPr>
          <p:cNvPr id="20" name="Text 17"/>
          <p:cNvSpPr txBox="1"/>
          <p:nvPr/>
        </p:nvSpPr>
        <p:spPr>
          <a:xfrm>
            <a:off x="5084064" y="3291840"/>
            <a:ext cx="2011680" cy="594360"/>
          </a:xfrm>
          <a:prstGeom prst="rect">
            <a:avLst/>
          </a:prstGeom>
          <a:noFill/>
          <a:ln/>
        </p:spPr>
        <p:txBody>
          <a:bodyPr wrap="square" lIns="0" tIns="0" rIns="0" bIns="0" rtlCol="0" anchor="t"/>
          <a:lstStyle/>
          <a:p>
            <a:pPr marL="0" indent="0">
              <a:buNone/>
            </a:pPr>
            <a:r>
              <a:rPr lang="en-US" sz="1400" dirty="0">
                <a:solidFill>
                  <a:schemeClr val="tx2"/>
                </a:solidFill>
              </a:rPr>
              <a:t>Plain-language meanings</a:t>
            </a:r>
            <a:endParaRPr lang="en-US" sz="1400" dirty="0"/>
          </a:p>
        </p:txBody>
      </p:sp>
      <p:sp>
        <p:nvSpPr>
          <p:cNvPr id="21" name="Text 18"/>
          <p:cNvSpPr txBox="1"/>
          <p:nvPr/>
        </p:nvSpPr>
        <p:spPr>
          <a:xfrm>
            <a:off x="5084064" y="3931920"/>
            <a:ext cx="2011680" cy="274320"/>
          </a:xfrm>
          <a:prstGeom prst="rect">
            <a:avLst/>
          </a:prstGeom>
          <a:noFill/>
          <a:ln/>
        </p:spPr>
        <p:txBody>
          <a:bodyPr wrap="square" lIns="0" tIns="0" rIns="0" bIns="0" rtlCol="0" anchor="t"/>
          <a:lstStyle/>
          <a:p>
            <a:pPr marL="0" indent="0">
              <a:buNone/>
            </a:pPr>
            <a:r>
              <a:rPr lang="en-US" sz="1400" b="1" dirty="0">
                <a:solidFill>
                  <a:schemeClr val="tx1"/>
                </a:solidFill>
                <a:latin typeface="Courier New" pitchFamily="34" charset="0"/>
                <a:ea typeface="Courier New" pitchFamily="34" charset="-122"/>
                <a:cs typeface="Courier New" pitchFamily="34" charset="-120"/>
              </a:rPr>
              <a:t>metadata/</a:t>
            </a:r>
            <a:endParaRPr lang="en-US" sz="1400" dirty="0"/>
          </a:p>
        </p:txBody>
      </p:sp>
      <p:sp>
        <p:nvSpPr>
          <p:cNvPr id="22" name="Layer box"/>
          <p:cNvSpPr/>
          <p:nvPr/>
        </p:nvSpPr>
        <p:spPr>
          <a:xfrm>
            <a:off x="7351776" y="1645920"/>
            <a:ext cx="2011680" cy="1463040"/>
          </a:xfrm>
          <a:prstGeom prst="rect">
            <a:avLst/>
          </a:prstGeom>
          <a:solidFill>
            <a:srgbClr val="D9A404"/>
          </a:solidFill>
          <a:ln w="12700">
            <a:solidFill>
              <a:srgbClr val="D9A404"/>
            </a:solidFill>
            <a:prstDash val="solid"/>
          </a:ln>
        </p:spPr>
      </p:sp>
      <p:sp>
        <p:nvSpPr>
          <p:cNvPr id="23" name="Text 20"/>
          <p:cNvSpPr txBox="1"/>
          <p:nvPr/>
        </p:nvSpPr>
        <p:spPr>
          <a:xfrm>
            <a:off x="7488936" y="1783080"/>
            <a:ext cx="1737360" cy="365760"/>
          </a:xfrm>
          <a:prstGeom prst="rect">
            <a:avLst/>
          </a:prstGeom>
          <a:noFill/>
          <a:ln/>
        </p:spPr>
        <p:txBody>
          <a:bodyPr wrap="square" lIns="0" tIns="0" rIns="0" bIns="0" rtlCol="0" anchor="t"/>
          <a:lstStyle/>
          <a:p>
            <a:pPr marL="0" indent="0">
              <a:buNone/>
            </a:pPr>
            <a:r>
              <a:rPr lang="en-US" sz="2000" b="1" dirty="0">
                <a:solidFill>
                  <a:srgbClr val="1B2A34"/>
                </a:solidFill>
              </a:rPr>
              <a:t>Lineage</a:t>
            </a:r>
            <a:endParaRPr lang="en-US" sz="2000" dirty="0"/>
          </a:p>
        </p:txBody>
      </p:sp>
      <p:sp>
        <p:nvSpPr>
          <p:cNvPr id="24" name="Text 21"/>
          <p:cNvSpPr txBox="1"/>
          <p:nvPr/>
        </p:nvSpPr>
        <p:spPr>
          <a:xfrm>
            <a:off x="7488936" y="2240280"/>
            <a:ext cx="1737360" cy="731520"/>
          </a:xfrm>
          <a:prstGeom prst="rect">
            <a:avLst/>
          </a:prstGeom>
          <a:noFill/>
          <a:ln/>
        </p:spPr>
        <p:txBody>
          <a:bodyPr wrap="square" lIns="0" tIns="0" rIns="0" bIns="0" rtlCol="0" anchor="t"/>
          <a:lstStyle/>
          <a:p>
            <a:pPr marL="0" indent="0">
              <a:buNone/>
            </a:pPr>
            <a:r>
              <a:rPr lang="en-US" sz="1400" dirty="0">
                <a:solidFill>
                  <a:srgbClr val="1B2A34"/>
                </a:solidFill>
              </a:rPr>
              <a:t>10 datasets</a:t>
            </a:r>
            <a:endParaRPr lang="en-US" sz="1400" dirty="0"/>
          </a:p>
        </p:txBody>
      </p:sp>
      <p:sp>
        <p:nvSpPr>
          <p:cNvPr id="25" name="Shape 22"/>
          <p:cNvSpPr/>
          <p:nvPr/>
        </p:nvSpPr>
        <p:spPr>
          <a:xfrm>
            <a:off x="9363456" y="2377440"/>
            <a:ext cx="256032" cy="0"/>
          </a:xfrm>
          <a:prstGeom prst="line">
            <a:avLst/>
          </a:prstGeom>
          <a:noFill/>
          <a:ln w="25400">
            <a:solidFill>
              <a:srgbClr val="1B2A34"/>
            </a:solidFill>
            <a:prstDash val="solid"/>
            <a:tailEnd type="triangle"/>
          </a:ln>
        </p:spPr>
      </p:sp>
      <p:sp>
        <p:nvSpPr>
          <p:cNvPr id="26" name="Text 23"/>
          <p:cNvSpPr txBox="1"/>
          <p:nvPr/>
        </p:nvSpPr>
        <p:spPr>
          <a:xfrm>
            <a:off x="7351776" y="3291840"/>
            <a:ext cx="2011680" cy="594360"/>
          </a:xfrm>
          <a:prstGeom prst="rect">
            <a:avLst/>
          </a:prstGeom>
          <a:noFill/>
          <a:ln/>
        </p:spPr>
        <p:txBody>
          <a:bodyPr wrap="square" lIns="0" tIns="0" rIns="0" bIns="0" rtlCol="0" anchor="t"/>
          <a:lstStyle/>
          <a:p>
            <a:pPr marL="0" indent="0">
              <a:buNone/>
            </a:pPr>
            <a:r>
              <a:rPr lang="en-US" sz="1400" dirty="0">
                <a:solidFill>
                  <a:schemeClr val="tx2"/>
                </a:solidFill>
              </a:rPr>
              <a:t>Raw file to report, drawn</a:t>
            </a:r>
            <a:endParaRPr lang="en-US" sz="1400" dirty="0"/>
          </a:p>
        </p:txBody>
      </p:sp>
      <p:sp>
        <p:nvSpPr>
          <p:cNvPr id="27" name="Text 24"/>
          <p:cNvSpPr txBox="1"/>
          <p:nvPr/>
        </p:nvSpPr>
        <p:spPr>
          <a:xfrm>
            <a:off x="7351776" y="3931920"/>
            <a:ext cx="2011680" cy="274320"/>
          </a:xfrm>
          <a:prstGeom prst="rect">
            <a:avLst/>
          </a:prstGeom>
          <a:noFill/>
          <a:ln/>
        </p:spPr>
        <p:txBody>
          <a:bodyPr wrap="square" lIns="0" tIns="0" rIns="0" bIns="0" rtlCol="0" anchor="t"/>
          <a:lstStyle/>
          <a:p>
            <a:pPr marL="0" indent="0">
              <a:buNone/>
            </a:pPr>
            <a:r>
              <a:rPr lang="en-US" sz="1400" b="1" dirty="0">
                <a:solidFill>
                  <a:schemeClr val="tx1"/>
                </a:solidFill>
                <a:latin typeface="Courier New" pitchFamily="34" charset="0"/>
                <a:ea typeface="Courier New" pitchFamily="34" charset="-122"/>
                <a:cs typeface="Courier New" pitchFamily="34" charset="-120"/>
              </a:rPr>
              <a:t>lineage/</a:t>
            </a:r>
            <a:endParaRPr lang="en-US" sz="1400" dirty="0"/>
          </a:p>
        </p:txBody>
      </p:sp>
      <p:sp>
        <p:nvSpPr>
          <p:cNvPr id="28" name="Layer box"/>
          <p:cNvSpPr/>
          <p:nvPr/>
        </p:nvSpPr>
        <p:spPr>
          <a:xfrm>
            <a:off x="9619488" y="1645920"/>
            <a:ext cx="2011680" cy="1463040"/>
          </a:xfrm>
          <a:prstGeom prst="rect">
            <a:avLst/>
          </a:prstGeom>
          <a:solidFill>
            <a:srgbClr val="0F766E"/>
          </a:solidFill>
          <a:ln w="12700">
            <a:solidFill>
              <a:srgbClr val="0F766E"/>
            </a:solidFill>
            <a:prstDash val="solid"/>
          </a:ln>
        </p:spPr>
      </p:sp>
      <p:sp>
        <p:nvSpPr>
          <p:cNvPr id="29" name="Text 26"/>
          <p:cNvSpPr txBox="1"/>
          <p:nvPr/>
        </p:nvSpPr>
        <p:spPr>
          <a:xfrm>
            <a:off x="9756648" y="1783080"/>
            <a:ext cx="1737360" cy="365760"/>
          </a:xfrm>
          <a:prstGeom prst="rect">
            <a:avLst/>
          </a:prstGeom>
          <a:noFill/>
          <a:ln/>
        </p:spPr>
        <p:txBody>
          <a:bodyPr wrap="square" lIns="0" tIns="0" rIns="0" bIns="0" rtlCol="0" anchor="t"/>
          <a:lstStyle/>
          <a:p>
            <a:pPr marL="0" indent="0">
              <a:buNone/>
            </a:pPr>
            <a:r>
              <a:rPr lang="en-US" sz="2000" b="1" dirty="0">
                <a:solidFill>
                  <a:srgbClr val="FFFFFF"/>
                </a:solidFill>
              </a:rPr>
              <a:t>Audit log</a:t>
            </a:r>
            <a:endParaRPr lang="en-US" sz="2000" dirty="0"/>
          </a:p>
        </p:txBody>
      </p:sp>
      <p:sp>
        <p:nvSpPr>
          <p:cNvPr id="30" name="Text 27"/>
          <p:cNvSpPr txBox="1"/>
          <p:nvPr/>
        </p:nvSpPr>
        <p:spPr>
          <a:xfrm>
            <a:off x="9756648" y="2240280"/>
            <a:ext cx="1737360" cy="731520"/>
          </a:xfrm>
          <a:prstGeom prst="rect">
            <a:avLst/>
          </a:prstGeom>
          <a:noFill/>
          <a:ln/>
        </p:spPr>
        <p:txBody>
          <a:bodyPr wrap="square" lIns="0" tIns="0" rIns="0" bIns="0" rtlCol="0" anchor="t"/>
          <a:lstStyle/>
          <a:p>
            <a:pPr marL="0" indent="0">
              <a:buNone/>
            </a:pPr>
            <a:r>
              <a:rPr lang="en-US" sz="1400" dirty="0">
                <a:solidFill>
                  <a:srgbClr val="FFFFFF"/>
                </a:solidFill>
              </a:rPr>
              <a:t>Every run</a:t>
            </a:r>
            <a:endParaRPr lang="en-US" sz="1400" dirty="0"/>
          </a:p>
        </p:txBody>
      </p:sp>
      <p:sp>
        <p:nvSpPr>
          <p:cNvPr id="31" name="Text 28"/>
          <p:cNvSpPr txBox="1"/>
          <p:nvPr/>
        </p:nvSpPr>
        <p:spPr>
          <a:xfrm>
            <a:off x="9619488" y="3291840"/>
            <a:ext cx="2011680" cy="594360"/>
          </a:xfrm>
          <a:prstGeom prst="rect">
            <a:avLst/>
          </a:prstGeom>
          <a:noFill/>
          <a:ln/>
        </p:spPr>
        <p:txBody>
          <a:bodyPr wrap="square" lIns="0" tIns="0" rIns="0" bIns="0" rtlCol="0" anchor="t"/>
          <a:lstStyle/>
          <a:p>
            <a:pPr marL="0" indent="0">
              <a:buNone/>
            </a:pPr>
            <a:r>
              <a:rPr lang="en-US" sz="1400" dirty="0">
                <a:solidFill>
                  <a:schemeClr val="tx2"/>
                </a:solidFill>
              </a:rPr>
              <a:t>Stages and row counts</a:t>
            </a:r>
            <a:endParaRPr lang="en-US" sz="1400" dirty="0"/>
          </a:p>
        </p:txBody>
      </p:sp>
      <p:sp>
        <p:nvSpPr>
          <p:cNvPr id="32" name="Text 29"/>
          <p:cNvSpPr txBox="1"/>
          <p:nvPr/>
        </p:nvSpPr>
        <p:spPr>
          <a:xfrm>
            <a:off x="9619488" y="3931920"/>
            <a:ext cx="2011680" cy="274320"/>
          </a:xfrm>
          <a:prstGeom prst="rect">
            <a:avLst/>
          </a:prstGeom>
          <a:noFill/>
          <a:ln/>
        </p:spPr>
        <p:txBody>
          <a:bodyPr wrap="square" lIns="0" tIns="0" rIns="0" bIns="0" rtlCol="0" anchor="t"/>
          <a:lstStyle/>
          <a:p>
            <a:pPr marL="0" indent="0">
              <a:buNone/>
            </a:pPr>
            <a:r>
              <a:rPr lang="en-US" sz="1400" b="1" dirty="0">
                <a:solidFill>
                  <a:schemeClr val="tx1"/>
                </a:solidFill>
                <a:latin typeface="Courier New" pitchFamily="34" charset="0"/>
                <a:ea typeface="Courier New" pitchFamily="34" charset="-122"/>
                <a:cs typeface="Courier New" pitchFamily="34" charset="-120"/>
              </a:rPr>
              <a:t>etl_run_log</a:t>
            </a:r>
            <a:endParaRPr lang="en-US" sz="1400" dirty="0"/>
          </a:p>
        </p:txBody>
      </p:sp>
      <p:sp>
        <p:nvSpPr>
          <p:cNvPr id="33" name="Principle card"/>
          <p:cNvSpPr/>
          <p:nvPr/>
        </p:nvSpPr>
        <p:spPr>
          <a:xfrm>
            <a:off x="548640" y="4663440"/>
            <a:ext cx="3520440" cy="1371600"/>
          </a:xfrm>
          <a:prstGeom prst="rect">
            <a:avLst/>
          </a:prstGeom>
          <a:solidFill>
            <a:schemeClr val="bg2"/>
          </a:solidFill>
          <a:ln w="12700">
            <a:solidFill>
              <a:schemeClr val="bg2"/>
            </a:solidFill>
            <a:prstDash val="solid"/>
          </a:ln>
        </p:spPr>
      </p:sp>
      <p:sp>
        <p:nvSpPr>
          <p:cNvPr id="34" name="Text 31"/>
          <p:cNvSpPr txBox="1"/>
          <p:nvPr/>
        </p:nvSpPr>
        <p:spPr>
          <a:xfrm>
            <a:off x="777240" y="4846320"/>
            <a:ext cx="3108960" cy="365760"/>
          </a:xfrm>
          <a:prstGeom prst="rect">
            <a:avLst/>
          </a:prstGeom>
          <a:noFill/>
          <a:ln/>
        </p:spPr>
        <p:txBody>
          <a:bodyPr wrap="square" lIns="0" tIns="0" rIns="0" bIns="0" rtlCol="0" anchor="t"/>
          <a:lstStyle/>
          <a:p>
            <a:pPr marL="0" indent="0">
              <a:buNone/>
            </a:pPr>
            <a:r>
              <a:rPr lang="en-US" sz="1800" b="1" dirty="0">
                <a:solidFill>
                  <a:schemeClr val="accent1"/>
                </a:solidFill>
              </a:rPr>
              <a:t>Lineage found real gaps</a:t>
            </a:r>
            <a:endParaRPr lang="en-US" sz="1800" dirty="0"/>
          </a:p>
        </p:txBody>
      </p:sp>
      <p:sp>
        <p:nvSpPr>
          <p:cNvPr id="35" name="Text 32"/>
          <p:cNvSpPr txBox="1"/>
          <p:nvPr/>
        </p:nvSpPr>
        <p:spPr>
          <a:xfrm>
            <a:off x="777240" y="5303520"/>
            <a:ext cx="3108960" cy="548640"/>
          </a:xfrm>
          <a:prstGeom prst="rect">
            <a:avLst/>
          </a:prstGeom>
          <a:noFill/>
          <a:ln/>
        </p:spPr>
        <p:txBody>
          <a:bodyPr wrap="square" lIns="0" tIns="0" rIns="0" bIns="0" rtlCol="0" anchor="t"/>
          <a:lstStyle/>
          <a:p>
            <a:pPr marL="0" indent="0">
              <a:buNone/>
            </a:pPr>
            <a:r>
              <a:rPr lang="en-US" sz="1400" dirty="0">
                <a:solidFill>
                  <a:schemeClr val="tx1"/>
                </a:solidFill>
              </a:rPr>
              <a:t>Silver reads the raw files, and Sprint 1 procurement differs from the file we use</a:t>
            </a:r>
            <a:endParaRPr lang="en-US" sz="1400" dirty="0"/>
          </a:p>
        </p:txBody>
      </p:sp>
      <p:sp>
        <p:nvSpPr>
          <p:cNvPr id="36" name="Principle card"/>
          <p:cNvSpPr/>
          <p:nvPr/>
        </p:nvSpPr>
        <p:spPr>
          <a:xfrm>
            <a:off x="4334256" y="4663440"/>
            <a:ext cx="3520440" cy="1371600"/>
          </a:xfrm>
          <a:prstGeom prst="rect">
            <a:avLst/>
          </a:prstGeom>
          <a:solidFill>
            <a:schemeClr val="bg2"/>
          </a:solidFill>
          <a:ln w="12700">
            <a:solidFill>
              <a:schemeClr val="bg2"/>
            </a:solidFill>
            <a:prstDash val="solid"/>
          </a:ln>
        </p:spPr>
      </p:sp>
      <p:sp>
        <p:nvSpPr>
          <p:cNvPr id="37" name="Text 34"/>
          <p:cNvSpPr txBox="1"/>
          <p:nvPr/>
        </p:nvSpPr>
        <p:spPr>
          <a:xfrm>
            <a:off x="4562856" y="4846320"/>
            <a:ext cx="3108960" cy="365760"/>
          </a:xfrm>
          <a:prstGeom prst="rect">
            <a:avLst/>
          </a:prstGeom>
          <a:noFill/>
          <a:ln/>
        </p:spPr>
        <p:txBody>
          <a:bodyPr wrap="square" lIns="0" tIns="0" rIns="0" bIns="0" rtlCol="0" anchor="t"/>
          <a:lstStyle/>
          <a:p>
            <a:pPr marL="0" indent="0">
              <a:buNone/>
            </a:pPr>
            <a:r>
              <a:rPr lang="en-US" sz="1800" b="1" dirty="0">
                <a:solidFill>
                  <a:schemeClr val="accent1"/>
                </a:solidFill>
              </a:rPr>
              <a:t>Descriptions live in the database</a:t>
            </a:r>
            <a:endParaRPr lang="en-US" sz="1800" dirty="0"/>
          </a:p>
        </p:txBody>
      </p:sp>
      <p:sp>
        <p:nvSpPr>
          <p:cNvPr id="38" name="Text 35"/>
          <p:cNvSpPr txBox="1"/>
          <p:nvPr/>
        </p:nvSpPr>
        <p:spPr>
          <a:xfrm>
            <a:off x="4562856" y="5303520"/>
            <a:ext cx="3108960" cy="548640"/>
          </a:xfrm>
          <a:prstGeom prst="rect">
            <a:avLst/>
          </a:prstGeom>
          <a:noFill/>
          <a:ln/>
        </p:spPr>
        <p:txBody>
          <a:bodyPr wrap="square" lIns="0" tIns="0" rIns="0" bIns="0" rtlCol="0" anchor="t"/>
          <a:lstStyle/>
          <a:p>
            <a:pPr marL="0" indent="0">
              <a:buNone/>
            </a:pPr>
            <a:r>
              <a:rPr lang="en-US" sz="1400" dirty="0">
                <a:solidFill>
                  <a:schemeClr val="tx1"/>
                </a:solidFill>
              </a:rPr>
              <a:t>pgAdmin shows them; vw_metadata_columns lists them</a:t>
            </a:r>
            <a:endParaRPr lang="en-US" sz="1400" dirty="0"/>
          </a:p>
        </p:txBody>
      </p:sp>
      <p:sp>
        <p:nvSpPr>
          <p:cNvPr id="39" name="Principle card"/>
          <p:cNvSpPr/>
          <p:nvPr/>
        </p:nvSpPr>
        <p:spPr>
          <a:xfrm>
            <a:off x="8119872" y="4663440"/>
            <a:ext cx="3520440" cy="1371600"/>
          </a:xfrm>
          <a:prstGeom prst="rect">
            <a:avLst/>
          </a:prstGeom>
          <a:solidFill>
            <a:schemeClr val="bg2"/>
          </a:solidFill>
          <a:ln w="12700">
            <a:solidFill>
              <a:schemeClr val="bg2"/>
            </a:solidFill>
            <a:prstDash val="solid"/>
          </a:ln>
        </p:spPr>
      </p:sp>
      <p:sp>
        <p:nvSpPr>
          <p:cNvPr id="40" name="Text 37"/>
          <p:cNvSpPr txBox="1"/>
          <p:nvPr/>
        </p:nvSpPr>
        <p:spPr>
          <a:xfrm>
            <a:off x="8348472" y="4846320"/>
            <a:ext cx="3108960" cy="365760"/>
          </a:xfrm>
          <a:prstGeom prst="rect">
            <a:avLst/>
          </a:prstGeom>
          <a:noFill/>
          <a:ln/>
        </p:spPr>
        <p:txBody>
          <a:bodyPr wrap="square" lIns="0" tIns="0" rIns="0" bIns="0" rtlCol="0" anchor="t"/>
          <a:lstStyle/>
          <a:p>
            <a:pPr marL="0" indent="0">
              <a:buNone/>
            </a:pPr>
            <a:r>
              <a:rPr lang="en-US" sz="1800" b="1" dirty="0">
                <a:solidFill>
                  <a:schemeClr val="accent1"/>
                </a:solidFill>
              </a:rPr>
              <a:t>A change has a known impact</a:t>
            </a:r>
            <a:endParaRPr lang="en-US" sz="1800" dirty="0"/>
          </a:p>
        </p:txBody>
      </p:sp>
      <p:sp>
        <p:nvSpPr>
          <p:cNvPr id="41" name="Text 38"/>
          <p:cNvSpPr txBox="1"/>
          <p:nvPr/>
        </p:nvSpPr>
        <p:spPr>
          <a:xfrm>
            <a:off x="8348472" y="5303520"/>
            <a:ext cx="3108960" cy="548640"/>
          </a:xfrm>
          <a:prstGeom prst="rect">
            <a:avLst/>
          </a:prstGeom>
          <a:noFill/>
          <a:ln/>
        </p:spPr>
        <p:txBody>
          <a:bodyPr wrap="square" lIns="0" tIns="0" rIns="0" bIns="0" rtlCol="0" anchor="t"/>
          <a:lstStyle/>
          <a:p>
            <a:pPr marL="0" indent="0">
              <a:buNone/>
            </a:pPr>
            <a:r>
              <a:rPr lang="en-US" sz="1400" dirty="0">
                <a:solidFill>
                  <a:schemeClr val="tx1"/>
                </a:solidFill>
              </a:rPr>
              <a:t>The lineage says which tables and queries to re-run</a:t>
            </a:r>
            <a:endParaRPr lang="en-US" sz="1400" dirty="0"/>
          </a:p>
        </p:txBody>
      </p:sp>
      <p:sp>
        <p:nvSpPr>
          <p:cNvPr id="2"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365760"/>
            <a:ext cx="10149840" cy="777240"/>
          </a:xfrm>
          <a:prstGeom prst="rect">
            <a:avLst/>
          </a:prstGeom>
          <a:noFill/>
          <a:ln/>
        </p:spPr>
        <p:txBody>
          <a:bodyPr wrap="square" lIns="0" tIns="0" rIns="0" bIns="0" rtlCol="0" anchor="ctr"/>
          <a:lstStyle/>
          <a:p>
            <a:pPr marL="0" indent="0" algn="l">
              <a:buNone/>
            </a:pPr>
            <a:r>
              <a:rPr lang="en-US" sz="3600" b="1" dirty="0">
                <a:solidFill>
                  <a:schemeClr val="tx1"/>
                </a:solidFill>
              </a:rPr>
              <a:t>What the data shows</a:t>
            </a:r>
            <a:endParaRPr lang="en-US" sz="36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4608576"/>
        </p:xfrm>
        <a:graphic>
          <a:graphicData uri="http://schemas.openxmlformats.org/drawingml/2006/table">
            <a:tbl>
              <a:tblPr/>
              <a:tblGrid>
                <a:gridCol w="4754880">
                  <a:extLst>
                    <a:ext uri="{9D8B030D-6E8A-4147-A177-3AD203B41FA5}">
                      <a16:colId xmlns:a16="http://schemas.microsoft.com/office/drawing/2014/main" val="20000"/>
                    </a:ext>
                  </a:extLst>
                </a:gridCol>
                <a:gridCol w="6336792">
                  <a:extLst>
                    <a:ext uri="{9D8B030D-6E8A-4147-A177-3AD203B41FA5}">
                      <a16:colId xmlns:a16="http://schemas.microsoft.com/office/drawing/2014/main" val="20001"/>
                    </a:ext>
                  </a:extLst>
                </a:gridCol>
              </a:tblGrid>
              <a:tr h="658368">
                <a:tc>
                  <a:txBody>
                    <a:bodyPr/>
                    <a:lstStyle/>
                    <a:p>
                      <a:pPr marL="0" indent="0">
                        <a:buNone/>
                      </a:pPr>
                      <a:r>
                        <a:rPr lang="en-US" sz="1600" b="1" dirty="0">
                          <a:solidFill>
                            <a:schemeClr val="bg1"/>
                          </a:solidFill>
                        </a:rPr>
                        <a:t>Area</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buNone/>
                      </a:pPr>
                      <a:r>
                        <a:rPr lang="en-US" sz="1600" b="1" dirty="0">
                          <a:solidFill>
                            <a:schemeClr val="bg1"/>
                          </a:solidFill>
                        </a:rPr>
                        <a:t>What we found</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58368">
                <a:tc>
                  <a:txBody>
                    <a:bodyPr/>
                    <a:lstStyle/>
                    <a:p>
                      <a:pPr marL="0" indent="0">
                        <a:buNone/>
                      </a:pPr>
                      <a:r>
                        <a:rPr lang="en-US" sz="1600" dirty="0">
                          <a:solidFill>
                            <a:schemeClr val="tx1"/>
                          </a:solidFill>
                        </a:rPr>
                        <a:t>Sales</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Three categories earn almost the same; female customers give 51.1% of revenue</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1"/>
                  </a:ext>
                </a:extLst>
              </a:tr>
              <a:tr h="658368">
                <a:tc>
                  <a:txBody>
                    <a:bodyPr/>
                    <a:lstStyle/>
                    <a:p>
                      <a:pPr marL="0" indent="0">
                        <a:buNone/>
                      </a:pPr>
                      <a:r>
                        <a:rPr lang="en-US" sz="1600" dirty="0">
                          <a:solidFill>
                            <a:schemeClr val="tx1"/>
                          </a:solidFill>
                        </a:rPr>
                        <a:t>Procurement</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25.1% of the ordered value was cancelled; SUP004 is the largest supplier</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2"/>
                  </a:ext>
                </a:extLst>
              </a:tr>
              <a:tr h="658368">
                <a:tc>
                  <a:txBody>
                    <a:bodyPr/>
                    <a:lstStyle/>
                    <a:p>
                      <a:pPr marL="0" indent="0">
                        <a:buNone/>
                      </a:pPr>
                      <a:r>
                        <a:rPr lang="en-US" sz="1600" dirty="0">
                          <a:solidFill>
                            <a:schemeClr val="tx1"/>
                          </a:solidFill>
                        </a:rPr>
                        <a:t>Receivables</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65.7% flagged delayed, but 30.5% have dates that contradict each other</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3"/>
                  </a:ext>
                </a:extLst>
              </a:tr>
              <a:tr h="658368">
                <a:tc>
                  <a:txBody>
                    <a:bodyPr/>
                    <a:lstStyle/>
                    <a:p>
                      <a:pPr marL="0" indent="0">
                        <a:buNone/>
                      </a:pPr>
                      <a:r>
                        <a:rPr lang="en-US" sz="1600" dirty="0">
                          <a:solidFill>
                            <a:schemeClr val="tx1"/>
                          </a:solidFill>
                        </a:rPr>
                        <a:t>Inventory</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Grocery is 84.5% of demand; demand is almost flat through the year</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4"/>
                  </a:ext>
                </a:extLst>
              </a:tr>
              <a:tr h="658368">
                <a:tc>
                  <a:txBody>
                    <a:bodyPr/>
                    <a:lstStyle/>
                    <a:p>
                      <a:pPr marL="0" indent="0">
                        <a:buNone/>
                      </a:pPr>
                      <a:r>
                        <a:rPr lang="en-US" sz="1600" dirty="0">
                          <a:solidFill>
                            <a:schemeClr val="tx1"/>
                          </a:solidFill>
                        </a:rPr>
                        <a:t>Warehouse</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237 items (7.4%) are below the reorder point; Zone D has most stockouts</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5"/>
                  </a:ext>
                </a:extLst>
              </a:tr>
              <a:tr h="658368">
                <a:tc>
                  <a:txBody>
                    <a:bodyPr/>
                    <a:lstStyle/>
                    <a:p>
                      <a:pPr marL="0" indent="0">
                        <a:buNone/>
                      </a:pPr>
                      <a:r>
                        <a:rPr lang="en-US" sz="1600" dirty="0">
                          <a:solidFill>
                            <a:schemeClr val="tx1"/>
                          </a:solidFill>
                        </a:rPr>
                        <a:t>Manufacturing</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chemeClr val="tx1"/>
                          </a:solidFill>
                        </a:rPr>
                        <a:t>M04 and M03 fail most (17.6% and 15.6%); 12.9% of all jobs failed</a:t>
                      </a:r>
                      <a:endParaRPr lang="en-US" sz="16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365760"/>
            <a:ext cx="10149840" cy="777240"/>
          </a:xfrm>
          <a:prstGeom prst="rect">
            <a:avLst/>
          </a:prstGeom>
          <a:noFill/>
          <a:ln/>
        </p:spPr>
        <p:txBody>
          <a:bodyPr wrap="square" lIns="0" tIns="0" rIns="0" bIns="0" rtlCol="0" anchor="ctr"/>
          <a:lstStyle/>
          <a:p>
            <a:pPr marL="0" indent="0" algn="l">
              <a:buNone/>
            </a:pPr>
            <a:r>
              <a:rPr lang="en-US" sz="3600" b="1" dirty="0">
                <a:solidFill>
                  <a:schemeClr val="tx1"/>
                </a:solidFill>
              </a:rPr>
              <a:t>Dashboards in Tableau</a:t>
            </a:r>
            <a:endParaRPr lang="en-US" sz="3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394960" cy="2304288"/>
        </p:xfrm>
        <a:graphic>
          <a:graphicData uri="http://schemas.openxmlformats.org/drawingml/2006/table">
            <a:tbl>
              <a:tblPr/>
              <a:tblGrid>
                <a:gridCol w="164592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tblGrid>
              <a:tr h="384048">
                <a:tc>
                  <a:txBody>
                    <a:bodyPr/>
                    <a:lstStyle/>
                    <a:p>
                      <a:pPr marL="0" indent="0">
                        <a:buNone/>
                      </a:pPr>
                      <a:r>
                        <a:rPr lang="en-US" sz="1400" b="1" dirty="0">
                          <a:solidFill>
                            <a:schemeClr val="bg1"/>
                          </a:solidFill>
                        </a:rPr>
                        <a:t>Dashboard 1</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lgn="l">
                        <a:buNone/>
                      </a:pPr>
                      <a:r>
                        <a:rPr lang="en-US" sz="1400" b="1" dirty="0">
                          <a:solidFill>
                            <a:schemeClr val="bg1"/>
                          </a:solidFill>
                        </a:rPr>
                        <a:t>What the sheet shows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Chart</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84048">
                <a:tc>
                  <a:txBody>
                    <a:bodyPr/>
                    <a:lstStyle/>
                    <a:p>
                      <a:pPr marL="0" indent="0">
                        <a:buNone/>
                      </a:pPr>
                      <a:r>
                        <a:rPr lang="en-US" sz="1400" dirty="0">
                          <a:solidFill>
                            <a:schemeClr val="tx1"/>
                          </a:solidFill>
                        </a:rPr>
                        <a:t>Sales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l">
                        <a:buNone/>
                      </a:pPr>
                      <a:r>
                        <a:rPr lang="en-US" sz="1400" dirty="0">
                          <a:solidFill>
                            <a:schemeClr val="tx1"/>
                          </a:solidFill>
                        </a:rPr>
                        <a:t>Amount by product category</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ctr">
                        <a:buNone/>
                      </a:pPr>
                      <a:r>
                        <a:rPr lang="en-US" sz="1400" b="1" dirty="0">
                          <a:solidFill>
                            <a:schemeClr val="bg1"/>
                          </a:solidFill>
                        </a:rPr>
                        <a:t>Bar</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384048">
                <a:tc>
                  <a:txBody>
                    <a:bodyPr/>
                    <a:lstStyle/>
                    <a:p>
                      <a:pPr marL="0" indent="0">
                        <a:buNone/>
                      </a:pPr>
                      <a:r>
                        <a:rPr lang="en-US" sz="1400" dirty="0">
                          <a:solidFill>
                            <a:schemeClr val="tx1"/>
                          </a:solidFill>
                        </a:rPr>
                        <a:t>Warehouse</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l">
                        <a:buNone/>
                      </a:pPr>
                      <a:r>
                        <a:rPr lang="en-US" sz="1400" dirty="0">
                          <a:solidFill>
                            <a:schemeClr val="tx1"/>
                          </a:solidFill>
                        </a:rPr>
                        <a:t>Daily demand by category</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ctr">
                        <a:buNone/>
                      </a:pPr>
                      <a:r>
                        <a:rPr lang="en-US" sz="1400" b="1" dirty="0">
                          <a:solidFill>
                            <a:schemeClr val="bg1"/>
                          </a:solidFill>
                        </a:rPr>
                        <a:t>Area</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384048">
                <a:tc>
                  <a:txBody>
                    <a:bodyPr/>
                    <a:lstStyle/>
                    <a:p>
                      <a:pPr marL="0" indent="0">
                        <a:buNone/>
                      </a:pPr>
                      <a:r>
                        <a:rPr lang="en-US" sz="1400" dirty="0">
                          <a:solidFill>
                            <a:schemeClr val="tx1"/>
                          </a:solidFill>
                        </a:rPr>
                        <a:t>Receivables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l">
                        <a:buNone/>
                      </a:pPr>
                      <a:r>
                        <a:rPr lang="en-US" sz="1400" dirty="0">
                          <a:solidFill>
                            <a:schemeClr val="tx1"/>
                          </a:solidFill>
                        </a:rPr>
                        <a:t>Days overdue by region, city</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ctr">
                        <a:buNone/>
                      </a:pPr>
                      <a:r>
                        <a:rPr lang="en-US" sz="1400" b="1" dirty="0">
                          <a:solidFill>
                            <a:schemeClr val="bg1"/>
                          </a:solidFill>
                        </a:rPr>
                        <a:t>Bar</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384048">
                <a:tc>
                  <a:txBody>
                    <a:bodyPr/>
                    <a:lstStyle/>
                    <a:p>
                      <a:pPr marL="0" indent="0">
                        <a:buNone/>
                      </a:pPr>
                      <a:r>
                        <a:rPr lang="en-US" sz="1400" dirty="0">
                          <a:solidFill>
                            <a:schemeClr val="tx1"/>
                          </a:solidFill>
                        </a:rPr>
                        <a:t>Procurement</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l">
                        <a:buNone/>
                      </a:pPr>
                      <a:r>
                        <a:rPr lang="en-US" sz="1400" dirty="0">
                          <a:solidFill>
                            <a:schemeClr val="tx1"/>
                          </a:solidFill>
                        </a:rPr>
                        <a:t>Total cost by item</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ctr">
                        <a:buNone/>
                      </a:pPr>
                      <a:r>
                        <a:rPr lang="en-US" sz="1400" b="1" dirty="0">
                          <a:solidFill>
                            <a:schemeClr val="bg1"/>
                          </a:solidFill>
                        </a:rPr>
                        <a:t>Bar</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r h="384048">
                <a:tc>
                  <a:txBody>
                    <a:bodyPr/>
                    <a:lstStyle/>
                    <a:p>
                      <a:pPr marL="0" indent="0">
                        <a:buNone/>
                      </a:pPr>
                      <a:r>
                        <a:rPr lang="en-US" sz="1400" dirty="0">
                          <a:solidFill>
                            <a:schemeClr val="tx1"/>
                          </a:solidFill>
                        </a:rPr>
                        <a:t>Finance</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l">
                        <a:buNone/>
                      </a:pPr>
                      <a:r>
                        <a:rPr lang="en-US" sz="1400" dirty="0">
                          <a:solidFill>
                            <a:schemeClr val="tx1"/>
                          </a:solidFill>
                        </a:rPr>
                        <a:t>Revenue by account type</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ctr">
                        <a:buNone/>
                      </a:pPr>
                      <a:r>
                        <a:rPr lang="en-US" sz="1400" b="1" dirty="0">
                          <a:solidFill>
                            <a:schemeClr val="bg1"/>
                          </a:solidFill>
                        </a:rPr>
                        <a:t>Pie</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accent1"/>
                    </a:solidFill>
                  </a:tcPr>
                </a:tc>
                <a:extLst>
                  <a:ext uri="{0D108BD9-81ED-4DB2-BD59-A6C34878D82A}">
                    <a16:rowId xmlns:a16="http://schemas.microsoft.com/office/drawing/2014/main" val="10005"/>
                  </a:ext>
                </a:extLst>
              </a:tr>
            </a:tbl>
          </a:graphicData>
        </a:graphic>
      </p:graphicFrame>
      <p:graphicFrame>
        <p:nvGraphicFramePr>
          <p:cNvPr id="49" name="Table 1"/>
          <p:cNvGraphicFramePr>
            <a:graphicFrameLocks noGrp="1"/>
          </p:cNvGraphicFramePr>
          <p:nvPr>
            <p:extLst>
              <p:ext uri="{D42A27DB-BD31-4B8C-83A1-F6EECF244321}">
                <p14:modId xmlns:p14="http://schemas.microsoft.com/office/powerpoint/2010/main" val="1579011935"/>
              </p:ext>
            </p:extLst>
          </p:nvPr>
        </p:nvGraphicFramePr>
        <p:xfrm>
          <a:off x="6245352" y="1371600"/>
          <a:ext cx="5394960" cy="2423160"/>
        </p:xfrm>
        <a:graphic>
          <a:graphicData uri="http://schemas.openxmlformats.org/drawingml/2006/table">
            <a:tbl>
              <a:tblPr/>
              <a:tblGrid>
                <a:gridCol w="164592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tblGrid>
              <a:tr h="384048">
                <a:tc>
                  <a:txBody>
                    <a:bodyPr/>
                    <a:lstStyle/>
                    <a:p>
                      <a:pPr marL="0" indent="0">
                        <a:buNone/>
                      </a:pPr>
                      <a:r>
                        <a:rPr lang="en-US" sz="1400" b="1" dirty="0">
                          <a:solidFill>
                            <a:schemeClr val="bg1"/>
                          </a:solidFill>
                        </a:rPr>
                        <a:t>Dashboard 2</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lgn="l">
                        <a:buNone/>
                      </a:pPr>
                      <a:r>
                        <a:rPr lang="en-US" sz="1400" b="1" dirty="0">
                          <a:solidFill>
                            <a:schemeClr val="bg1"/>
                          </a:solidFill>
                        </a:rPr>
                        <a:t>What the sheet shows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Chart</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84048">
                <a:tc>
                  <a:txBody>
                    <a:bodyPr/>
                    <a:lstStyle/>
                    <a:p>
                      <a:pPr marL="0" indent="0">
                        <a:buNone/>
                      </a:pPr>
                      <a:r>
                        <a:rPr lang="en-US" sz="1400" dirty="0">
                          <a:solidFill>
                            <a:schemeClr val="tx1"/>
                          </a:solidFill>
                        </a:rPr>
                        <a:t>Manufacturing</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l">
                        <a:buNone/>
                      </a:pPr>
                      <a:r>
                        <a:rPr lang="en-US" sz="1400" dirty="0">
                          <a:solidFill>
                            <a:schemeClr val="tx1"/>
                          </a:solidFill>
                        </a:rPr>
                        <a:t>Availability by operation type</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ctr">
                        <a:buNone/>
                      </a:pPr>
                      <a:r>
                        <a:rPr lang="en-US" sz="1400" b="1" dirty="0">
                          <a:solidFill>
                            <a:schemeClr val="bg1"/>
                          </a:solidFill>
                        </a:rPr>
                        <a:t>Treemap</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384048">
                <a:tc>
                  <a:txBody>
                    <a:bodyPr/>
                    <a:lstStyle/>
                    <a:p>
                      <a:pPr marL="0" indent="0">
                        <a:buNone/>
                      </a:pPr>
                      <a:r>
                        <a:rPr lang="en-US" sz="1400" dirty="0">
                          <a:solidFill>
                            <a:schemeClr val="tx1"/>
                          </a:solidFill>
                        </a:rPr>
                        <a:t>Inventory</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l">
                        <a:buNone/>
                      </a:pPr>
                      <a:r>
                        <a:rPr lang="en-US" sz="1400" dirty="0">
                          <a:solidFill>
                            <a:schemeClr val="tx1"/>
                          </a:solidFill>
                        </a:rPr>
                        <a:t>Demand by month and category</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ctr">
                        <a:buNone/>
                      </a:pPr>
                      <a:r>
                        <a:rPr lang="en-US" sz="1400" b="1" dirty="0">
                          <a:solidFill>
                            <a:schemeClr val="bg1"/>
                          </a:solidFill>
                        </a:rPr>
                        <a:t>Heat table</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384048">
                <a:tc>
                  <a:txBody>
                    <a:bodyPr/>
                    <a:lstStyle/>
                    <a:p>
                      <a:pPr marL="0" indent="0">
                        <a:buNone/>
                      </a:pPr>
                      <a:r>
                        <a:rPr lang="en-US" sz="1400" dirty="0">
                          <a:solidFill>
                            <a:schemeClr val="tx1"/>
                          </a:solidFill>
                        </a:rPr>
                        <a:t>HR</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l">
                        <a:buNone/>
                      </a:pPr>
                      <a:r>
                        <a:rPr lang="en-US" sz="1400" dirty="0">
                          <a:solidFill>
                            <a:schemeClr val="tx1"/>
                          </a:solidFill>
                        </a:rPr>
                        <a:t>Salary by age group</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ctr">
                        <a:buNone/>
                      </a:pPr>
                      <a:r>
                        <a:rPr lang="en-US" sz="1400" b="1" dirty="0">
                          <a:solidFill>
                            <a:schemeClr val="bg1"/>
                          </a:solidFill>
                        </a:rPr>
                        <a:t>Pie</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384048">
                <a:tc>
                  <a:txBody>
                    <a:bodyPr/>
                    <a:lstStyle/>
                    <a:p>
                      <a:pPr marL="0" indent="0">
                        <a:buNone/>
                      </a:pPr>
                      <a:r>
                        <a:rPr lang="en-US" sz="1400" dirty="0">
                          <a:solidFill>
                            <a:schemeClr val="tx1"/>
                          </a:solidFill>
                        </a:rPr>
                        <a:t>Customers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l">
                        <a:buNone/>
                      </a:pPr>
                      <a:r>
                        <a:rPr lang="en-US" sz="1400" dirty="0">
                          <a:solidFill>
                            <a:schemeClr val="tx1"/>
                          </a:solidFill>
                        </a:rPr>
                        <a:t>Credit limit by city</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ctr">
                        <a:buNone/>
                      </a:pPr>
                      <a:r>
                        <a:rPr lang="en-US" sz="1400" b="1" dirty="0">
                          <a:solidFill>
                            <a:schemeClr val="bg1"/>
                          </a:solidFill>
                        </a:rPr>
                        <a:t>Map</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r h="384048">
                <a:tc>
                  <a:txBody>
                    <a:bodyPr/>
                    <a:lstStyle/>
                    <a:p>
                      <a:pPr marL="0" indent="0">
                        <a:buNone/>
                      </a:pPr>
                      <a:r>
                        <a:rPr lang="en-US" sz="1400" dirty="0">
                          <a:solidFill>
                            <a:schemeClr val="tx1"/>
                          </a:solidFill>
                        </a:rPr>
                        <a:t>Assets</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l">
                        <a:buNone/>
                      </a:pPr>
                      <a:r>
                        <a:rPr lang="en-US" sz="1400" dirty="0">
                          <a:solidFill>
                            <a:schemeClr val="tx1"/>
                          </a:solidFill>
                        </a:rPr>
                        <a:t>Condition score by type, state</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lgn="ctr">
                        <a:buNone/>
                      </a:pPr>
                      <a:r>
                        <a:rPr lang="en-US" sz="1400" b="1" dirty="0">
                          <a:solidFill>
                            <a:schemeClr val="bg1"/>
                          </a:solidFill>
                        </a:rPr>
                        <a:t>Bar</a:t>
                      </a:r>
                      <a:endParaRPr lang="en-US" sz="1400" dirty="0"/>
                    </a:p>
                  </a:txBody>
                  <a:tcPr marL="101600" marR="101600" marT="38100" marB="381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accent1"/>
                    </a:solidFill>
                  </a:tcPr>
                </a:tc>
                <a:extLst>
                  <a:ext uri="{0D108BD9-81ED-4DB2-BD59-A6C34878D82A}">
                    <a16:rowId xmlns:a16="http://schemas.microsoft.com/office/drawing/2014/main" val="10005"/>
                  </a:ext>
                </a:extLst>
              </a:tr>
            </a:tbl>
          </a:graphicData>
        </a:graphic>
      </p:graphicFrame>
      <p:sp>
        <p:nvSpPr>
          <p:cNvPr id="6" name="Text 1"/>
          <p:cNvSpPr txBox="1"/>
          <p:nvPr/>
        </p:nvSpPr>
        <p:spPr>
          <a:xfrm>
            <a:off x="6245352" y="4526280"/>
            <a:ext cx="5394960" cy="457200"/>
          </a:xfrm>
          <a:prstGeom prst="rect">
            <a:avLst/>
          </a:prstGeom>
          <a:noFill/>
          <a:ln/>
        </p:spPr>
        <p:txBody>
          <a:bodyPr wrap="square" lIns="0" tIns="0" rIns="0" bIns="0" rtlCol="0" anchor="t"/>
          <a:lstStyle/>
          <a:p>
            <a:pPr marL="0" indent="0">
              <a:buNone/>
            </a:pPr>
            <a:r>
              <a:rPr lang="en-US" sz="1400" dirty="0">
                <a:solidFill>
                  <a:schemeClr val="tx2"/>
                </a:solidFill>
              </a:rPr>
              <a:t>Built on the exported dashboard views. Open dashboards/Dashboards.twbx in Tableau Reader or Tableau Public.</a:t>
            </a:r>
            <a:endParaRPr lang="en-US" sz="1400" dirty="0"/>
          </a:p>
        </p:txBody>
      </p:sp>
      <p:sp>
        <p:nvSpPr>
          <p:cNvPr id="7" name="Demo bar"/>
          <p:cNvSpPr/>
          <p:nvPr/>
        </p:nvSpPr>
        <p:spPr>
          <a:xfrm>
            <a:off x="548640" y="5212080"/>
            <a:ext cx="11091672" cy="1051560"/>
          </a:xfrm>
          <a:prstGeom prst="rect">
            <a:avLst/>
          </a:prstGeom>
          <a:solidFill>
            <a:schemeClr val="tx1"/>
          </a:solidFill>
          <a:ln w="12700">
            <a:solidFill>
              <a:schemeClr val="bg2"/>
            </a:solidFill>
            <a:prstDash val="solid"/>
          </a:ln>
        </p:spPr>
      </p:sp>
      <p:pic>
        <p:nvPicPr>
          <p:cNvPr id="8" name="Image 0" descr="preencoded.png"/>
          <p:cNvPicPr>
            <a:picLocks noChangeAspect="1"/>
          </p:cNvPicPr>
          <p:nvPr/>
        </p:nvPicPr>
        <p:blipFill>
          <a:blip r:embed="rId3"/>
          <a:stretch>
            <a:fillRect/>
          </a:stretch>
        </p:blipFill>
        <p:spPr>
          <a:xfrm>
            <a:off x="777240" y="5509260"/>
            <a:ext cx="457200" cy="457200"/>
          </a:xfrm>
          <a:prstGeom prst="rect">
            <a:avLst/>
          </a:prstGeom>
        </p:spPr>
      </p:pic>
      <p:sp>
        <p:nvSpPr>
          <p:cNvPr id="9" name="Text 3"/>
          <p:cNvSpPr txBox="1"/>
          <p:nvPr/>
        </p:nvSpPr>
        <p:spPr>
          <a:xfrm>
            <a:off x="1417320" y="5212080"/>
            <a:ext cx="2788920" cy="1051560"/>
          </a:xfrm>
          <a:prstGeom prst="rect">
            <a:avLst/>
          </a:prstGeom>
          <a:noFill/>
          <a:ln/>
        </p:spPr>
        <p:txBody>
          <a:bodyPr wrap="square" lIns="0" tIns="0" rIns="0" bIns="0" rtlCol="0" anchor="ctr"/>
          <a:lstStyle/>
          <a:p>
            <a:pPr marL="0" indent="0">
              <a:buNone/>
            </a:pPr>
            <a:r>
              <a:rPr lang="en-US" sz="1400" dirty="0">
                <a:solidFill>
                  <a:schemeClr val="bg1"/>
                </a:solidFill>
              </a:rPr>
              <a:t>Tableau Reader (free)</a:t>
            </a:r>
            <a:endParaRPr lang="en-US" sz="1400" dirty="0"/>
          </a:p>
        </p:txBody>
      </p:sp>
      <p:pic>
        <p:nvPicPr>
          <p:cNvPr id="10" name="Image 1" descr="preencoded.png"/>
          <p:cNvPicPr>
            <a:picLocks noChangeAspect="1"/>
          </p:cNvPicPr>
          <p:nvPr/>
        </p:nvPicPr>
        <p:blipFill>
          <a:blip r:embed="rId4"/>
          <a:stretch>
            <a:fillRect/>
          </a:stretch>
        </p:blipFill>
        <p:spPr>
          <a:xfrm>
            <a:off x="4434840" y="5509260"/>
            <a:ext cx="457200" cy="457200"/>
          </a:xfrm>
          <a:prstGeom prst="rect">
            <a:avLst/>
          </a:prstGeom>
        </p:spPr>
      </p:pic>
      <p:sp>
        <p:nvSpPr>
          <p:cNvPr id="11" name="Text 4"/>
          <p:cNvSpPr txBox="1"/>
          <p:nvPr/>
        </p:nvSpPr>
        <p:spPr>
          <a:xfrm>
            <a:off x="5074920" y="5212080"/>
            <a:ext cx="2788920" cy="1051560"/>
          </a:xfrm>
          <a:prstGeom prst="rect">
            <a:avLst/>
          </a:prstGeom>
          <a:noFill/>
          <a:ln/>
        </p:spPr>
        <p:txBody>
          <a:bodyPr wrap="square" lIns="0" tIns="0" rIns="0" bIns="0" rtlCol="0" anchor="ctr"/>
          <a:lstStyle/>
          <a:p>
            <a:pPr marL="0" indent="0">
              <a:buNone/>
            </a:pPr>
            <a:r>
              <a:rPr lang="en-US" sz="1400" dirty="0">
                <a:solidFill>
                  <a:schemeClr val="bg1"/>
                </a:solidFill>
              </a:rPr>
              <a:t>Open dashboards/Dashboards.twbx</a:t>
            </a:r>
            <a:endParaRPr lang="en-US" sz="1400" dirty="0"/>
          </a:p>
        </p:txBody>
      </p:sp>
      <p:pic>
        <p:nvPicPr>
          <p:cNvPr id="12" name="Image 2" descr="preencoded.png"/>
          <p:cNvPicPr>
            <a:picLocks noChangeAspect="1"/>
          </p:cNvPicPr>
          <p:nvPr/>
        </p:nvPicPr>
        <p:blipFill>
          <a:blip r:embed="rId5"/>
          <a:stretch>
            <a:fillRect/>
          </a:stretch>
        </p:blipFill>
        <p:spPr>
          <a:xfrm>
            <a:off x="8092440" y="5509260"/>
            <a:ext cx="457200" cy="457200"/>
          </a:xfrm>
          <a:prstGeom prst="rect">
            <a:avLst/>
          </a:prstGeom>
        </p:spPr>
      </p:pic>
      <p:sp>
        <p:nvSpPr>
          <p:cNvPr id="13" name="Text 5"/>
          <p:cNvSpPr txBox="1"/>
          <p:nvPr/>
        </p:nvSpPr>
        <p:spPr>
          <a:xfrm>
            <a:off x="8732520" y="5212080"/>
            <a:ext cx="2788920" cy="1051560"/>
          </a:xfrm>
          <a:prstGeom prst="rect">
            <a:avLst/>
          </a:prstGeom>
          <a:noFill/>
          <a:ln/>
        </p:spPr>
        <p:txBody>
          <a:bodyPr wrap="square" lIns="0" tIns="0" rIns="0" bIns="0" rtlCol="0" anchor="ctr"/>
          <a:lstStyle/>
          <a:p>
            <a:pPr marL="0" indent="0">
              <a:buNone/>
            </a:pPr>
            <a:r>
              <a:rPr lang="en-US" sz="1400" dirty="0">
                <a:solidFill>
                  <a:schemeClr val="bg1"/>
                </a:solidFill>
              </a:rPr>
              <a:t>2 dashboards, 10 sheets from our data</a:t>
            </a:r>
            <a:endParaRPr lang="en-US" sz="1400" dirty="0"/>
          </a:p>
        </p:txBody>
      </p:sp>
      <p:sp>
        <p:nvSpPr>
          <p:cNvPr id="2"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365760"/>
            <a:ext cx="10149840" cy="777240"/>
          </a:xfrm>
          <a:prstGeom prst="rect">
            <a:avLst/>
          </a:prstGeom>
          <a:noFill/>
          <a:ln/>
        </p:spPr>
        <p:txBody>
          <a:bodyPr wrap="square" lIns="0" tIns="0" rIns="0" bIns="0" rtlCol="0" anchor="ctr"/>
          <a:lstStyle/>
          <a:p>
            <a:pPr marL="0" indent="0" algn="l">
              <a:buNone/>
            </a:pPr>
            <a:r>
              <a:rPr lang="en-US" sz="3600" b="1" dirty="0">
                <a:solidFill>
                  <a:schemeClr val="bg1"/>
                </a:solidFill>
              </a:rPr>
              <a:t>Conclusion</a:t>
            </a:r>
            <a:endParaRPr lang="en-US" sz="3600" dirty="0"/>
          </a:p>
        </p:txBody>
      </p:sp>
      <p:sp>
        <p:nvSpPr>
          <p:cNvPr id="4" name="Takeaway card"/>
          <p:cNvSpPr/>
          <p:nvPr/>
        </p:nvSpPr>
        <p:spPr>
          <a:xfrm>
            <a:off x="548640" y="1463040"/>
            <a:ext cx="5422392" cy="1508760"/>
          </a:xfrm>
          <a:prstGeom prst="rect">
            <a:avLst/>
          </a:prstGeom>
          <a:solidFill>
            <a:schemeClr val="tx2"/>
          </a:solidFill>
          <a:ln w="12700">
            <a:solidFill>
              <a:schemeClr val="bg2"/>
            </a:solidFill>
            <a:prstDash val="solid"/>
          </a:ln>
        </p:spPr>
      </p:sp>
      <p:sp>
        <p:nvSpPr>
          <p:cNvPr id="5" name="Text 2"/>
          <p:cNvSpPr txBox="1"/>
          <p:nvPr/>
        </p:nvSpPr>
        <p:spPr>
          <a:xfrm>
            <a:off x="822960" y="1645920"/>
            <a:ext cx="4846320" cy="411480"/>
          </a:xfrm>
          <a:prstGeom prst="rect">
            <a:avLst/>
          </a:prstGeom>
          <a:noFill/>
          <a:ln/>
        </p:spPr>
        <p:txBody>
          <a:bodyPr wrap="square" lIns="0" tIns="0" rIns="0" bIns="0" rtlCol="0" anchor="t"/>
          <a:lstStyle/>
          <a:p>
            <a:pPr marL="0" indent="0">
              <a:buNone/>
            </a:pPr>
            <a:r>
              <a:rPr lang="en-US" sz="2200" b="1" dirty="0">
                <a:solidFill>
                  <a:schemeClr val="accent4"/>
                </a:solidFill>
              </a:rPr>
              <a:t>A complete pipeline</a:t>
            </a:r>
            <a:endParaRPr lang="en-US" sz="2200" dirty="0"/>
          </a:p>
        </p:txBody>
      </p:sp>
      <p:sp>
        <p:nvSpPr>
          <p:cNvPr id="6" name="Text 3"/>
          <p:cNvSpPr txBox="1"/>
          <p:nvPr/>
        </p:nvSpPr>
        <p:spPr>
          <a:xfrm>
            <a:off x="822960" y="2194560"/>
            <a:ext cx="4846320" cy="685800"/>
          </a:xfrm>
          <a:prstGeom prst="rect">
            <a:avLst/>
          </a:prstGeom>
          <a:noFill/>
          <a:ln/>
        </p:spPr>
        <p:txBody>
          <a:bodyPr wrap="square" lIns="0" tIns="0" rIns="0" bIns="0" rtlCol="0" anchor="t"/>
          <a:lstStyle/>
          <a:p>
            <a:pPr marL="0" indent="0">
              <a:buNone/>
            </a:pPr>
            <a:r>
              <a:rPr lang="en-US" sz="1600" dirty="0">
                <a:solidFill>
                  <a:schemeClr val="bg1"/>
                </a:solidFill>
              </a:rPr>
              <a:t>Raw ERP files to a reconciled PostgreSQL warehouse in one job, through Bronze, Silver and Gold</a:t>
            </a:r>
            <a:endParaRPr lang="en-US" sz="1600" dirty="0"/>
          </a:p>
        </p:txBody>
      </p:sp>
      <p:sp>
        <p:nvSpPr>
          <p:cNvPr id="7" name="Takeaway card"/>
          <p:cNvSpPr/>
          <p:nvPr/>
        </p:nvSpPr>
        <p:spPr>
          <a:xfrm>
            <a:off x="6217920" y="1463040"/>
            <a:ext cx="5422392" cy="1508760"/>
          </a:xfrm>
          <a:prstGeom prst="rect">
            <a:avLst/>
          </a:prstGeom>
          <a:solidFill>
            <a:schemeClr val="tx2"/>
          </a:solidFill>
          <a:ln w="12700">
            <a:solidFill>
              <a:schemeClr val="bg2"/>
            </a:solidFill>
            <a:prstDash val="solid"/>
          </a:ln>
        </p:spPr>
      </p:sp>
      <p:sp>
        <p:nvSpPr>
          <p:cNvPr id="8" name="Text 5"/>
          <p:cNvSpPr txBox="1"/>
          <p:nvPr/>
        </p:nvSpPr>
        <p:spPr>
          <a:xfrm>
            <a:off x="6492240" y="1645920"/>
            <a:ext cx="4846320" cy="411480"/>
          </a:xfrm>
          <a:prstGeom prst="rect">
            <a:avLst/>
          </a:prstGeom>
          <a:noFill/>
          <a:ln/>
        </p:spPr>
        <p:txBody>
          <a:bodyPr wrap="square" lIns="0" tIns="0" rIns="0" bIns="0" rtlCol="0" anchor="t"/>
          <a:lstStyle/>
          <a:p>
            <a:pPr marL="0" indent="0">
              <a:buNone/>
            </a:pPr>
            <a:r>
              <a:rPr lang="en-US" sz="2200" b="1" dirty="0">
                <a:solidFill>
                  <a:schemeClr val="accent4"/>
                </a:solidFill>
              </a:rPr>
              <a:t>Every number verified</a:t>
            </a:r>
            <a:endParaRPr lang="en-US" sz="2200" dirty="0"/>
          </a:p>
        </p:txBody>
      </p:sp>
      <p:sp>
        <p:nvSpPr>
          <p:cNvPr id="9" name="Text 6"/>
          <p:cNvSpPr txBox="1"/>
          <p:nvPr/>
        </p:nvSpPr>
        <p:spPr>
          <a:xfrm>
            <a:off x="6492240" y="2194560"/>
            <a:ext cx="4846320" cy="685800"/>
          </a:xfrm>
          <a:prstGeom prst="rect">
            <a:avLst/>
          </a:prstGeom>
          <a:noFill/>
          <a:ln/>
        </p:spPr>
        <p:txBody>
          <a:bodyPr wrap="square" lIns="0" tIns="0" rIns="0" bIns="0" rtlCol="0" anchor="t"/>
          <a:lstStyle/>
          <a:p>
            <a:pPr marL="0" indent="0">
              <a:buNone/>
            </a:pPr>
            <a:r>
              <a:rPr lang="en-US" sz="1600" dirty="0">
                <a:solidFill>
                  <a:schemeClr val="bg1"/>
                </a:solidFill>
              </a:rPr>
              <a:t>15 of 15 tables and 10 of 10 datasets reconcile; 32 checks, none unexpected</a:t>
            </a:r>
            <a:endParaRPr lang="en-US" sz="1600" dirty="0"/>
          </a:p>
        </p:txBody>
      </p:sp>
      <p:sp>
        <p:nvSpPr>
          <p:cNvPr id="10" name="Takeaway card"/>
          <p:cNvSpPr/>
          <p:nvPr/>
        </p:nvSpPr>
        <p:spPr>
          <a:xfrm>
            <a:off x="548640" y="3154680"/>
            <a:ext cx="5422392" cy="1508760"/>
          </a:xfrm>
          <a:prstGeom prst="rect">
            <a:avLst/>
          </a:prstGeom>
          <a:solidFill>
            <a:schemeClr val="tx2"/>
          </a:solidFill>
          <a:ln w="12700">
            <a:solidFill>
              <a:schemeClr val="bg2"/>
            </a:solidFill>
            <a:prstDash val="solid"/>
          </a:ln>
        </p:spPr>
      </p:sp>
      <p:sp>
        <p:nvSpPr>
          <p:cNvPr id="11" name="Text 8"/>
          <p:cNvSpPr txBox="1"/>
          <p:nvPr/>
        </p:nvSpPr>
        <p:spPr>
          <a:xfrm>
            <a:off x="822960" y="3337560"/>
            <a:ext cx="4846320" cy="411480"/>
          </a:xfrm>
          <a:prstGeom prst="rect">
            <a:avLst/>
          </a:prstGeom>
          <a:noFill/>
          <a:ln/>
        </p:spPr>
        <p:txBody>
          <a:bodyPr wrap="square" lIns="0" tIns="0" rIns="0" bIns="0" rtlCol="0" anchor="t"/>
          <a:lstStyle/>
          <a:p>
            <a:pPr marL="0" indent="0">
              <a:buNone/>
            </a:pPr>
            <a:r>
              <a:rPr lang="en-US" sz="2200" b="1" dirty="0">
                <a:solidFill>
                  <a:schemeClr val="accent4"/>
                </a:solidFill>
              </a:rPr>
              <a:t>Batch and real time</a:t>
            </a:r>
            <a:endParaRPr lang="en-US" sz="2200" dirty="0"/>
          </a:p>
        </p:txBody>
      </p:sp>
      <p:sp>
        <p:nvSpPr>
          <p:cNvPr id="12" name="Text 9"/>
          <p:cNvSpPr txBox="1"/>
          <p:nvPr/>
        </p:nvSpPr>
        <p:spPr>
          <a:xfrm>
            <a:off x="822960" y="3886200"/>
            <a:ext cx="4846320" cy="685800"/>
          </a:xfrm>
          <a:prstGeom prst="rect">
            <a:avLst/>
          </a:prstGeom>
          <a:noFill/>
          <a:ln/>
        </p:spPr>
        <p:txBody>
          <a:bodyPr wrap="square" lIns="0" tIns="0" rIns="0" bIns="0" rtlCol="0" anchor="t"/>
          <a:lstStyle/>
          <a:p>
            <a:pPr marL="0" indent="0">
              <a:buNone/>
            </a:pPr>
            <a:r>
              <a:rPr lang="en-US" sz="1600" dirty="0">
                <a:solidFill>
                  <a:schemeClr val="bg1"/>
                </a:solidFill>
              </a:rPr>
              <a:t>Pentaho batch loads, plus live feeds from PostgreSQL and a REST API</a:t>
            </a:r>
            <a:endParaRPr lang="en-US" sz="1600" dirty="0"/>
          </a:p>
        </p:txBody>
      </p:sp>
      <p:sp>
        <p:nvSpPr>
          <p:cNvPr id="13" name="Takeaway card"/>
          <p:cNvSpPr/>
          <p:nvPr/>
        </p:nvSpPr>
        <p:spPr>
          <a:xfrm>
            <a:off x="6217920" y="3154680"/>
            <a:ext cx="5422392" cy="1508760"/>
          </a:xfrm>
          <a:prstGeom prst="rect">
            <a:avLst/>
          </a:prstGeom>
          <a:solidFill>
            <a:schemeClr val="tx2"/>
          </a:solidFill>
          <a:ln w="12700">
            <a:solidFill>
              <a:schemeClr val="bg2"/>
            </a:solidFill>
            <a:prstDash val="solid"/>
          </a:ln>
        </p:spPr>
      </p:sp>
      <p:sp>
        <p:nvSpPr>
          <p:cNvPr id="14" name="Text 11"/>
          <p:cNvSpPr txBox="1"/>
          <p:nvPr/>
        </p:nvSpPr>
        <p:spPr>
          <a:xfrm>
            <a:off x="6492240" y="3337560"/>
            <a:ext cx="4846320" cy="411480"/>
          </a:xfrm>
          <a:prstGeom prst="rect">
            <a:avLst/>
          </a:prstGeom>
          <a:noFill/>
          <a:ln/>
        </p:spPr>
        <p:txBody>
          <a:bodyPr wrap="square" lIns="0" tIns="0" rIns="0" bIns="0" rtlCol="0" anchor="t"/>
          <a:lstStyle/>
          <a:p>
            <a:pPr marL="0" indent="0">
              <a:buNone/>
            </a:pPr>
            <a:r>
              <a:rPr lang="en-US" sz="2200" b="1" dirty="0">
                <a:solidFill>
                  <a:schemeClr val="accent4"/>
                </a:solidFill>
              </a:rPr>
              <a:t>Honest about the data</a:t>
            </a:r>
            <a:endParaRPr lang="en-US" sz="2200" dirty="0"/>
          </a:p>
        </p:txBody>
      </p:sp>
      <p:sp>
        <p:nvSpPr>
          <p:cNvPr id="15" name="Text 12"/>
          <p:cNvSpPr txBox="1"/>
          <p:nvPr/>
        </p:nvSpPr>
        <p:spPr>
          <a:xfrm>
            <a:off x="6492240" y="3886200"/>
            <a:ext cx="4846320" cy="685800"/>
          </a:xfrm>
          <a:prstGeom prst="rect">
            <a:avLst/>
          </a:prstGeom>
          <a:noFill/>
          <a:ln/>
        </p:spPr>
        <p:txBody>
          <a:bodyPr wrap="square" lIns="0" tIns="0" rIns="0" bIns="0" rtlCol="0" anchor="t"/>
          <a:lstStyle/>
          <a:p>
            <a:pPr marL="0" indent="0">
              <a:buNone/>
            </a:pPr>
            <a:r>
              <a:rPr lang="en-US" sz="1600" dirty="0">
                <a:solidFill>
                  <a:schemeClr val="bg1"/>
                </a:solidFill>
              </a:rPr>
              <a:t>12 findings documented, none hidden; dashboards built in Tableau</a:t>
            </a:r>
            <a:endParaRPr lang="en-US" sz="1600" dirty="0"/>
          </a:p>
        </p:txBody>
      </p:sp>
      <p:sp>
        <p:nvSpPr>
          <p:cNvPr id="16" name="Text 13"/>
          <p:cNvSpPr txBox="1"/>
          <p:nvPr/>
        </p:nvSpPr>
        <p:spPr>
          <a:xfrm>
            <a:off x="548640" y="5074920"/>
            <a:ext cx="7315200" cy="731520"/>
          </a:xfrm>
          <a:prstGeom prst="rect">
            <a:avLst/>
          </a:prstGeom>
          <a:noFill/>
          <a:ln/>
        </p:spPr>
        <p:txBody>
          <a:bodyPr wrap="square" lIns="0" tIns="0" rIns="0" bIns="0" rtlCol="0" anchor="t"/>
          <a:lstStyle/>
          <a:p>
            <a:pPr marL="0" indent="0">
              <a:buNone/>
            </a:pPr>
            <a:r>
              <a:rPr lang="en-US" sz="3600" b="1" dirty="0">
                <a:solidFill>
                  <a:schemeClr val="bg1"/>
                </a:solidFill>
                <a:latin typeface="Cambria" pitchFamily="34" charset="0"/>
                <a:ea typeface="Cambria" pitchFamily="34" charset="-122"/>
                <a:cs typeface="Cambria" pitchFamily="34" charset="-120"/>
              </a:rPr>
              <a:t>Thank you. Questions?</a:t>
            </a:r>
            <a:endParaRPr lang="en-US" sz="3600" dirty="0"/>
          </a:p>
        </p:txBody>
      </p:sp>
      <p:sp>
        <p:nvSpPr>
          <p:cNvPr id="17" name="Text 14"/>
          <p:cNvSpPr txBox="1"/>
          <p:nvPr/>
        </p:nvSpPr>
        <p:spPr>
          <a:xfrm>
            <a:off x="548640" y="5852160"/>
            <a:ext cx="7315200" cy="320040"/>
          </a:xfrm>
          <a:prstGeom prst="rect">
            <a:avLst/>
          </a:prstGeom>
          <a:noFill/>
          <a:ln/>
        </p:spPr>
        <p:txBody>
          <a:bodyPr wrap="square" lIns="0" tIns="0" rIns="0" bIns="0" rtlCol="0" anchor="t"/>
          <a:lstStyle/>
          <a:p>
            <a:pPr marL="0" indent="0">
              <a:buNone/>
            </a:pPr>
            <a:r>
              <a:rPr lang="en-US" sz="1400" dirty="0">
                <a:solidFill>
                  <a:schemeClr val="accent3"/>
                </a:solidFill>
              </a:rPr>
              <a:t>github.com/7-Kaviya/Data-Engineering-UC15</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32</a:t>
            </a:fld>
            <a:endParaRPr lang="en-US"/>
          </a:p>
        </p:txBody>
      </p:sp>
    </p:spTree>
  </p:cSld>
  <p:clrMapOvr>
    <a:masterClrMapping/>
  </p:clrMapOvr>
</p:sld>
</file>

<file path=ppt/theme/theme1.xml><?xml version="1.0" encoding="utf-8"?>
<a:theme xmlns:a="http://schemas.openxmlformats.org/drawingml/2006/main" name="UC15 Medallion">
  <a:themeElements>
    <a:clrScheme name="UC15 Medallion">
      <a:dk1>
        <a:srgbClr val="1B2A34"/>
      </a:dk1>
      <a:lt1>
        <a:srgbClr val="FFFFFF"/>
      </a:lt1>
      <a:dk2>
        <a:srgbClr val="24424D"/>
      </a:dk2>
      <a:lt2>
        <a:srgbClr val="F3F5F7"/>
      </a:lt2>
      <a:accent1>
        <a:srgbClr val="0F766E"/>
      </a:accent1>
      <a:accent2>
        <a:srgbClr val="B87333"/>
      </a:accent2>
      <a:accent3>
        <a:srgbClr val="8E99A4"/>
      </a:accent3>
      <a:accent4>
        <a:srgbClr val="D9A404"/>
      </a:accent4>
      <a:accent5>
        <a:srgbClr val="C2410C"/>
      </a:accent5>
      <a:accent6>
        <a:srgbClr val="2F6690"/>
      </a:accent6>
      <a:hlink>
        <a:srgbClr val="0F766E"/>
      </a:hlink>
      <a:folHlink>
        <a:srgbClr val="8E99A4"/>
      </a:folHlink>
    </a:clrScheme>
    <a:fontScheme name="UC15 Medall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6719</Words>
  <Application>Microsoft Macintosh PowerPoint</Application>
  <PresentationFormat>Widescreen</PresentationFormat>
  <Paragraphs>889</Paragraphs>
  <Slides>32</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Cambria</vt:lpstr>
      <vt:lpstr>Courier New</vt:lpstr>
      <vt:lpstr>UC15 Medallion</vt:lpstr>
      <vt:lpstr>UC15: Enterprise Resource Planning Data Platform (ERPDP)</vt:lpstr>
      <vt:lpstr>Agenda and presenters</vt:lpstr>
      <vt:lpstr>Business background</vt:lpstr>
      <vt:lpstr>Project objective</vt:lpstr>
      <vt:lpstr>Technology stack</vt:lpstr>
      <vt:lpstr>Sprint roadmap</vt:lpstr>
      <vt:lpstr>Sprint 0: initiation and architecture</vt:lpstr>
      <vt:lpstr>Sprint 1: data discovery and ingestion</vt:lpstr>
      <vt:lpstr>Sprint 2: scope and deliverables</vt:lpstr>
      <vt:lpstr>Solution architecture</vt:lpstr>
      <vt:lpstr>Repository structure</vt:lpstr>
      <vt:lpstr>The 10 ERP data sources</vt:lpstr>
      <vt:lpstr>Data profiling</vt:lpstr>
      <vt:lpstr>Data cleaning</vt:lpstr>
      <vt:lpstr>Data validation</vt:lpstr>
      <vt:lpstr>Challenge: IDs do not match</vt:lpstr>
      <vt:lpstr>Star schema design</vt:lpstr>
      <vt:lpstr>Fact tables and their grain</vt:lpstr>
      <vt:lpstr>Dimensions and design decisions</vt:lpstr>
      <vt:lpstr>PostgreSQL data warehouse</vt:lpstr>
      <vt:lpstr>ETL with Pentaho</vt:lpstr>
      <vt:lpstr>Load results and reconciliation</vt:lpstr>
      <vt:lpstr>Enterprise reporting with SQL</vt:lpstr>
      <vt:lpstr>Real-time: a live REST API</vt:lpstr>
      <vt:lpstr>Business analytics enablement</vt:lpstr>
      <vt:lpstr>Deliverables</vt:lpstr>
      <vt:lpstr>Sprint 3: what we delivered</vt:lpstr>
      <vt:lpstr>Reconciliation across all layers</vt:lpstr>
      <vt:lpstr>Metadata, glossary and lineage</vt:lpstr>
      <vt:lpstr>What the data shows</vt:lpstr>
      <vt:lpstr>Dashboards in Tableau</vt:lpstr>
      <vt:lpstr>Conclusion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UC15 ERP Data Platform</dc:title>
  <dc:subject>PptxGenJS Presentation</dc:subject>
  <dc:creator>Team UC15</dc:creator>
  <cp:lastModifiedBy>Microsoft Office User</cp:lastModifiedBy>
  <cp:revision>4</cp:revision>
  <dcterms:created xsi:type="dcterms:W3CDTF">2026-10-09T17:54:19Z</dcterms:created>
  <dcterms:modified xsi:type="dcterms:W3CDTF">2026-10-23T04:38:12Z</dcterms:modified>
</cp:coreProperties>
</file>